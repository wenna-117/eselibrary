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52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3"/>
    <p:sldId id="260" r:id="rId4"/>
    <p:sldId id="257" r:id="rId5"/>
    <p:sldId id="259" r:id="rId6"/>
    <p:sldId id="264" r:id="rId7"/>
    <p:sldId id="265" r:id="rId8"/>
    <p:sldId id="266" r:id="rId9"/>
    <p:sldId id="267" r:id="rId10"/>
    <p:sldId id="268" r:id="rId11"/>
    <p:sldId id="277" r:id="rId12"/>
    <p:sldId id="271" r:id="rId13"/>
    <p:sldId id="279" r:id="rId14"/>
    <p:sldId id="270" r:id="rId15"/>
    <p:sldId id="258" r:id="rId16"/>
    <p:sldId id="261" r:id="rId17"/>
    <p:sldId id="274" r:id="rId18"/>
    <p:sldId id="280" r:id="rId19"/>
    <p:sldId id="275" r:id="rId20"/>
    <p:sldId id="276" r:id="rId21"/>
    <p:sldId id="281" r:id="rId22"/>
    <p:sldId id="282" r:id="rId24"/>
    <p:sldId id="291" r:id="rId25"/>
    <p:sldId id="284" r:id="rId26"/>
    <p:sldId id="285" r:id="rId27"/>
    <p:sldId id="290" r:id="rId28"/>
    <p:sldId id="287" r:id="rId29"/>
    <p:sldId id="286" r:id="rId30"/>
    <p:sldId id="289" r:id="rId31"/>
    <p:sldId id="288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4" userDrawn="1">
          <p15:clr>
            <a:srgbClr val="A4A3A4"/>
          </p15:clr>
        </p15:guide>
        <p15:guide id="2" pos="37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51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2" d="100"/>
          <a:sy n="92" d="100"/>
        </p:scale>
        <p:origin x="75" y="267"/>
      </p:cViewPr>
      <p:guideLst>
        <p:guide orient="horz" pos="2224"/>
        <p:guide pos="37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13.png"/><Relationship Id="rId7" Type="http://schemas.openxmlformats.org/officeDocument/2006/relationships/tags" Target="../tags/tag4.xml"/><Relationship Id="rId6" Type="http://schemas.openxmlformats.org/officeDocument/2006/relationships/image" Target="../media/image12.png"/><Relationship Id="rId5" Type="http://schemas.openxmlformats.org/officeDocument/2006/relationships/tags" Target="../tags/tag3.xml"/><Relationship Id="rId4" Type="http://schemas.openxmlformats.org/officeDocument/2006/relationships/image" Target="../media/image1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image" Target="../media/image14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wmf"/><Relationship Id="rId2" Type="http://schemas.openxmlformats.org/officeDocument/2006/relationships/oleObject" Target="../embeddings/oleObject1.bin"/><Relationship Id="rId15" Type="http://schemas.openxmlformats.org/officeDocument/2006/relationships/vmlDrawing" Target="../drawings/vmlDrawing1.v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30.png"/><Relationship Id="rId12" Type="http://schemas.openxmlformats.org/officeDocument/2006/relationships/image" Target="../media/image29.png"/><Relationship Id="rId11" Type="http://schemas.openxmlformats.org/officeDocument/2006/relationships/image" Target="../media/image28.png"/><Relationship Id="rId10" Type="http://schemas.openxmlformats.org/officeDocument/2006/relationships/image" Target="../media/image27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image" Target="../media/image37.png"/><Relationship Id="rId7" Type="http://schemas.openxmlformats.org/officeDocument/2006/relationships/tags" Target="../tags/tag14.xml"/><Relationship Id="rId6" Type="http://schemas.openxmlformats.org/officeDocument/2006/relationships/image" Target="../media/image36.png"/><Relationship Id="rId5" Type="http://schemas.openxmlformats.org/officeDocument/2006/relationships/tags" Target="../tags/tag13.xml"/><Relationship Id="rId4" Type="http://schemas.openxmlformats.org/officeDocument/2006/relationships/image" Target="../media/image35.png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7.xml"/><Relationship Id="rId11" Type="http://schemas.openxmlformats.org/officeDocument/2006/relationships/tags" Target="../tags/tag16.xml"/><Relationship Id="rId10" Type="http://schemas.openxmlformats.org/officeDocument/2006/relationships/image" Target="../media/image38.jpe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0.png"/><Relationship Id="rId2" Type="http://schemas.openxmlformats.org/officeDocument/2006/relationships/image" Target="../media/image41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18.png"/><Relationship Id="rId7" Type="http://schemas.openxmlformats.org/officeDocument/2006/relationships/image" Target="../media/image45.png"/><Relationship Id="rId6" Type="http://schemas.openxmlformats.org/officeDocument/2006/relationships/image" Target="../media/image37.png"/><Relationship Id="rId5" Type="http://schemas.openxmlformats.org/officeDocument/2006/relationships/image" Target="../media/image44.jpeg"/><Relationship Id="rId4" Type="http://schemas.openxmlformats.org/officeDocument/2006/relationships/image" Target="../media/image35.png"/><Relationship Id="rId3" Type="http://schemas.openxmlformats.org/officeDocument/2006/relationships/image" Target="../media/image43.png"/><Relationship Id="rId2" Type="http://schemas.openxmlformats.org/officeDocument/2006/relationships/image" Target="../media/image36.pn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47.png"/><Relationship Id="rId10" Type="http://schemas.openxmlformats.org/officeDocument/2006/relationships/image" Target="../media/image46.png"/><Relationship Id="rId1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2.webp"/><Relationship Id="rId2" Type="http://schemas.openxmlformats.org/officeDocument/2006/relationships/image" Target="../media/image51.jpe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5.png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54.png"/><Relationship Id="rId6" Type="http://schemas.openxmlformats.org/officeDocument/2006/relationships/image" Target="../media/image35.png"/><Relationship Id="rId5" Type="http://schemas.openxmlformats.org/officeDocument/2006/relationships/image" Target="../media/image31.png"/><Relationship Id="rId4" Type="http://schemas.openxmlformats.org/officeDocument/2006/relationships/image" Target="../media/image57.png"/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0.png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2.webp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3" Type="http://schemas.openxmlformats.org/officeDocument/2006/relationships/image" Target="../media/image68.png"/><Relationship Id="rId2" Type="http://schemas.openxmlformats.org/officeDocument/2006/relationships/image" Target="../media/image4.png"/><Relationship Id="rId1" Type="http://schemas.openxmlformats.org/officeDocument/2006/relationships/image" Target="../media/image6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2.webp"/><Relationship Id="rId1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1911735" y="78561"/>
            <a:ext cx="8368529" cy="3378143"/>
            <a:chOff x="1328939" y="114936"/>
            <a:chExt cx="8368529" cy="3378143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8939" y="114936"/>
              <a:ext cx="3378143" cy="3378143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7936" y="904008"/>
              <a:ext cx="1800000" cy="1800000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97090" y="904008"/>
              <a:ext cx="1800378" cy="1800000"/>
            </a:xfrm>
            <a:prstGeom prst="rect">
              <a:avLst/>
            </a:prstGeom>
          </p:spPr>
        </p:pic>
      </p:grpSp>
      <p:cxnSp>
        <p:nvCxnSpPr>
          <p:cNvPr id="18" name="直接连接符 17"/>
          <p:cNvCxnSpPr/>
          <p:nvPr/>
        </p:nvCxnSpPr>
        <p:spPr>
          <a:xfrm>
            <a:off x="1558631" y="3117259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1920282" y="3200407"/>
            <a:ext cx="8359981" cy="25391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en-US" altLang="zh-CN" sz="4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2025</a:t>
            </a:r>
            <a:r>
              <a:rPr lang="zh-CN" altLang="en-US" sz="4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年“盟升杯”电子设计竞赛</a:t>
            </a:r>
            <a:endParaRPr lang="en-US" altLang="zh-CN" sz="4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zh-CN" altLang="en-US" sz="44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趣味音响（</a:t>
            </a:r>
            <a:r>
              <a:rPr lang="en-US" altLang="zh-CN" sz="44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</a:t>
            </a:r>
            <a:r>
              <a:rPr lang="zh-CN" altLang="en-US" sz="44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题）</a:t>
            </a:r>
            <a:endParaRPr lang="en-US" altLang="zh-CN" sz="44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zh-CN" altLang="en-US" sz="44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赛题讲解</a:t>
            </a:r>
            <a:endParaRPr lang="zh-CN" altLang="en-US" sz="44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1560364" y="6028451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575310" y="985520"/>
            <a:ext cx="180911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内容概要</a:t>
            </a:r>
            <a:endParaRPr lang="zh-CN" altLang="en-US" sz="54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970530" y="1245870"/>
            <a:ext cx="4784090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题目介绍</a:t>
            </a:r>
            <a:endParaRPr lang="zh-CN" altLang="en-US" sz="36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元器件认识</a:t>
            </a:r>
            <a:endParaRPr lang="zh-CN" altLang="en-US" sz="36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题目解析与总体架构</a:t>
            </a:r>
            <a:endParaRPr lang="en-US" altLang="zh-CN" sz="36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硬件</a:t>
            </a:r>
            <a:r>
              <a:rPr lang="zh-CN" altLang="en-US" sz="3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部分思路</a:t>
            </a:r>
            <a:endParaRPr lang="zh-CN" altLang="en-US" sz="36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软件部分思路</a:t>
            </a:r>
            <a:endParaRPr lang="en-US" altLang="zh-CN" sz="36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sz="240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2" name="直接连接符 1"/>
          <p:cNvCxnSpPr/>
          <p:nvPr/>
        </p:nvCxnSpPr>
        <p:spPr>
          <a:xfrm rot="16200000">
            <a:off x="705001" y="1906340"/>
            <a:ext cx="36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1005" y="1610360"/>
            <a:ext cx="3425190" cy="41103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题目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介绍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425797" y="368875"/>
            <a:ext cx="5142496" cy="6858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926537" y="1958690"/>
            <a:ext cx="4265463" cy="4089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趣味音响能做什么？</a:t>
            </a:r>
            <a:endParaRPr lang="en-US" altLang="zh-CN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en-US" altLang="zh-CN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音乐播放</a:t>
            </a:r>
            <a:endParaRPr lang="en-US" altLang="zh-CN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扩音器</a:t>
            </a:r>
            <a:endParaRPr lang="en-US" altLang="zh-CN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效果器（变声、音量调节）</a:t>
            </a:r>
            <a:endParaRPr lang="en-US" altLang="zh-CN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效果见演示视频</a:t>
            </a:r>
            <a:endParaRPr lang="zh-CN" altLang="en-US" sz="240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359664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元器件认识</a:t>
            </a:r>
            <a:r>
              <a:rPr lang="en-US" altLang="zh-CN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连接件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642462" y="1133392"/>
            <a:ext cx="23544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排针</a:t>
            </a:r>
            <a:endParaRPr kumimoji="0" lang="en-US" altLang="zh-CN" sz="2400" b="1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038985" y="1593850"/>
            <a:ext cx="3561080" cy="4233545"/>
            <a:chOff x="3211" y="2510"/>
            <a:chExt cx="5608" cy="6667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AFAFA">
                    <a:alpha val="100000"/>
                  </a:srgbClr>
                </a:clrFrom>
                <a:clrTo>
                  <a:srgbClr val="FAFAFA">
                    <a:alpha val="100000"/>
                    <a:alpha val="0"/>
                  </a:srgbClr>
                </a:clrTo>
              </a:clrChange>
            </a:blip>
            <a:srcRect t="10041"/>
            <a:stretch>
              <a:fillRect/>
            </a:stretch>
          </p:blipFill>
          <p:spPr>
            <a:xfrm>
              <a:off x="3211" y="2510"/>
              <a:ext cx="5609" cy="316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AFAFA">
                    <a:alpha val="100000"/>
                  </a:srgbClr>
                </a:clrFrom>
                <a:clrTo>
                  <a:srgbClr val="FAFAFA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211" y="5673"/>
              <a:ext cx="5609" cy="3505"/>
            </a:xfrm>
            <a:prstGeom prst="rect">
              <a:avLst/>
            </a:prstGeom>
          </p:spPr>
        </p:pic>
      </p:grpSp>
      <p:grpSp>
        <p:nvGrpSpPr>
          <p:cNvPr id="18" name="组合 17"/>
          <p:cNvGrpSpPr/>
          <p:nvPr/>
        </p:nvGrpSpPr>
        <p:grpSpPr>
          <a:xfrm>
            <a:off x="6591300" y="1593850"/>
            <a:ext cx="3299460" cy="4206875"/>
            <a:chOff x="10380" y="2510"/>
            <a:chExt cx="5196" cy="6625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AFAFA">
                    <a:alpha val="100000"/>
                  </a:srgbClr>
                </a:clrFrom>
                <a:clrTo>
                  <a:srgbClr val="FAFAFA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380" y="2510"/>
              <a:ext cx="5197" cy="3665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AFAFA">
                    <a:alpha val="100000"/>
                  </a:srgbClr>
                </a:clrFrom>
                <a:clrTo>
                  <a:srgbClr val="FAFAFA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380" y="6175"/>
              <a:ext cx="5197" cy="2960"/>
            </a:xfrm>
            <a:prstGeom prst="rect">
              <a:avLst/>
            </a:prstGeom>
          </p:spPr>
        </p:pic>
      </p:grpSp>
      <p:sp>
        <p:nvSpPr>
          <p:cNvPr id="21" name="文本框 20"/>
          <p:cNvSpPr txBox="1"/>
          <p:nvPr/>
        </p:nvSpPr>
        <p:spPr>
          <a:xfrm>
            <a:off x="7064094" y="1139682"/>
            <a:ext cx="23544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排母</a:t>
            </a:r>
            <a:endParaRPr kumimoji="0" lang="en-US" altLang="zh-CN" sz="2400" b="1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210946" y="2757561"/>
            <a:ext cx="23544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单排</a:t>
            </a:r>
            <a:endParaRPr kumimoji="0" lang="en-US" altLang="zh-CN" sz="2400" b="1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210946" y="4484676"/>
            <a:ext cx="23544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双排</a:t>
            </a:r>
            <a:endParaRPr kumimoji="0" lang="en-US" altLang="zh-CN" sz="2400" b="1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-129160" y="2327126"/>
            <a:ext cx="23544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单排直排针</a:t>
            </a:r>
            <a:endParaRPr kumimoji="0" lang="en-US" altLang="zh-CN" sz="2400" b="1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-129160" y="4630471"/>
            <a:ext cx="2354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单排弯排针</a:t>
            </a:r>
            <a:endParaRPr kumimoji="0" lang="en-US" altLang="zh-CN" sz="2400" b="1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359664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元器件认识</a:t>
            </a:r>
            <a:r>
              <a:rPr lang="en-US" altLang="zh-CN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连接件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2" name="组合 1"/>
          <p:cNvGrpSpPr/>
          <p:nvPr>
            <p:custDataLst>
              <p:tags r:id="rId2"/>
            </p:custDataLst>
          </p:nvPr>
        </p:nvGrpSpPr>
        <p:grpSpPr>
          <a:xfrm>
            <a:off x="244475" y="2036445"/>
            <a:ext cx="11729085" cy="3077210"/>
            <a:chOff x="385" y="3207"/>
            <a:chExt cx="18471" cy="4846"/>
          </a:xfrm>
        </p:grpSpPr>
        <p:pic>
          <p:nvPicPr>
            <p:cNvPr id="7" name="图片 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385" y="3207"/>
              <a:ext cx="5932" cy="4846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6317" y="3217"/>
              <a:ext cx="6008" cy="4820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2326" y="3217"/>
              <a:ext cx="6530" cy="4836"/>
            </a:xfrm>
            <a:prstGeom prst="rect">
              <a:avLst/>
            </a:prstGeom>
          </p:spPr>
        </p:pic>
      </p:grpSp>
      <p:sp>
        <p:nvSpPr>
          <p:cNvPr id="8" name="文本框 7"/>
          <p:cNvSpPr txBox="1"/>
          <p:nvPr>
            <p:custDataLst>
              <p:tags r:id="rId9"/>
            </p:custDataLst>
          </p:nvPr>
        </p:nvSpPr>
        <p:spPr>
          <a:xfrm>
            <a:off x="950642" y="5262343"/>
            <a:ext cx="2354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母对母</a:t>
            </a:r>
            <a:endParaRPr kumimoji="0" lang="en-US" altLang="zh-CN" sz="2400" b="1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10"/>
            </p:custDataLst>
          </p:nvPr>
        </p:nvSpPr>
        <p:spPr>
          <a:xfrm>
            <a:off x="4741842" y="5262343"/>
            <a:ext cx="2354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母对公</a:t>
            </a:r>
            <a:endParaRPr kumimoji="0" lang="en-US" altLang="zh-CN" sz="2400" b="1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1"/>
            </p:custDataLst>
          </p:nvPr>
        </p:nvSpPr>
        <p:spPr>
          <a:xfrm>
            <a:off x="8722665" y="5262343"/>
            <a:ext cx="2354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公</a:t>
            </a:r>
            <a:r>
              <a:rPr kumimoji="0" lang="zh-CN" altLang="en-US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对公</a:t>
            </a:r>
            <a:endParaRPr kumimoji="0" lang="en-US" altLang="zh-CN" sz="2400" b="1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4741592" y="1097378"/>
            <a:ext cx="23544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杜邦线</a:t>
            </a:r>
            <a:endParaRPr kumimoji="0" lang="zh-CN" altLang="en-US" sz="2400" b="1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359664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元器件认识</a:t>
            </a:r>
            <a:r>
              <a:rPr lang="en-US" altLang="zh-CN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连接件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clrChange>
              <a:clrFrom>
                <a:srgbClr val="FAFAFA">
                  <a:alpha val="100000"/>
                </a:srgbClr>
              </a:clrFrom>
              <a:clrTo>
                <a:srgbClr val="FAFAFA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33650" y="1506855"/>
            <a:ext cx="2742565" cy="2620645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2728007" y="5075653"/>
            <a:ext cx="23544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接线</a:t>
            </a:r>
            <a:r>
              <a:rPr kumimoji="0" lang="zh-CN" altLang="en-US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端子</a:t>
            </a:r>
            <a:endParaRPr kumimoji="0" lang="zh-CN" altLang="en-US" sz="2400" b="1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4"/>
            </p:custDataLst>
          </p:nvPr>
        </p:nvSpPr>
        <p:spPr>
          <a:xfrm>
            <a:off x="6476412" y="5075653"/>
            <a:ext cx="23544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SOP8</a:t>
            </a:r>
            <a:r>
              <a:rPr kumimoji="0" lang="zh-CN" altLang="en-US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芯片</a:t>
            </a:r>
            <a:r>
              <a:rPr kumimoji="0" lang="zh-CN" altLang="en-US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转接板</a:t>
            </a:r>
            <a:endParaRPr kumimoji="0" lang="zh-CN" altLang="en-US" sz="2400" b="1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16" name="图片 15" descr="3b2e409f4d358c24608ab98e4c76436b"/>
          <p:cNvPicPr>
            <a:picLocks noChangeAspect="1"/>
          </p:cNvPicPr>
          <p:nvPr/>
        </p:nvPicPr>
        <p:blipFill>
          <a:blip r:embed="rId5"/>
          <a:srcRect l="567" t="23200" r="2367" b="14467"/>
          <a:stretch>
            <a:fillRect/>
          </a:stretch>
        </p:blipFill>
        <p:spPr>
          <a:xfrm>
            <a:off x="6176645" y="2021205"/>
            <a:ext cx="2953385" cy="18967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元器件认识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clrChange>
              <a:clrFrom>
                <a:srgbClr val="FAFAFA">
                  <a:alpha val="100000"/>
                </a:srgbClr>
              </a:clrFrom>
              <a:clrTo>
                <a:srgbClr val="FAFAFA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6107" y="1408642"/>
            <a:ext cx="4687359" cy="306879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1334" y="1408642"/>
            <a:ext cx="3663665" cy="372641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918765" y="5218525"/>
            <a:ext cx="2354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轻触开关</a:t>
            </a:r>
            <a:endParaRPr kumimoji="0" lang="en-US" altLang="zh-CN" sz="2400" b="1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元器件认识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24" name="图片 23" descr="35e6796d1e8f91646f6e9fbacf4178b8"/>
          <p:cNvPicPr>
            <a:picLocks noChangeAspect="1"/>
          </p:cNvPicPr>
          <p:nvPr/>
        </p:nvPicPr>
        <p:blipFill>
          <a:blip r:embed="rId2"/>
          <a:srcRect l="4217" t="11750" r="3533" b="23283"/>
          <a:stretch>
            <a:fillRect/>
          </a:stretch>
        </p:blipFill>
        <p:spPr>
          <a:xfrm>
            <a:off x="996950" y="1955165"/>
            <a:ext cx="4184015" cy="294767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538192" y="1807314"/>
            <a:ext cx="31529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7805</a:t>
            </a:r>
            <a:endParaRPr lang="en-US" altLang="zh-CN" sz="2400" b="1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正压三端稳压器件</a:t>
            </a:r>
            <a:endParaRPr kumimoji="0" lang="zh-CN" altLang="en-US" sz="2400" b="0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b="5368"/>
          <a:stretch>
            <a:fillRect/>
          </a:stretch>
        </p:blipFill>
        <p:spPr>
          <a:xfrm>
            <a:off x="5483860" y="3465830"/>
            <a:ext cx="5873115" cy="20974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元器件认识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7" name="对象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073458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2" imgW="114300" imgH="215900" progId="Equation.KSEE3">
                  <p:embed/>
                </p:oleObj>
              </mc:Choice>
              <mc:Fallback>
                <p:oleObj name="" r:id="rId2" imgW="114300" imgH="215900" progId="Equation.KSEE3">
                  <p:embed/>
                  <p:pic>
                    <p:nvPicPr>
                      <p:cNvPr id="0" name="对象 15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73458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345" y="1522730"/>
            <a:ext cx="2190115" cy="220281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>
            <a:clrChange>
              <a:clrFrom>
                <a:srgbClr val="FAFAFA">
                  <a:alpha val="100000"/>
                </a:srgbClr>
              </a:clrFrom>
              <a:clrTo>
                <a:srgbClr val="FAFAFA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9745" y="4031615"/>
            <a:ext cx="2501265" cy="14763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3225" y="2045335"/>
            <a:ext cx="3342640" cy="168021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>
            <a:clrChange>
              <a:clrFrom>
                <a:srgbClr val="FAFAFA">
                  <a:alpha val="100000"/>
                </a:srgbClr>
              </a:clrFrom>
              <a:clrTo>
                <a:srgbClr val="FAFAFA">
                  <a:alpha val="100000"/>
                  <a:alpha val="0"/>
                </a:srgbClr>
              </a:clrTo>
            </a:clrChange>
          </a:blip>
          <a:srcRect l="20542" t="13814" b="3973"/>
          <a:stretch>
            <a:fillRect/>
          </a:stretch>
        </p:blipFill>
        <p:spPr>
          <a:xfrm>
            <a:off x="2597785" y="1099185"/>
            <a:ext cx="3211830" cy="262636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1465" y="4031615"/>
            <a:ext cx="3790950" cy="199961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46269" y="1433514"/>
            <a:ext cx="2674257" cy="261270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23195" y="3321050"/>
            <a:ext cx="1807845" cy="164084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1"/>
          <a:srcRect l="2742" t="4068"/>
          <a:stretch>
            <a:fillRect/>
          </a:stretch>
        </p:blipFill>
        <p:spPr>
          <a:xfrm>
            <a:off x="9847580" y="5176520"/>
            <a:ext cx="2229485" cy="149733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2">
            <a:clrChange>
              <a:clrFrom>
                <a:srgbClr val="FAFAFA">
                  <a:alpha val="100000"/>
                </a:srgbClr>
              </a:clrFrom>
              <a:clrTo>
                <a:srgbClr val="FAFAFA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02625" y="4222750"/>
            <a:ext cx="2300605" cy="1242060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2802526" y="176351"/>
            <a:ext cx="319310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kern="1200" cap="none" spc="0" normalizeH="0" baseline="0" noProof="0" dirty="0">
                <a:solidFill>
                  <a:schemeClr val="tx1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关注：值、封装</a:t>
            </a:r>
            <a:endParaRPr kumimoji="0" lang="zh-CN" altLang="en-US" sz="2000" b="1" kern="1200" cap="none" spc="0" normalizeH="0" baseline="0" noProof="0" dirty="0">
              <a:solidFill>
                <a:schemeClr val="tx1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95325" y="1077928"/>
            <a:ext cx="2354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电阻</a:t>
            </a:r>
            <a:endParaRPr kumimoji="0" lang="en-US" altLang="zh-CN" sz="2400" b="1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918765" y="1061142"/>
            <a:ext cx="2354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电容</a:t>
            </a:r>
            <a:endParaRPr kumimoji="0" lang="en-US" altLang="zh-CN" sz="2400" b="1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946399" y="1055398"/>
            <a:ext cx="2354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电感</a:t>
            </a:r>
            <a:endParaRPr kumimoji="0" lang="en-US" altLang="zh-CN" sz="2400" b="1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4450" y="3455035"/>
            <a:ext cx="1566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直插绕线电阻</a:t>
            </a:r>
            <a:endParaRPr lang="zh-CN" altLang="en-US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71450" y="5866130"/>
            <a:ext cx="1566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贴片电阻</a:t>
            </a:r>
            <a:endParaRPr lang="zh-CN" altLang="en-US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884420" y="6234430"/>
            <a:ext cx="2785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贴片叠层电容(MLCC)</a:t>
            </a:r>
            <a:endParaRPr lang="zh-CN" altLang="en-US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684260" y="6361430"/>
            <a:ext cx="2035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贴片功率</a:t>
            </a:r>
            <a:r>
              <a:rPr lang="zh-CN" altLang="en-US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电感</a:t>
            </a:r>
            <a:endParaRPr lang="zh-CN" altLang="en-US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0668000" y="4717415"/>
            <a:ext cx="2035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工字</a:t>
            </a:r>
            <a:r>
              <a:rPr lang="zh-CN" altLang="en-US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绕线电感</a:t>
            </a:r>
            <a:endParaRPr lang="zh-CN" altLang="en-US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902700" y="1433830"/>
            <a:ext cx="2035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直插绕线电感</a:t>
            </a:r>
            <a:endParaRPr lang="zh-CN" altLang="en-US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166735" y="5464810"/>
            <a:ext cx="15887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贴片</a:t>
            </a:r>
            <a:r>
              <a:rPr lang="zh-CN" altLang="en-US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叠层电感</a:t>
            </a:r>
            <a:endParaRPr lang="zh-CN" altLang="en-US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809615" y="1677035"/>
            <a:ext cx="2785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直插叠层电容(MLCC)</a:t>
            </a:r>
            <a:endParaRPr lang="zh-CN" altLang="en-US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697480" y="3725545"/>
            <a:ext cx="2785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直插电解</a:t>
            </a:r>
            <a:r>
              <a:rPr lang="zh-CN" altLang="en-US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电容</a:t>
            </a:r>
            <a:endParaRPr lang="zh-CN" altLang="en-US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3">
            <a:clrChange>
              <a:clrFrom>
                <a:srgbClr val="FAFAFA">
                  <a:alpha val="100000"/>
                </a:srgbClr>
              </a:clrFrom>
              <a:clrTo>
                <a:srgbClr val="FAFAFA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08175" y="4681220"/>
            <a:ext cx="2084070" cy="1730375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2004060" y="6411595"/>
            <a:ext cx="1988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多圈精密</a:t>
            </a:r>
            <a:r>
              <a:rPr lang="zh-CN" altLang="en-US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电位器</a:t>
            </a:r>
            <a:endParaRPr lang="zh-CN" altLang="en-US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元器件认识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9220" y="80454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耳机接口与</a:t>
            </a:r>
            <a:r>
              <a:rPr lang="zh-CN" altLang="en-US" sz="28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耳机线</a:t>
            </a:r>
            <a:endParaRPr lang="zh-CN" altLang="en-US" sz="280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195" y="832485"/>
            <a:ext cx="2878455" cy="2500630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1061720" y="1590675"/>
            <a:ext cx="4191000" cy="2121535"/>
            <a:chOff x="1672" y="2505"/>
            <a:chExt cx="6600" cy="3341"/>
          </a:xfrm>
        </p:grpSpPr>
        <p:grpSp>
          <p:nvGrpSpPr>
            <p:cNvPr id="19" name="组合 18"/>
            <p:cNvGrpSpPr/>
            <p:nvPr/>
          </p:nvGrpSpPr>
          <p:grpSpPr>
            <a:xfrm>
              <a:off x="1672" y="2505"/>
              <a:ext cx="6600" cy="3074"/>
              <a:chOff x="1672" y="2505"/>
              <a:chExt cx="6600" cy="3074"/>
            </a:xfrm>
          </p:grpSpPr>
          <p:pic>
            <p:nvPicPr>
              <p:cNvPr id="10" name="图片 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72" y="2889"/>
                <a:ext cx="6600" cy="2690"/>
              </a:xfrm>
              <a:prstGeom prst="rect">
                <a:avLst/>
              </a:prstGeom>
            </p:spPr>
          </p:pic>
          <p:sp>
            <p:nvSpPr>
              <p:cNvPr id="12" name="文本框 11"/>
              <p:cNvSpPr txBox="1"/>
              <p:nvPr/>
            </p:nvSpPr>
            <p:spPr>
              <a:xfrm>
                <a:off x="2249" y="2505"/>
                <a:ext cx="1010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400" b="1"/>
                  <a:t>Tip</a:t>
                </a:r>
                <a:endParaRPr lang="en-US" altLang="zh-CN" sz="2400" b="1"/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3660" y="2505"/>
                <a:ext cx="1516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400" b="1"/>
                  <a:t>Ring</a:t>
                </a:r>
                <a:endParaRPr lang="en-US" altLang="zh-CN" sz="2400" b="1"/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5476" y="2505"/>
                <a:ext cx="1678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400" b="1"/>
                  <a:t>Sleeve</a:t>
                </a:r>
                <a:endParaRPr lang="en-US" altLang="zh-CN" sz="2400" b="1"/>
              </a:p>
            </p:txBody>
          </p:sp>
        </p:grpSp>
        <p:sp>
          <p:nvSpPr>
            <p:cNvPr id="21" name="文本框 20"/>
            <p:cNvSpPr txBox="1"/>
            <p:nvPr/>
          </p:nvSpPr>
          <p:spPr>
            <a:xfrm>
              <a:off x="2055" y="5218"/>
              <a:ext cx="160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000" b="1"/>
                <a:t>左声道</a:t>
              </a:r>
              <a:endParaRPr lang="zh-CN" altLang="en-US" sz="2000" b="1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3660" y="5218"/>
              <a:ext cx="160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000" b="1"/>
                <a:t>右声道</a:t>
              </a:r>
              <a:endParaRPr lang="zh-CN" altLang="en-US" sz="2000" b="1"/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989070" y="3313430"/>
            <a:ext cx="4508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地</a:t>
            </a:r>
            <a:endParaRPr lang="zh-CN" altLang="en-US" sz="2000" b="1"/>
          </a:p>
        </p:txBody>
      </p:sp>
      <p:grpSp>
        <p:nvGrpSpPr>
          <p:cNvPr id="29" name="组合 28"/>
          <p:cNvGrpSpPr/>
          <p:nvPr/>
        </p:nvGrpSpPr>
        <p:grpSpPr>
          <a:xfrm>
            <a:off x="1099820" y="4085590"/>
            <a:ext cx="4152900" cy="2023110"/>
            <a:chOff x="1732" y="6383"/>
            <a:chExt cx="6540" cy="3186"/>
          </a:xfrm>
        </p:grpSpPr>
        <p:grpSp>
          <p:nvGrpSpPr>
            <p:cNvPr id="20" name="组合 19"/>
            <p:cNvGrpSpPr/>
            <p:nvPr/>
          </p:nvGrpSpPr>
          <p:grpSpPr>
            <a:xfrm>
              <a:off x="1732" y="6383"/>
              <a:ext cx="6540" cy="2944"/>
              <a:chOff x="1732" y="6050"/>
              <a:chExt cx="6540" cy="2944"/>
            </a:xfrm>
          </p:grpSpPr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4"/>
              <a:srcRect t="20594"/>
              <a:stretch>
                <a:fillRect/>
              </a:stretch>
            </p:blipFill>
            <p:spPr>
              <a:xfrm>
                <a:off x="1732" y="6724"/>
                <a:ext cx="6540" cy="2271"/>
              </a:xfrm>
              <a:prstGeom prst="rect">
                <a:avLst/>
              </a:prstGeom>
            </p:spPr>
          </p:pic>
          <p:sp>
            <p:nvSpPr>
              <p:cNvPr id="13" name="文本框 12"/>
              <p:cNvSpPr txBox="1"/>
              <p:nvPr/>
            </p:nvSpPr>
            <p:spPr>
              <a:xfrm>
                <a:off x="2249" y="6050"/>
                <a:ext cx="1010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400" b="1"/>
                  <a:t>Tip</a:t>
                </a:r>
                <a:endParaRPr lang="en-US" altLang="zh-CN" sz="2400" b="1"/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3660" y="6050"/>
                <a:ext cx="1816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400" b="1"/>
                  <a:t>Ring1</a:t>
                </a:r>
                <a:endParaRPr lang="en-US" altLang="zh-CN" sz="2400" b="1"/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5176" y="6050"/>
                <a:ext cx="1816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400" b="1"/>
                  <a:t>Ring2</a:t>
                </a:r>
                <a:endParaRPr lang="en-US" altLang="zh-CN" sz="2400" b="1"/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6594" y="6050"/>
                <a:ext cx="1678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400" b="1"/>
                  <a:t>Sleeve</a:t>
                </a:r>
                <a:endParaRPr lang="en-US" altLang="zh-CN" sz="2400" b="1"/>
              </a:p>
            </p:txBody>
          </p:sp>
        </p:grpSp>
        <p:sp>
          <p:nvSpPr>
            <p:cNvPr id="22" name="文本框 21"/>
            <p:cNvSpPr txBox="1"/>
            <p:nvPr/>
          </p:nvSpPr>
          <p:spPr>
            <a:xfrm>
              <a:off x="2173" y="8938"/>
              <a:ext cx="160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000" b="1"/>
                <a:t>左声道</a:t>
              </a:r>
              <a:endParaRPr lang="zh-CN" altLang="en-US" sz="2000" b="1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3660" y="8936"/>
              <a:ext cx="160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000" b="1"/>
                <a:t>右声道</a:t>
              </a:r>
              <a:endParaRPr lang="zh-CN" altLang="en-US" sz="2000" b="1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6831" y="8941"/>
              <a:ext cx="710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000" b="1"/>
                <a:t>地</a:t>
              </a:r>
              <a:endParaRPr lang="zh-CN" altLang="en-US" sz="2000" b="1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5176" y="8936"/>
              <a:ext cx="1516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000" b="1"/>
                <a:t>麦克风</a:t>
              </a:r>
              <a:endParaRPr lang="zh-CN" altLang="en-US" sz="2000" b="1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523990" y="333311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电路中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SLEEVE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1.65V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基准电压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 descr="IMG_20250905_144822(1)"/>
          <p:cNvPicPr>
            <a:picLocks noChangeAspect="1"/>
          </p:cNvPicPr>
          <p:nvPr/>
        </p:nvPicPr>
        <p:blipFill>
          <a:blip r:embed="rId5"/>
          <a:srcRect t="23065" b="23194"/>
          <a:stretch>
            <a:fillRect/>
          </a:stretch>
        </p:blipFill>
        <p:spPr>
          <a:xfrm rot="5880000">
            <a:off x="6755765" y="3575685"/>
            <a:ext cx="3507105" cy="2512695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>
          <a:xfrm flipV="1">
            <a:off x="6903085" y="4406900"/>
            <a:ext cx="473710" cy="349885"/>
          </a:xfrm>
          <a:prstGeom prst="straightConnector1">
            <a:avLst/>
          </a:prstGeom>
          <a:ln w="76200">
            <a:solidFill>
              <a:srgbClr val="1C519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flipH="1" flipV="1">
            <a:off x="9791700" y="4158615"/>
            <a:ext cx="271780" cy="504825"/>
          </a:xfrm>
          <a:prstGeom prst="straightConnector1">
            <a:avLst/>
          </a:prstGeom>
          <a:ln w="76200">
            <a:solidFill>
              <a:srgbClr val="1C519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572125" y="5035550"/>
            <a:ext cx="2013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接上图耳机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9791700" y="4763770"/>
            <a:ext cx="2013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手机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021195" y="6194425"/>
            <a:ext cx="51060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3.5mm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耳机线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（三、四段式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均可，需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自备）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元器件认识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761412" y="4550508"/>
            <a:ext cx="23544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驻极体麦克风</a:t>
            </a:r>
            <a:endParaRPr kumimoji="0" lang="zh-CN" altLang="en-US" sz="2400" b="1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3"/>
            </p:custDataLst>
          </p:nvPr>
        </p:nvSpPr>
        <p:spPr>
          <a:xfrm>
            <a:off x="6261147" y="4550508"/>
            <a:ext cx="23544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D</a:t>
            </a:r>
            <a:r>
              <a:rPr kumimoji="0" lang="zh-CN" altLang="en-US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类</a:t>
            </a:r>
            <a:r>
              <a:rPr kumimoji="0" lang="zh-CN" altLang="en-US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功放</a:t>
            </a:r>
            <a:endParaRPr kumimoji="0" lang="zh-CN" altLang="en-US" sz="2400" b="1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HT6872</a:t>
            </a:r>
            <a:endParaRPr kumimoji="0" lang="en-US" altLang="zh-CN" sz="2400" b="1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20" name="图片 19" descr="a8d47f9bf32765b521d6a57f44201fcc"/>
          <p:cNvPicPr>
            <a:picLocks noChangeAspect="1"/>
          </p:cNvPicPr>
          <p:nvPr/>
        </p:nvPicPr>
        <p:blipFill>
          <a:blip r:embed="rId4"/>
          <a:srcRect l="35679" t="10148" r="43128" b="72389"/>
          <a:stretch>
            <a:fillRect/>
          </a:stretch>
        </p:blipFill>
        <p:spPr>
          <a:xfrm>
            <a:off x="1181735" y="1591310"/>
            <a:ext cx="1452245" cy="2661285"/>
          </a:xfrm>
          <a:prstGeom prst="rect">
            <a:avLst/>
          </a:prstGeom>
        </p:spPr>
      </p:pic>
      <p:pic>
        <p:nvPicPr>
          <p:cNvPr id="23" name="图片 22" descr="54468e22adb5def08b410bfcd86208ca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l="14578" t="22993" r="15452" b="17704"/>
          <a:stretch>
            <a:fillRect/>
          </a:stretch>
        </p:blipFill>
        <p:spPr>
          <a:xfrm>
            <a:off x="6398260" y="2205355"/>
            <a:ext cx="1795145" cy="1521460"/>
          </a:xfrm>
          <a:prstGeom prst="rect">
            <a:avLst/>
          </a:prstGeom>
        </p:spPr>
      </p:pic>
      <p:pic>
        <p:nvPicPr>
          <p:cNvPr id="22" name="图片 21" descr="fadf51164457620c8ac2944ba895230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  <a:alpha val="0"/>
                </a:srgbClr>
              </a:clrTo>
            </a:clrChange>
          </a:blip>
          <a:srcRect l="13150" t="11533" r="11833" b="19917"/>
          <a:stretch>
            <a:fillRect/>
          </a:stretch>
        </p:blipFill>
        <p:spPr>
          <a:xfrm>
            <a:off x="3844290" y="2327275"/>
            <a:ext cx="1816100" cy="1660525"/>
          </a:xfrm>
          <a:prstGeom prst="rect">
            <a:avLst/>
          </a:prstGeom>
        </p:spPr>
      </p:pic>
      <p:pic>
        <p:nvPicPr>
          <p:cNvPr id="2" name="图片 1"/>
          <p:cNvPicPr/>
          <p:nvPr>
            <p:custDataLst>
              <p:tags r:id="rId9"/>
            </p:custDataLst>
          </p:nvPr>
        </p:nvPicPr>
        <p:blipFill>
          <a:blip r:embed="rId10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67" t="60973" r="62960" b="5227"/>
          <a:stretch>
            <a:fillRect/>
          </a:stretch>
        </p:blipFill>
        <p:spPr>
          <a:xfrm>
            <a:off x="9222740" y="2117090"/>
            <a:ext cx="1751330" cy="1609725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11"/>
            </p:custDataLst>
          </p:nvPr>
        </p:nvSpPr>
        <p:spPr>
          <a:xfrm>
            <a:off x="3648122" y="4550508"/>
            <a:ext cx="23544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运算放大器</a:t>
            </a:r>
            <a:r>
              <a:rPr kumimoji="0" lang="en-US" altLang="zh-CN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LM358</a:t>
            </a:r>
            <a:endParaRPr kumimoji="0" lang="en-US" altLang="zh-CN" sz="2400" b="1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12"/>
            </p:custDataLst>
          </p:nvPr>
        </p:nvSpPr>
        <p:spPr>
          <a:xfrm>
            <a:off x="8921162" y="4550508"/>
            <a:ext cx="23544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扬声器</a:t>
            </a:r>
            <a:endParaRPr kumimoji="0" lang="zh-CN" altLang="en-US" sz="2400" b="1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8</a:t>
            </a:r>
            <a:r>
              <a:rPr kumimoji="0" lang="zh-CN" altLang="en-US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欧姆</a:t>
            </a:r>
            <a:r>
              <a:rPr kumimoji="0" lang="en-US" altLang="zh-CN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2W</a:t>
            </a:r>
            <a:endParaRPr kumimoji="0" lang="en-US" altLang="zh-CN" sz="2400" b="1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3737610" y="5629275"/>
            <a:ext cx="2239010" cy="0"/>
          </a:xfrm>
          <a:prstGeom prst="line">
            <a:avLst/>
          </a:prstGeom>
          <a:ln w="57150">
            <a:solidFill>
              <a:srgbClr val="1C519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402590" y="5196205"/>
            <a:ext cx="314388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带有</a:t>
            </a:r>
            <a:r>
              <a:rPr lang="zh-CN" altLang="en-US" sz="2000" b="1">
                <a:highlight>
                  <a:srgbClr val="FFFF00"/>
                </a:highlight>
              </a:rPr>
              <a:t>放射性标志</a:t>
            </a:r>
            <a:r>
              <a:rPr lang="zh-CN" altLang="en-US" sz="2000" b="1"/>
              <a:t>的一端为负端，电路中</a:t>
            </a:r>
            <a:r>
              <a:rPr lang="zh-CN" altLang="en-US" sz="2000" b="1">
                <a:highlight>
                  <a:srgbClr val="FFFF00"/>
                </a:highlight>
              </a:rPr>
              <a:t>接地</a:t>
            </a:r>
            <a:endParaRPr lang="zh-CN" altLang="en-US" sz="2000" b="1">
              <a:highlight>
                <a:srgbClr val="FFFF00"/>
              </a:highlight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 flipH="1" flipV="1">
            <a:off x="2463165" y="3227705"/>
            <a:ext cx="767080" cy="635000"/>
          </a:xfrm>
          <a:prstGeom prst="straightConnector1">
            <a:avLst/>
          </a:prstGeom>
          <a:ln w="762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元器件认识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clrChange>
              <a:clrFrom>
                <a:srgbClr val="FAFAFA">
                  <a:alpha val="100000"/>
                </a:srgbClr>
              </a:clrFrom>
              <a:clrTo>
                <a:srgbClr val="FAFAFA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65472" y="1987707"/>
            <a:ext cx="5303341" cy="383472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l="14811" r="1840"/>
          <a:stretch>
            <a:fillRect/>
          </a:stretch>
        </p:blipFill>
        <p:spPr>
          <a:xfrm>
            <a:off x="7148825" y="2922638"/>
            <a:ext cx="2554703" cy="196426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9220" y="80454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微处理器（</a:t>
            </a:r>
            <a:r>
              <a:rPr lang="en-US" altLang="zh-CN" sz="28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MCU/</a:t>
            </a:r>
            <a:r>
              <a:rPr lang="zh-CN" altLang="en-US" sz="28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单片机）</a:t>
            </a:r>
            <a:endParaRPr lang="zh-CN" altLang="en-US" sz="280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元器件认识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18" y="1574468"/>
            <a:ext cx="8557325" cy="485085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4811" r="1840"/>
          <a:stretch>
            <a:fillRect/>
          </a:stretch>
        </p:blipFill>
        <p:spPr>
          <a:xfrm>
            <a:off x="9249405" y="1387843"/>
            <a:ext cx="2554703" cy="196426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423400" y="3551555"/>
            <a:ext cx="223266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混合信号微处理器</a:t>
            </a:r>
            <a:endParaRPr lang="zh-CN" altLang="en-US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en-US" altLang="zh-CN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(</a:t>
            </a:r>
            <a:r>
              <a:rPr lang="zh-CN" altLang="en-US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丰富模拟外设</a:t>
            </a:r>
            <a:r>
              <a:rPr lang="en-US" altLang="zh-CN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)</a:t>
            </a:r>
            <a:endParaRPr lang="zh-CN" altLang="en-US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48引脚</a:t>
            </a:r>
            <a:endParaRPr lang="zh-CN" altLang="en-US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128KB闪存</a:t>
            </a:r>
            <a:endParaRPr lang="zh-CN" altLang="en-US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UFQFPN封装</a:t>
            </a:r>
            <a:endParaRPr lang="zh-CN" altLang="en-US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9220" y="80010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微处理器（</a:t>
            </a:r>
            <a:r>
              <a:rPr lang="en-US" altLang="zh-CN" sz="28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MCU/</a:t>
            </a:r>
            <a:r>
              <a:rPr lang="zh-CN" altLang="en-US" sz="28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单片机）</a:t>
            </a:r>
            <a:endParaRPr lang="zh-CN" altLang="en-US" sz="280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 descr="Snipaste_2025-09-05_14-35-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" y="1334770"/>
            <a:ext cx="6419215" cy="4632325"/>
          </a:xfrm>
          <a:prstGeom prst="rect">
            <a:avLst/>
          </a:prstGeom>
        </p:spPr>
      </p:pic>
      <p:pic>
        <p:nvPicPr>
          <p:cNvPr id="23" name="图片 22" descr="54468e22adb5def08b410bfcd86208ca"/>
          <p:cNvPicPr>
            <a:picLocks noChangeAspect="1"/>
          </p:cNvPicPr>
          <p:nvPr/>
        </p:nvPicPr>
        <p:blipFill>
          <a:blip r:embed="rId2"/>
          <a:srcRect l="14578" t="22993" r="15452" b="17704"/>
          <a:stretch>
            <a:fillRect/>
          </a:stretch>
        </p:blipFill>
        <p:spPr>
          <a:xfrm>
            <a:off x="5794375" y="2199005"/>
            <a:ext cx="762000" cy="645795"/>
          </a:xfrm>
          <a:prstGeom prst="rect">
            <a:avLst/>
          </a:prstGeom>
        </p:spPr>
      </p:pic>
      <p:pic>
        <p:nvPicPr>
          <p:cNvPr id="21" name="图片 20" descr="21e9e182692af1d262cf8c05553de92c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  <a:alpha val="0"/>
                </a:srgbClr>
              </a:clrTo>
            </a:clrChange>
          </a:blip>
          <a:srcRect l="22880" t="15611" r="22750" b="22824"/>
          <a:stretch>
            <a:fillRect/>
          </a:stretch>
        </p:blipFill>
        <p:spPr>
          <a:xfrm rot="1680000">
            <a:off x="203200" y="4803775"/>
            <a:ext cx="1322070" cy="1496695"/>
          </a:xfrm>
          <a:prstGeom prst="rect">
            <a:avLst/>
          </a:prstGeom>
        </p:spPr>
      </p:pic>
      <p:pic>
        <p:nvPicPr>
          <p:cNvPr id="20" name="图片 19" descr="a8d47f9bf32765b521d6a57f44201fcc"/>
          <p:cNvPicPr>
            <a:picLocks noChangeAspect="1"/>
          </p:cNvPicPr>
          <p:nvPr/>
        </p:nvPicPr>
        <p:blipFill>
          <a:blip r:embed="rId4"/>
          <a:srcRect l="35679" t="10148" r="43128" b="72389"/>
          <a:stretch>
            <a:fillRect/>
          </a:stretch>
        </p:blipFill>
        <p:spPr>
          <a:xfrm>
            <a:off x="528955" y="2673350"/>
            <a:ext cx="561340" cy="1028700"/>
          </a:xfrm>
          <a:prstGeom prst="rect">
            <a:avLst/>
          </a:prstGeom>
        </p:spPr>
      </p:pic>
      <p:pic>
        <p:nvPicPr>
          <p:cNvPr id="19" name="图片 18" descr="252f8ff71c1d88ad6ed35f97ff9ddee4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9650" t="21100" r="17217" b="20667"/>
          <a:stretch>
            <a:fillRect/>
          </a:stretch>
        </p:blipFill>
        <p:spPr>
          <a:xfrm>
            <a:off x="1483995" y="757555"/>
            <a:ext cx="895350" cy="826135"/>
          </a:xfrm>
          <a:prstGeom prst="rect">
            <a:avLst/>
          </a:prstGeom>
        </p:spPr>
      </p:pic>
      <p:sp>
        <p:nvSpPr>
          <p:cNvPr id="13" name="椭圆 12"/>
          <p:cNvSpPr/>
          <p:nvPr/>
        </p:nvSpPr>
        <p:spPr>
          <a:xfrm>
            <a:off x="4478020" y="2383790"/>
            <a:ext cx="1459230" cy="1207135"/>
          </a:xfrm>
          <a:prstGeom prst="ellipse">
            <a:avLst/>
          </a:prstGeom>
          <a:noFill/>
          <a:ln w="7620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2666365" y="1130300"/>
            <a:ext cx="1321435" cy="2617470"/>
          </a:xfrm>
          <a:prstGeom prst="roundRect">
            <a:avLst/>
          </a:prstGeom>
          <a:noFill/>
          <a:ln w="571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题目解析与总体架构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H="1">
            <a:off x="4161790" y="1524635"/>
            <a:ext cx="736600" cy="748030"/>
          </a:xfrm>
          <a:prstGeom prst="straightConnector1">
            <a:avLst/>
          </a:prstGeom>
          <a:ln w="76200">
            <a:solidFill>
              <a:srgbClr val="1C519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478020" y="1090295"/>
            <a:ext cx="23380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运放电路实现</a:t>
            </a:r>
            <a:endParaRPr lang="zh-CN" altLang="en-US" sz="200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H="1" flipV="1">
            <a:off x="3569335" y="5454015"/>
            <a:ext cx="1058545" cy="513080"/>
          </a:xfrm>
          <a:prstGeom prst="straightConnector1">
            <a:avLst/>
          </a:prstGeom>
          <a:ln w="76200">
            <a:solidFill>
              <a:srgbClr val="1C519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627880" y="5807075"/>
            <a:ext cx="23380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软件实现</a:t>
            </a:r>
            <a:endParaRPr lang="zh-CN" altLang="en-US" sz="200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 flipH="1" flipV="1">
            <a:off x="5847080" y="3598545"/>
            <a:ext cx="1006475" cy="797560"/>
          </a:xfrm>
          <a:prstGeom prst="straightConnector1">
            <a:avLst/>
          </a:prstGeom>
          <a:ln w="76200">
            <a:solidFill>
              <a:srgbClr val="1C519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6920865" y="4170680"/>
            <a:ext cx="5271135" cy="1226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排针</a:t>
            </a:r>
            <a:r>
              <a:rPr lang="en-US" altLang="zh-CN" sz="2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+</a:t>
            </a:r>
            <a:r>
              <a:rPr lang="zh-CN" altLang="en-US" sz="2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杜邦线实现切换（或使用其他方法）</a:t>
            </a:r>
            <a:endParaRPr lang="zh-CN" altLang="en-US" sz="200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flipH="1">
            <a:off x="6366510" y="2490470"/>
            <a:ext cx="1085850" cy="527685"/>
          </a:xfrm>
          <a:prstGeom prst="straightConnector1">
            <a:avLst/>
          </a:prstGeom>
          <a:ln w="76200">
            <a:solidFill>
              <a:srgbClr val="1C519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7452360" y="2272665"/>
            <a:ext cx="30670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参照功放芯片手册</a:t>
            </a:r>
            <a:endParaRPr lang="zh-CN" altLang="en-US" sz="200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22" name="图片 21" descr="fadf51164457620c8ac2944ba8952304"/>
          <p:cNvPicPr>
            <a:picLocks noChangeAspect="1"/>
          </p:cNvPicPr>
          <p:nvPr/>
        </p:nvPicPr>
        <p:blipFill>
          <a:blip r:embed="rId6"/>
          <a:srcRect l="13150" t="11533" r="11833" b="19917"/>
          <a:stretch>
            <a:fillRect/>
          </a:stretch>
        </p:blipFill>
        <p:spPr>
          <a:xfrm>
            <a:off x="3001645" y="2096135"/>
            <a:ext cx="821690" cy="7512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rcRect t="-6227" b="-3384"/>
          <a:stretch>
            <a:fillRect/>
          </a:stretch>
        </p:blipFill>
        <p:spPr>
          <a:xfrm>
            <a:off x="7411720" y="781685"/>
            <a:ext cx="3987165" cy="1605280"/>
          </a:xfrm>
          <a:prstGeom prst="rect">
            <a:avLst/>
          </a:prstGeom>
        </p:spPr>
      </p:pic>
      <p:pic>
        <p:nvPicPr>
          <p:cNvPr id="24" name="图片 23" descr="35e6796d1e8f91646f6e9fbacf4178b8"/>
          <p:cNvPicPr>
            <a:picLocks noChangeAspect="1"/>
          </p:cNvPicPr>
          <p:nvPr/>
        </p:nvPicPr>
        <p:blipFill>
          <a:blip r:embed="rId8"/>
          <a:srcRect l="4217" t="11750" r="3533" b="23283"/>
          <a:stretch>
            <a:fillRect/>
          </a:stretch>
        </p:blipFill>
        <p:spPr>
          <a:xfrm>
            <a:off x="8914130" y="264795"/>
            <a:ext cx="1377315" cy="9702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10"/>
          <a:srcRect l="4590" r="10830"/>
          <a:stretch>
            <a:fillRect/>
          </a:stretch>
        </p:blipFill>
        <p:spPr>
          <a:xfrm>
            <a:off x="7386320" y="4490720"/>
            <a:ext cx="3760470" cy="232283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91095" y="2671445"/>
            <a:ext cx="4131310" cy="14719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硬件部分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思路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5612" y="775529"/>
            <a:ext cx="4805680" cy="9531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8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知识补缺：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参考地与网络标签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zh-CN" altLang="en-US" sz="28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9" name="图片 8"/>
          <p:cNvPicPr/>
          <p:nvPr/>
        </p:nvPicPr>
        <p:blipFill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  <a:alpha val="0"/>
                </a:srgbClr>
              </a:clrTo>
            </a:clrChange>
          </a:blip>
          <a:srcRect l="-96" t="21136" b="20528"/>
          <a:stretch>
            <a:fillRect/>
          </a:stretch>
        </p:blipFill>
        <p:spPr>
          <a:xfrm>
            <a:off x="514350" y="1417955"/>
            <a:ext cx="5953125" cy="158432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97205" y="3042920"/>
            <a:ext cx="12420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弱电电路公共参考点</a:t>
            </a:r>
            <a:endParaRPr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043430" y="3140710"/>
            <a:ext cx="1242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模拟</a:t>
            </a:r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地</a:t>
            </a:r>
            <a:endParaRPr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506470" y="3140710"/>
            <a:ext cx="1242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数字</a:t>
            </a:r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地</a:t>
            </a:r>
            <a:endParaRPr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020310" y="3131820"/>
            <a:ext cx="1631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大地、</a:t>
            </a:r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机壳</a:t>
            </a:r>
            <a:endParaRPr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000240" y="1358265"/>
            <a:ext cx="384746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只代表一个参考电</a:t>
            </a: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位</a:t>
            </a:r>
            <a:endParaRPr lang="zh-CN" altLang="en-US" sz="24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不同的</a:t>
            </a:r>
            <a:r>
              <a:rPr lang="en-US" altLang="zh-CN" sz="2400">
                <a:latin typeface="华文中宋" panose="02010600040101010101" pitchFamily="2" charset="-122"/>
                <a:ea typeface="华文中宋" panose="02010600040101010101" pitchFamily="2" charset="-122"/>
              </a:rPr>
              <a:t>“</a:t>
            </a: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地</a:t>
            </a:r>
            <a:r>
              <a:rPr lang="en-US" altLang="zh-CN" sz="2400">
                <a:latin typeface="华文中宋" panose="02010600040101010101" pitchFamily="2" charset="-122"/>
                <a:ea typeface="华文中宋" panose="02010600040101010101" pitchFamily="2" charset="-122"/>
              </a:rPr>
              <a:t>”</a:t>
            </a: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点位可以</a:t>
            </a: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不同</a:t>
            </a:r>
            <a:endParaRPr lang="zh-CN" altLang="en-US" sz="24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4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为什么规定参考电位？</a:t>
            </a:r>
            <a:endParaRPr lang="zh-CN" altLang="en-US" sz="240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5" name="五边形 14"/>
          <p:cNvSpPr/>
          <p:nvPr/>
        </p:nvSpPr>
        <p:spPr>
          <a:xfrm>
            <a:off x="902970" y="4330065"/>
            <a:ext cx="414020" cy="191770"/>
          </a:xfrm>
          <a:prstGeom prst="homePlate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203556" y="4005855"/>
            <a:ext cx="5400000" cy="0"/>
          </a:xfrm>
          <a:prstGeom prst="line">
            <a:avLst/>
          </a:prstGeom>
          <a:ln w="28575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43180" y="4230370"/>
            <a:ext cx="1104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网络名</a:t>
            </a:r>
            <a:endParaRPr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654175" y="3984625"/>
            <a:ext cx="38474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网络名相同的网标存在物理</a:t>
            </a:r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连接</a:t>
            </a:r>
            <a:endParaRPr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使用网标提升原理图</a:t>
            </a:r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可读性</a:t>
            </a:r>
            <a:endParaRPr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150" y="3805555"/>
            <a:ext cx="4656455" cy="285115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740410" y="5208905"/>
            <a:ext cx="384746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华文中宋" panose="02010600040101010101" pitchFamily="2" charset="-122"/>
                <a:ea typeface="华文中宋" panose="02010600040101010101" pitchFamily="2" charset="-122"/>
              </a:rPr>
              <a:t>VDD</a:t>
            </a:r>
            <a:endParaRPr lang="en-US" altLang="zh-CN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硬件部分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思路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06220" y="1626870"/>
            <a:ext cx="36264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基尔霍夫电压定律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(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KVL)</a:t>
            </a:r>
            <a:endParaRPr lang="en-US" altLang="zh-CN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5612" y="775529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知识补缺</a:t>
            </a:r>
            <a:endParaRPr lang="zh-CN" altLang="en-US" sz="28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87540" y="1657985"/>
            <a:ext cx="36264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基尔霍夫电流定律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(K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CL)</a:t>
            </a:r>
            <a:endParaRPr lang="en-US" altLang="zh-CN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7" name="图片 6" descr="盟升杯A插图.drawio (1)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5350" y="2154555"/>
            <a:ext cx="10074275" cy="424561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硬件部分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思路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5612" y="775529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单端</a:t>
            </a:r>
            <a:r>
              <a:rPr lang="zh-CN" altLang="en-US" sz="28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信号</a:t>
            </a:r>
            <a:endParaRPr lang="zh-CN" altLang="en-US" sz="28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75895" y="1280795"/>
            <a:ext cx="33528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为什么</a:t>
            </a:r>
            <a:r>
              <a:rPr lang="zh-CN" altLang="en-US" sz="2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使用单端</a:t>
            </a:r>
            <a:r>
              <a:rPr lang="zh-CN" altLang="en-US" sz="2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信号</a:t>
            </a:r>
            <a:endParaRPr lang="zh-CN" altLang="en-US" sz="24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06320" y="869950"/>
            <a:ext cx="74625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本题所有的信号均采用单端形式，即以地作为信号电压的</a:t>
            </a:r>
            <a:r>
              <a:rPr lang="zh-CN" altLang="en-US" sz="20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参考</a:t>
            </a:r>
            <a:endParaRPr lang="zh-CN" altLang="en-US" sz="20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52805" y="3813175"/>
            <a:ext cx="723900" cy="165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 descr="4dea80eabb16c06a3eda37fe000a2e2f"/>
          <p:cNvPicPr>
            <a:picLocks noChangeAspect="1"/>
          </p:cNvPicPr>
          <p:nvPr/>
        </p:nvPicPr>
        <p:blipFill>
          <a:blip r:embed="rId2">
            <a:clrChange>
              <a:clrFrom>
                <a:srgbClr val="FDFAEB">
                  <a:alpha val="100000"/>
                </a:srgbClr>
              </a:clrFrom>
              <a:clrTo>
                <a:srgbClr val="FDFAEB">
                  <a:alpha val="100000"/>
                  <a:alpha val="0"/>
                </a:srgbClr>
              </a:clrTo>
            </a:clrChange>
          </a:blip>
          <a:srcRect l="17462" t="10588" r="25008" b="65820"/>
          <a:stretch>
            <a:fillRect/>
          </a:stretch>
        </p:blipFill>
        <p:spPr>
          <a:xfrm>
            <a:off x="9255125" y="727075"/>
            <a:ext cx="1756410" cy="1153160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2108835" y="1666875"/>
            <a:ext cx="8042910" cy="1309370"/>
            <a:chOff x="2889" y="5400"/>
            <a:chExt cx="12666" cy="2062"/>
          </a:xfrm>
        </p:grpSpPr>
        <p:sp>
          <p:nvSpPr>
            <p:cNvPr id="17" name="文本框 16"/>
            <p:cNvSpPr txBox="1"/>
            <p:nvPr/>
          </p:nvSpPr>
          <p:spPr>
            <a:xfrm>
              <a:off x="6996" y="6348"/>
              <a:ext cx="4454" cy="11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R="0" indent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4000" b="1" dirty="0">
                  <a:solidFill>
                    <a:srgbClr val="004578"/>
                  </a:solidFill>
                  <a:latin typeface="HarmonyOS Sans SC" panose="00000500000000000000" pitchFamily="2" charset="-122"/>
                  <a:ea typeface="HarmonyOS Sans SC" panose="00000500000000000000" pitchFamily="2" charset="-122"/>
                </a:rPr>
                <a:t>信号处理</a:t>
              </a:r>
              <a:endParaRPr kumimoji="0" lang="en-US" altLang="zh-CN" sz="40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endParaRPr>
            </a:p>
          </p:txBody>
        </p:sp>
        <p:grpSp>
          <p:nvGrpSpPr>
            <p:cNvPr id="15" name="组合 14"/>
            <p:cNvGrpSpPr/>
            <p:nvPr/>
          </p:nvGrpSpPr>
          <p:grpSpPr>
            <a:xfrm rot="0">
              <a:off x="2889" y="5400"/>
              <a:ext cx="12667" cy="2062"/>
              <a:chOff x="3266" y="4285"/>
              <a:chExt cx="12667" cy="2062"/>
            </a:xfrm>
          </p:grpSpPr>
          <p:sp>
            <p:nvSpPr>
              <p:cNvPr id="16" name="文本框 15"/>
              <p:cNvSpPr txBox="1"/>
              <p:nvPr/>
            </p:nvSpPr>
            <p:spPr>
              <a:xfrm>
                <a:off x="3266" y="5233"/>
                <a:ext cx="1253" cy="1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R="0" indent="0" algn="ctr" defTabSz="9144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4000" b="1" dirty="0">
                    <a:solidFill>
                      <a:srgbClr val="004578"/>
                    </a:solidFill>
                    <a:latin typeface="HarmonyOS Sans SC" panose="00000500000000000000" pitchFamily="2" charset="-122"/>
                    <a:ea typeface="HarmonyOS Sans SC" panose="00000500000000000000" pitchFamily="2" charset="-122"/>
                  </a:rPr>
                  <a:t>A</a:t>
                </a:r>
                <a:endParaRPr kumimoji="0" lang="en-US" altLang="zh-CN" sz="4000" b="1" i="0" kern="1200" cap="none" spc="0" normalizeH="0" baseline="0" noProof="0" dirty="0">
                  <a:solidFill>
                    <a:srgbClr val="004578"/>
                  </a:solidFill>
                  <a:latin typeface="HarmonyOS Sans SC" panose="00000500000000000000" pitchFamily="2" charset="-122"/>
                  <a:ea typeface="HarmonyOS Sans SC" panose="00000500000000000000" pitchFamily="2" charset="-122"/>
                </a:endParaRP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3947" y="5233"/>
                <a:ext cx="1253" cy="1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R="0" indent="0" algn="ctr" defTabSz="9144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4000" b="1" i="0" kern="1200" cap="none" spc="0" normalizeH="0" baseline="0" noProof="0" dirty="0">
                    <a:solidFill>
                      <a:srgbClr val="004578"/>
                    </a:solidFill>
                    <a:latin typeface="HarmonyOS Sans SC" panose="00000500000000000000" pitchFamily="2" charset="-122"/>
                    <a:ea typeface="HarmonyOS Sans SC" panose="00000500000000000000" pitchFamily="2" charset="-122"/>
                  </a:rPr>
                  <a:t>D</a:t>
                </a:r>
                <a:endParaRPr kumimoji="0" lang="en-US" altLang="zh-CN" sz="4000" b="1" i="0" kern="1200" cap="none" spc="0" normalizeH="0" baseline="0" noProof="0" dirty="0">
                  <a:solidFill>
                    <a:srgbClr val="004578"/>
                  </a:solidFill>
                  <a:latin typeface="HarmonyOS Sans SC" panose="00000500000000000000" pitchFamily="2" charset="-122"/>
                  <a:ea typeface="HarmonyOS Sans SC" panose="00000500000000000000" pitchFamily="2" charset="-122"/>
                </a:endParaRPr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4573" y="5233"/>
                <a:ext cx="1253" cy="1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R="0" indent="0" algn="ctr" defTabSz="9144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4000" b="1" dirty="0">
                    <a:solidFill>
                      <a:srgbClr val="004578"/>
                    </a:solidFill>
                    <a:latin typeface="HarmonyOS Sans SC" panose="00000500000000000000" pitchFamily="2" charset="-122"/>
                    <a:ea typeface="HarmonyOS Sans SC" panose="00000500000000000000" pitchFamily="2" charset="-122"/>
                  </a:rPr>
                  <a:t>C</a:t>
                </a:r>
                <a:endParaRPr kumimoji="0" lang="en-US" altLang="zh-CN" sz="4000" b="1" i="0" kern="1200" cap="none" spc="0" normalizeH="0" baseline="0" noProof="0" dirty="0">
                  <a:solidFill>
                    <a:srgbClr val="004578"/>
                  </a:solidFill>
                  <a:latin typeface="HarmonyOS Sans SC" panose="00000500000000000000" pitchFamily="2" charset="-122"/>
                  <a:ea typeface="HarmonyOS Sans SC" panose="00000500000000000000" pitchFamily="2" charset="-122"/>
                </a:endParaRPr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13374" y="5233"/>
                <a:ext cx="1253" cy="1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R="0" indent="0" algn="ctr" defTabSz="9144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4000" b="1" i="0" kern="1200" cap="none" spc="0" normalizeH="0" baseline="0" noProof="0" dirty="0">
                    <a:solidFill>
                      <a:srgbClr val="004578"/>
                    </a:solidFill>
                    <a:latin typeface="HarmonyOS Sans SC" panose="00000500000000000000" pitchFamily="2" charset="-122"/>
                    <a:ea typeface="HarmonyOS Sans SC" panose="00000500000000000000" pitchFamily="2" charset="-122"/>
                  </a:rPr>
                  <a:t>D</a:t>
                </a:r>
                <a:endParaRPr kumimoji="0" lang="en-US" altLang="zh-CN" sz="4000" b="1" i="0" kern="1200" cap="none" spc="0" normalizeH="0" baseline="0" noProof="0" dirty="0">
                  <a:solidFill>
                    <a:srgbClr val="004578"/>
                  </a:solidFill>
                  <a:latin typeface="HarmonyOS Sans SC" panose="00000500000000000000" pitchFamily="2" charset="-122"/>
                  <a:ea typeface="HarmonyOS Sans SC" panose="00000500000000000000" pitchFamily="2" charset="-122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14055" y="5233"/>
                <a:ext cx="1253" cy="1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R="0" indent="0" algn="ctr" defTabSz="9144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4000" b="1" dirty="0">
                    <a:solidFill>
                      <a:srgbClr val="004578"/>
                    </a:solidFill>
                    <a:latin typeface="HarmonyOS Sans SC" panose="00000500000000000000" pitchFamily="2" charset="-122"/>
                    <a:ea typeface="HarmonyOS Sans SC" panose="00000500000000000000" pitchFamily="2" charset="-122"/>
                  </a:rPr>
                  <a:t>A</a:t>
                </a:r>
                <a:endParaRPr kumimoji="0" lang="en-US" altLang="zh-CN" sz="4000" b="1" i="0" kern="1200" cap="none" spc="0" normalizeH="0" baseline="0" noProof="0" dirty="0">
                  <a:solidFill>
                    <a:srgbClr val="004578"/>
                  </a:solidFill>
                  <a:latin typeface="HarmonyOS Sans SC" panose="00000500000000000000" pitchFamily="2" charset="-122"/>
                  <a:ea typeface="HarmonyOS Sans SC" panose="00000500000000000000" pitchFamily="2" charset="-122"/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14681" y="5233"/>
                <a:ext cx="1253" cy="1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R="0" indent="0" algn="ctr" defTabSz="9144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4000" b="1" dirty="0">
                    <a:solidFill>
                      <a:srgbClr val="004578"/>
                    </a:solidFill>
                    <a:latin typeface="HarmonyOS Sans SC" panose="00000500000000000000" pitchFamily="2" charset="-122"/>
                    <a:ea typeface="HarmonyOS Sans SC" panose="00000500000000000000" pitchFamily="2" charset="-122"/>
                  </a:rPr>
                  <a:t>C</a:t>
                </a:r>
                <a:endParaRPr kumimoji="0" lang="en-US" altLang="zh-CN" sz="4000" b="1" i="0" kern="1200" cap="none" spc="0" normalizeH="0" baseline="0" noProof="0" dirty="0">
                  <a:solidFill>
                    <a:srgbClr val="004578"/>
                  </a:solidFill>
                  <a:latin typeface="HarmonyOS Sans SC" panose="00000500000000000000" pitchFamily="2" charset="-122"/>
                  <a:ea typeface="HarmonyOS Sans SC" panose="00000500000000000000" pitchFamily="2" charset="-122"/>
                </a:endParaRPr>
              </a:p>
            </p:txBody>
          </p:sp>
          <p:cxnSp>
            <p:nvCxnSpPr>
              <p:cNvPr id="23" name="直接箭头连接符 22"/>
              <p:cNvCxnSpPr>
                <a:stCxn id="19" idx="3"/>
                <a:endCxn id="17" idx="1"/>
              </p:cNvCxnSpPr>
              <p:nvPr/>
            </p:nvCxnSpPr>
            <p:spPr>
              <a:xfrm>
                <a:off x="5826" y="5790"/>
                <a:ext cx="1547" cy="0"/>
              </a:xfrm>
              <a:prstGeom prst="straightConnector1">
                <a:avLst/>
              </a:prstGeom>
              <a:ln w="76200">
                <a:solidFill>
                  <a:srgbClr val="004578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箭头连接符 23"/>
              <p:cNvCxnSpPr/>
              <p:nvPr/>
            </p:nvCxnSpPr>
            <p:spPr>
              <a:xfrm>
                <a:off x="11706" y="5790"/>
                <a:ext cx="1547" cy="0"/>
              </a:xfrm>
              <a:prstGeom prst="straightConnector1">
                <a:avLst/>
              </a:prstGeom>
              <a:ln w="76200">
                <a:solidFill>
                  <a:srgbClr val="004578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文本框 24"/>
              <p:cNvSpPr txBox="1"/>
              <p:nvPr/>
            </p:nvSpPr>
            <p:spPr>
              <a:xfrm>
                <a:off x="3400" y="4285"/>
                <a:ext cx="2226" cy="1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R="0" indent="0" algn="ctr" defTabSz="9144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4000" dirty="0">
                    <a:solidFill>
                      <a:srgbClr val="004578"/>
                    </a:solidFill>
                    <a:latin typeface="HarmonyOS Sans SC" panose="00000500000000000000" pitchFamily="2" charset="-122"/>
                    <a:ea typeface="HarmonyOS Sans SC" panose="00000500000000000000" pitchFamily="2" charset="-122"/>
                  </a:rPr>
                  <a:t>输入</a:t>
                </a:r>
                <a:endParaRPr kumimoji="0" lang="en-US" altLang="zh-CN" sz="4000" i="0" kern="1200" cap="none" spc="0" normalizeH="0" baseline="0" noProof="0" dirty="0">
                  <a:solidFill>
                    <a:srgbClr val="004578"/>
                  </a:solidFill>
                  <a:latin typeface="HarmonyOS Sans SC" panose="00000500000000000000" pitchFamily="2" charset="-122"/>
                  <a:ea typeface="HarmonyOS Sans SC" panose="00000500000000000000" pitchFamily="2" charset="-122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13561" y="4285"/>
                <a:ext cx="2226" cy="1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R="0" indent="0" algn="ctr" defTabSz="9144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4000" dirty="0">
                    <a:solidFill>
                      <a:srgbClr val="004578"/>
                    </a:solidFill>
                    <a:latin typeface="HarmonyOS Sans SC" panose="00000500000000000000" pitchFamily="2" charset="-122"/>
                    <a:ea typeface="HarmonyOS Sans SC" panose="00000500000000000000" pitchFamily="2" charset="-122"/>
                  </a:rPr>
                  <a:t>输出</a:t>
                </a:r>
                <a:endParaRPr kumimoji="0" lang="en-US" altLang="zh-CN" sz="4000" i="0" kern="1200" cap="none" spc="0" normalizeH="0" baseline="0" noProof="0" dirty="0">
                  <a:solidFill>
                    <a:srgbClr val="004578"/>
                  </a:solidFill>
                  <a:latin typeface="HarmonyOS Sans SC" panose="00000500000000000000" pitchFamily="2" charset="-122"/>
                  <a:ea typeface="HarmonyOS Sans SC" panose="00000500000000000000" pitchFamily="2" charset="-122"/>
                </a:endParaRPr>
              </a:p>
            </p:txBody>
          </p:sp>
        </p:grpSp>
      </p:grpSp>
      <p:sp>
        <p:nvSpPr>
          <p:cNvPr id="29" name="文本框 28"/>
          <p:cNvSpPr txBox="1"/>
          <p:nvPr/>
        </p:nvSpPr>
        <p:spPr>
          <a:xfrm>
            <a:off x="130175" y="3087370"/>
            <a:ext cx="5771515" cy="359981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en-US" sz="2800" b="1" dirty="0">
                <a:solidFill>
                  <a:srgbClr val="FFFAE8"/>
                </a:solidFill>
                <a:highlight>
                  <a:srgbClr val="004578"/>
                </a:highlight>
                <a:latin typeface="HarmonyOS Sans SC" panose="00000500000000000000" pitchFamily="2" charset="-122"/>
                <a:ea typeface="HarmonyOS Sans SC" panose="00000500000000000000" pitchFamily="2" charset="-122"/>
              </a:rPr>
              <a:t>A</a:t>
            </a:r>
            <a:r>
              <a:rPr lang="zh-CN" altLang="en-US" sz="3200" b="1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nalog to </a:t>
            </a:r>
            <a:r>
              <a:rPr lang="zh-CN" altLang="en-US" sz="2800" b="1" dirty="0">
                <a:solidFill>
                  <a:srgbClr val="FFFAE8"/>
                </a:solidFill>
                <a:highlight>
                  <a:srgbClr val="004578"/>
                </a:highlight>
                <a:latin typeface="HarmonyOS Sans SC" panose="00000500000000000000" pitchFamily="2" charset="-122"/>
                <a:ea typeface="HarmonyOS Sans SC" panose="00000500000000000000" pitchFamily="2" charset="-122"/>
              </a:rPr>
              <a:t>D</a:t>
            </a:r>
            <a:r>
              <a:rPr lang="zh-CN" altLang="en-US" sz="3200" b="1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igital </a:t>
            </a:r>
            <a:r>
              <a:rPr lang="zh-CN" altLang="en-US" sz="2800" b="1" dirty="0">
                <a:solidFill>
                  <a:srgbClr val="FFFAE8"/>
                </a:solidFill>
                <a:highlight>
                  <a:srgbClr val="004578"/>
                </a:highlight>
                <a:latin typeface="HarmonyOS Sans SC" panose="00000500000000000000" pitchFamily="2" charset="-122"/>
                <a:ea typeface="HarmonyOS Sans SC" panose="00000500000000000000" pitchFamily="2" charset="-122"/>
              </a:rPr>
              <a:t>C</a:t>
            </a:r>
            <a:r>
              <a:rPr lang="zh-CN" altLang="en-US" sz="3200" b="1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onverter</a:t>
            </a:r>
            <a:endParaRPr lang="zh-CN" altLang="en-US" sz="3200" b="1" dirty="0">
              <a:solidFill>
                <a:srgbClr val="FFFAE8"/>
              </a:solidFill>
              <a:highlight>
                <a:srgbClr val="004578"/>
              </a:highlight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r>
              <a:rPr lang="zh-CN" altLang="en-US" sz="2800" b="1" dirty="0">
                <a:solidFill>
                  <a:srgbClr val="FFFAE8"/>
                </a:solidFill>
                <a:highlight>
                  <a:srgbClr val="004578"/>
                </a:highlight>
                <a:latin typeface="HarmonyOS Sans SC" panose="00000500000000000000" pitchFamily="2" charset="-122"/>
                <a:ea typeface="HarmonyOS Sans SC" panose="00000500000000000000" pitchFamily="2" charset="-122"/>
              </a:rPr>
              <a:t>模拟</a:t>
            </a:r>
            <a:r>
              <a:rPr lang="zh-CN" altLang="en-US" sz="280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至</a:t>
            </a:r>
            <a:r>
              <a:rPr lang="zh-CN" altLang="en-US" sz="2800" b="1" dirty="0">
                <a:solidFill>
                  <a:srgbClr val="FFFAE8"/>
                </a:solidFill>
                <a:highlight>
                  <a:srgbClr val="004578"/>
                </a:highlight>
                <a:latin typeface="HarmonyOS Sans SC" panose="00000500000000000000" pitchFamily="2" charset="-122"/>
                <a:ea typeface="HarmonyOS Sans SC" panose="00000500000000000000" pitchFamily="2" charset="-122"/>
              </a:rPr>
              <a:t>数字</a:t>
            </a:r>
            <a:r>
              <a:rPr lang="zh-CN" altLang="en-US" sz="280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转换器</a:t>
            </a:r>
            <a:endParaRPr lang="en-US" altLang="zh-CN" sz="280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r>
              <a:rPr lang="zh-CN" altLang="en-US" sz="2800" b="1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测量电压</a:t>
            </a:r>
            <a:endParaRPr lang="en-US" altLang="zh-CN" sz="2800" b="1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r>
              <a:rPr lang="zh-CN" altLang="en-US" sz="280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待测电压为模拟量</a:t>
            </a:r>
            <a:endParaRPr lang="en-US" altLang="zh-CN" sz="280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r>
              <a:rPr lang="zh-CN" altLang="en-US" sz="280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将其转换为数字量</a:t>
            </a:r>
            <a:endParaRPr lang="en-US" altLang="zh-CN" sz="280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r>
              <a:rPr lang="en-US" altLang="zh-CN" sz="280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(</a:t>
            </a:r>
            <a:r>
              <a:rPr lang="zh-CN" altLang="en-US" sz="280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单片机可以处理的数字值</a:t>
            </a:r>
            <a:r>
              <a:rPr lang="en-US" altLang="zh-CN" sz="280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)</a:t>
            </a:r>
            <a:endParaRPr lang="en-US" altLang="zh-CN" sz="280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endParaRPr lang="en-US" altLang="zh-CN" sz="280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r>
              <a:rPr lang="zh-CN" altLang="en-US" sz="280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采样率足够时，就可记录信号</a:t>
            </a:r>
            <a:endParaRPr lang="en-US" altLang="zh-CN" sz="280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28" name="图片 27"/>
          <p:cNvPicPr/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95165" y="3188335"/>
            <a:ext cx="5389880" cy="3669665"/>
          </a:xfrm>
          <a:prstGeom prst="rect">
            <a:avLst/>
          </a:prstGeom>
        </p:spPr>
      </p:pic>
      <p:sp>
        <p:nvSpPr>
          <p:cNvPr id="30" name="椭圆 29"/>
          <p:cNvSpPr/>
          <p:nvPr/>
        </p:nvSpPr>
        <p:spPr>
          <a:xfrm>
            <a:off x="9058275" y="2915920"/>
            <a:ext cx="2787015" cy="1625600"/>
          </a:xfrm>
          <a:prstGeom prst="ellipse">
            <a:avLst/>
          </a:prstGeom>
          <a:noFill/>
          <a:ln w="76200">
            <a:solidFill>
              <a:srgbClr val="1C519A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9755505" y="3188335"/>
            <a:ext cx="4064000" cy="10013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0-V</a:t>
            </a:r>
            <a:r>
              <a:rPr lang="en-US" altLang="zh-CN" sz="2800" baseline="-25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ref</a:t>
            </a:r>
            <a:endParaRPr lang="en-US" altLang="zh-CN" sz="2800" baseline="-2500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zh-CN" sz="4800" baseline="-25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模拟量</a:t>
            </a:r>
            <a:endParaRPr lang="zh-CN" altLang="zh-CN" sz="4800" baseline="-2500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9130030" y="5003165"/>
            <a:ext cx="2787015" cy="1625600"/>
          </a:xfrm>
          <a:prstGeom prst="ellipse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3" name="直接箭头连接符 32"/>
          <p:cNvCxnSpPr/>
          <p:nvPr/>
        </p:nvCxnSpPr>
        <p:spPr>
          <a:xfrm>
            <a:off x="10505440" y="4366895"/>
            <a:ext cx="36195" cy="880745"/>
          </a:xfrm>
          <a:prstGeom prst="straightConnector1">
            <a:avLst/>
          </a:prstGeom>
          <a:ln w="5715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10541635" y="457327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12bit ADC</a:t>
            </a:r>
            <a:endParaRPr lang="en-US" altLang="zh-CN" sz="20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755505" y="5329555"/>
            <a:ext cx="4064000" cy="10013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0-4095</a:t>
            </a:r>
            <a:endParaRPr lang="en-US" altLang="zh-CN" sz="2800" baseline="-2500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zh-CN" sz="4800" baseline="-25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数字量</a:t>
            </a:r>
            <a:endParaRPr lang="zh-CN" altLang="zh-CN" sz="4800" baseline="-2500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硬件部分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思路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5612" y="775529"/>
            <a:ext cx="3383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音频功放与基准</a:t>
            </a:r>
            <a:r>
              <a:rPr lang="zh-CN" altLang="en-US" sz="28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电路</a:t>
            </a:r>
            <a:endParaRPr lang="zh-CN" altLang="en-US" sz="28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7" name="图片 6"/>
          <p:cNvPicPr/>
          <p:nvPr/>
        </p:nvPicPr>
        <p:blipFill>
          <a:blip r:embed="rId2"/>
          <a:stretch>
            <a:fillRect/>
          </a:stretch>
        </p:blipFill>
        <p:spPr>
          <a:xfrm>
            <a:off x="6320155" y="2275840"/>
            <a:ext cx="5284470" cy="3073400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3"/>
          <a:stretch>
            <a:fillRect/>
          </a:stretch>
        </p:blipFill>
        <p:spPr>
          <a:xfrm>
            <a:off x="337820" y="1571625"/>
            <a:ext cx="6052820" cy="401256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2846070" y="5584190"/>
            <a:ext cx="252031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音频功放电路</a:t>
            </a:r>
            <a:endParaRPr lang="zh-CN" altLang="en-US" sz="24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750175" y="5544185"/>
            <a:ext cx="26193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基准电路</a:t>
            </a:r>
            <a:endParaRPr lang="zh-CN" altLang="en-US" sz="24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83095" y="129730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负反馈状态下：</a:t>
            </a:r>
            <a:endParaRPr lang="zh-CN" altLang="en-US" sz="20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虚短、虚断</a:t>
            </a:r>
            <a:endParaRPr lang="zh-CN" altLang="en-US" sz="20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540625" y="607885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V_REF</a:t>
            </a:r>
            <a:r>
              <a:rPr lang="zh-CN" altLang="en-US" sz="20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由电位器分压</a:t>
            </a:r>
            <a:r>
              <a:rPr lang="zh-CN" altLang="en-US" sz="20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得到</a:t>
            </a:r>
            <a:endParaRPr lang="zh-CN" altLang="en-US" sz="20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52805" y="3813175"/>
            <a:ext cx="723900" cy="165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/>
          <p:nvPr/>
        </p:nvPicPr>
        <p:blipFill>
          <a:blip r:embed="rId4"/>
          <a:srcRect l="28875" t="59617" r="54040" b="15008"/>
          <a:stretch>
            <a:fillRect/>
          </a:stretch>
        </p:blipFill>
        <p:spPr>
          <a:xfrm>
            <a:off x="626110" y="4396740"/>
            <a:ext cx="950595" cy="73977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37820" y="4834255"/>
            <a:ext cx="1623060" cy="7099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接单片机</a:t>
            </a:r>
            <a:r>
              <a:rPr lang="en-US" altLang="zh-CN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IO</a:t>
            </a:r>
            <a:endParaRPr lang="en-US" altLang="zh-CN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pPr algn="ctr"/>
            <a:endParaRPr lang="en-US" altLang="zh-CN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193415" y="1489710"/>
            <a:ext cx="626745" cy="76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337820" y="1345565"/>
            <a:ext cx="29489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若输出音频含有较大</a:t>
            </a:r>
            <a:r>
              <a:rPr lang="zh-CN" altLang="en-US" sz="16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噪声</a:t>
            </a:r>
            <a:r>
              <a:rPr lang="zh-CN" altLang="en-US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，推荐在该引脚处</a:t>
            </a:r>
            <a:r>
              <a:rPr lang="zh-CN" altLang="en-US" sz="16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就近焊接</a:t>
            </a:r>
            <a:r>
              <a:rPr lang="zh-CN" altLang="en-US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大容值（如</a:t>
            </a:r>
            <a:r>
              <a:rPr lang="en-US" altLang="zh-CN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470uF)</a:t>
            </a:r>
            <a:r>
              <a:rPr lang="zh-CN" altLang="en-US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电解电容</a:t>
            </a:r>
            <a:endParaRPr lang="zh-CN" altLang="en-US" sz="16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0" name="五角星 19"/>
          <p:cNvSpPr/>
          <p:nvPr/>
        </p:nvSpPr>
        <p:spPr>
          <a:xfrm>
            <a:off x="60960" y="1345565"/>
            <a:ext cx="332740" cy="33274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728720" y="857885"/>
            <a:ext cx="67678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注：所有</a:t>
            </a:r>
            <a:r>
              <a:rPr lang="en-US" altLang="zh-CN" sz="16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IC</a:t>
            </a:r>
            <a:r>
              <a:rPr lang="zh-CN" altLang="en-US" sz="16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sz="16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HT6872</a:t>
            </a:r>
            <a:r>
              <a:rPr lang="zh-CN" altLang="en-US" sz="16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和运放）最好在其供电引脚和地之间接一个</a:t>
            </a:r>
            <a:r>
              <a:rPr lang="en-US" altLang="zh-CN" sz="16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100nF</a:t>
            </a:r>
            <a:r>
              <a:rPr lang="zh-CN" altLang="en-US" sz="16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左右的电容去耦</a:t>
            </a:r>
            <a:endParaRPr lang="zh-CN" altLang="en-US" sz="160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硬件部分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思路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5612" y="775529"/>
            <a:ext cx="4450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耳机与麦克风信号调理</a:t>
            </a:r>
            <a:r>
              <a:rPr lang="zh-CN" altLang="en-US" sz="28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电路</a:t>
            </a:r>
            <a:endParaRPr lang="zh-CN" altLang="en-US" sz="28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8" name="图片 7"/>
          <p:cNvPicPr/>
          <p:nvPr/>
        </p:nvPicPr>
        <p:blipFill>
          <a:blip r:embed="rId2"/>
          <a:stretch>
            <a:fillRect/>
          </a:stretch>
        </p:blipFill>
        <p:spPr>
          <a:xfrm>
            <a:off x="280670" y="1817370"/>
            <a:ext cx="5563870" cy="2915285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3"/>
          <a:stretch>
            <a:fillRect/>
          </a:stretch>
        </p:blipFill>
        <p:spPr>
          <a:xfrm>
            <a:off x="6411595" y="2117725"/>
            <a:ext cx="5166360" cy="260604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863205" y="5088255"/>
            <a:ext cx="31781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麦克风</a:t>
            </a:r>
            <a:r>
              <a:rPr lang="zh-CN" altLang="en-US" sz="2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输入调理电路</a:t>
            </a:r>
            <a:endParaRPr lang="zh-CN" altLang="en-US" sz="24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046605" y="4849495"/>
            <a:ext cx="29610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音频</a:t>
            </a:r>
            <a:r>
              <a:rPr lang="zh-CN" altLang="en-US" sz="2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输入调理电路</a:t>
            </a:r>
            <a:endParaRPr lang="zh-CN" altLang="en-US" sz="24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80870" y="2620010"/>
            <a:ext cx="642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R1</a:t>
            </a:r>
            <a:endParaRPr lang="en-US" altLang="zh-CN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973705" y="2052955"/>
            <a:ext cx="642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</a:t>
            </a:r>
            <a:r>
              <a:rPr lang="en-US" altLang="zh-CN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f</a:t>
            </a:r>
            <a:endParaRPr lang="en-US" altLang="zh-CN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575810" y="2733675"/>
            <a:ext cx="18345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单端供电，无法处理</a:t>
            </a:r>
            <a:r>
              <a:rPr lang="zh-CN" altLang="en-US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负压</a:t>
            </a:r>
            <a:endParaRPr lang="zh-CN" altLang="en-US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889571" y="5494274"/>
                <a:ext cx="5206365" cy="61087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𝑉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_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𝑎𝑢𝑑𝑖𝑜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 =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𝑉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_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𝑟𝑒𝑓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𝑅𝑓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𝑅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∗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𝐸𝐴𝑅𝑃𝐻𝑂𝑁𝐸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𝑉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_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𝑟𝑒𝑓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571" y="5494274"/>
                <a:ext cx="5206365" cy="610870"/>
              </a:xfrm>
              <a:prstGeom prst="rect">
                <a:avLst/>
              </a:prstGeom>
              <a:blipFill rotWithShape="1">
                <a:blip r:embed="rId4"/>
                <a:stretch>
                  <a:fillRect l="-11" t="-42" r="11" b="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1256665"/>
            <a:ext cx="1518920" cy="1319530"/>
          </a:xfrm>
          <a:prstGeom prst="rect">
            <a:avLst/>
          </a:prstGeom>
        </p:spPr>
      </p:pic>
      <p:cxnSp>
        <p:nvCxnSpPr>
          <p:cNvPr id="20" name="直接连接符 19"/>
          <p:cNvCxnSpPr/>
          <p:nvPr/>
        </p:nvCxnSpPr>
        <p:spPr>
          <a:xfrm flipH="1">
            <a:off x="735965" y="2310130"/>
            <a:ext cx="360000" cy="0"/>
          </a:xfrm>
          <a:prstGeom prst="line">
            <a:avLst/>
          </a:prstGeom>
          <a:ln w="28575">
            <a:solidFill>
              <a:srgbClr val="1C519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rot="16200000" flipH="1">
            <a:off x="203268" y="2849948"/>
            <a:ext cx="1080000" cy="0"/>
          </a:xfrm>
          <a:prstGeom prst="line">
            <a:avLst/>
          </a:prstGeom>
          <a:ln w="28575">
            <a:solidFill>
              <a:srgbClr val="1C519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>
            <a:off x="743585" y="3395345"/>
            <a:ext cx="540000" cy="0"/>
          </a:xfrm>
          <a:prstGeom prst="line">
            <a:avLst/>
          </a:prstGeom>
          <a:ln w="28575">
            <a:solidFill>
              <a:srgbClr val="1C519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3" name="图片 22"/>
          <p:cNvPicPr/>
          <p:nvPr/>
        </p:nvPicPr>
        <p:blipFill>
          <a:blip r:embed="rId2"/>
          <a:srcRect l="28875" t="59617" r="54040" b="15008"/>
          <a:stretch>
            <a:fillRect/>
          </a:stretch>
        </p:blipFill>
        <p:spPr>
          <a:xfrm>
            <a:off x="125730" y="1424940"/>
            <a:ext cx="950595" cy="739775"/>
          </a:xfrm>
          <a:prstGeom prst="rect">
            <a:avLst/>
          </a:prstGeom>
        </p:spPr>
      </p:pic>
      <p:pic>
        <p:nvPicPr>
          <p:cNvPr id="25" name="图片 24" descr="a8d47f9bf32765b521d6a57f44201fcc"/>
          <p:cNvPicPr>
            <a:picLocks noChangeAspect="1"/>
          </p:cNvPicPr>
          <p:nvPr/>
        </p:nvPicPr>
        <p:blipFill>
          <a:blip r:embed="rId6"/>
          <a:srcRect l="35679" t="10148" r="43128" b="72389"/>
          <a:stretch>
            <a:fillRect/>
          </a:stretch>
        </p:blipFill>
        <p:spPr>
          <a:xfrm>
            <a:off x="6752590" y="4464685"/>
            <a:ext cx="795655" cy="1458595"/>
          </a:xfrm>
          <a:prstGeom prst="rect">
            <a:avLst/>
          </a:prstGeom>
        </p:spPr>
      </p:pic>
      <p:cxnSp>
        <p:nvCxnSpPr>
          <p:cNvPr id="26" name="直接连接符 25"/>
          <p:cNvCxnSpPr/>
          <p:nvPr/>
        </p:nvCxnSpPr>
        <p:spPr>
          <a:xfrm rot="16200000" flipH="1">
            <a:off x="6388803" y="4057083"/>
            <a:ext cx="1080000" cy="0"/>
          </a:xfrm>
          <a:prstGeom prst="line">
            <a:avLst/>
          </a:prstGeom>
          <a:ln w="28575">
            <a:solidFill>
              <a:srgbClr val="1C519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7" name="图片 26"/>
          <p:cNvPicPr/>
          <p:nvPr/>
        </p:nvPicPr>
        <p:blipFill>
          <a:blip r:embed="rId7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9169" t="88258" r="76878"/>
          <a:stretch>
            <a:fillRect/>
          </a:stretch>
        </p:blipFill>
        <p:spPr>
          <a:xfrm rot="16200000">
            <a:off x="6959600" y="3496310"/>
            <a:ext cx="1974850" cy="1652270"/>
          </a:xfrm>
          <a:prstGeom prst="rect">
            <a:avLst/>
          </a:prstGeom>
        </p:spPr>
      </p:pic>
      <p:cxnSp>
        <p:nvCxnSpPr>
          <p:cNvPr id="28" name="直接连接符 27"/>
          <p:cNvCxnSpPr/>
          <p:nvPr/>
        </p:nvCxnSpPr>
        <p:spPr>
          <a:xfrm rot="16200000" flipH="1">
            <a:off x="6448968" y="2997108"/>
            <a:ext cx="3600000" cy="0"/>
          </a:xfrm>
          <a:prstGeom prst="line">
            <a:avLst/>
          </a:prstGeom>
          <a:ln w="28575">
            <a:solidFill>
              <a:srgbClr val="1C519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7120890" y="1749425"/>
            <a:ext cx="694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调理</a:t>
            </a:r>
            <a:endParaRPr lang="zh-CN" altLang="en-US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569450" y="1749425"/>
            <a:ext cx="694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放大</a:t>
            </a:r>
            <a:endParaRPr lang="zh-CN" altLang="en-US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软件部分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思路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5612" y="775529"/>
            <a:ext cx="4094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软件需要实现</a:t>
            </a:r>
            <a:r>
              <a:rPr lang="zh-CN" altLang="en-US" sz="28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那些功能？</a:t>
            </a:r>
            <a:endParaRPr lang="zh-CN" altLang="en-US" sz="28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105" y="2182495"/>
            <a:ext cx="6187440" cy="4038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45" y="3429000"/>
            <a:ext cx="2686050" cy="2603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105" y="4453890"/>
            <a:ext cx="6121400" cy="869950"/>
          </a:xfrm>
          <a:prstGeom prst="rect">
            <a:avLst/>
          </a:prstGeom>
        </p:spPr>
      </p:pic>
      <p:cxnSp>
        <p:nvCxnSpPr>
          <p:cNvPr id="14" name="直接箭头连接符 13"/>
          <p:cNvCxnSpPr/>
          <p:nvPr/>
        </p:nvCxnSpPr>
        <p:spPr>
          <a:xfrm>
            <a:off x="6853555" y="2386330"/>
            <a:ext cx="694055" cy="1270"/>
          </a:xfrm>
          <a:prstGeom prst="straightConnector1">
            <a:avLst/>
          </a:prstGeom>
          <a:ln w="76200">
            <a:solidFill>
              <a:srgbClr val="1C519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3812540" y="3558540"/>
            <a:ext cx="694055" cy="1270"/>
          </a:xfrm>
          <a:prstGeom prst="straightConnector1">
            <a:avLst/>
          </a:prstGeom>
          <a:ln w="76200">
            <a:solidFill>
              <a:srgbClr val="1C519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6961505" y="4772660"/>
            <a:ext cx="694055" cy="1270"/>
          </a:xfrm>
          <a:prstGeom prst="straightConnector1">
            <a:avLst/>
          </a:prstGeom>
          <a:ln w="76200">
            <a:solidFill>
              <a:srgbClr val="1C519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7655560" y="2187575"/>
            <a:ext cx="32829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sz="2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sz="2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）单片机点灯</a:t>
            </a:r>
            <a:endParaRPr lang="zh-CN" altLang="en-US" sz="200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sz="12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（见</a:t>
            </a:r>
            <a:r>
              <a:rPr lang="zh-CN" altLang="en-US" sz="12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群文件</a:t>
            </a:r>
            <a:r>
              <a:rPr lang="zh-CN" altLang="en-US" sz="12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《基础配置教程》）</a:t>
            </a:r>
            <a:endParaRPr lang="zh-CN" altLang="en-US" sz="120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663440" y="3362960"/>
            <a:ext cx="56375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sz="2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sz="2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）按键检测</a:t>
            </a:r>
            <a:endParaRPr lang="zh-CN" altLang="en-US" sz="200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795895" y="4573905"/>
            <a:ext cx="38900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sz="2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sz="2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r>
              <a:rPr lang="en-US" altLang="zh-CN" sz="2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ADC</a:t>
            </a:r>
            <a:r>
              <a:rPr lang="zh-CN" altLang="en-US" sz="2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采样</a:t>
            </a:r>
            <a:r>
              <a:rPr lang="en-US" altLang="zh-CN" sz="2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+</a:t>
            </a:r>
            <a:r>
              <a:rPr lang="zh-CN" altLang="en-US" sz="2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sz="2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sz="2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）数据处理</a:t>
            </a:r>
            <a:r>
              <a:rPr lang="en-US" altLang="zh-CN" sz="2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+</a:t>
            </a:r>
            <a:r>
              <a:rPr lang="zh-CN" altLang="en-US" sz="2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sz="2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zh-CN" altLang="en-US" sz="2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r>
              <a:rPr lang="en-US" altLang="zh-CN" sz="2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DAC</a:t>
            </a:r>
            <a:r>
              <a:rPr lang="zh-CN" altLang="en-US" sz="2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输出</a:t>
            </a:r>
            <a:endParaRPr lang="zh-CN" altLang="en-US" sz="200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929755" y="5497195"/>
            <a:ext cx="3789045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此外，为了实现用户交互，还需要实现：（6）</a:t>
            </a:r>
            <a:r>
              <a:rPr lang="zh-CN" altLang="en-US" sz="2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OLED屏幕显示</a:t>
            </a:r>
            <a:endParaRPr lang="zh-CN" altLang="en-US" sz="200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sz="12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（见</a:t>
            </a:r>
            <a:r>
              <a:rPr lang="zh-CN" altLang="en-US" sz="12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群精华</a:t>
            </a:r>
            <a:r>
              <a:rPr lang="zh-CN" altLang="en-US" sz="12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提供的教程</a:t>
            </a:r>
            <a:r>
              <a:rPr lang="zh-CN" altLang="en-US" sz="12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链接）</a:t>
            </a:r>
            <a:endParaRPr lang="zh-CN" altLang="en-US" sz="120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152900" y="873125"/>
            <a:ext cx="762190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 noProof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书籍推荐：漆强老师《嵌入式系统设计</a:t>
            </a:r>
            <a:r>
              <a:rPr lang="en-US" altLang="zh-CN" sz="1600" b="1" noProof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1600" b="1" noProof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基于</a:t>
            </a:r>
            <a:r>
              <a:rPr lang="en-US" altLang="zh-CN" sz="1600" b="1" noProof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STM32cubeMX</a:t>
            </a:r>
            <a:r>
              <a:rPr lang="zh-CN" altLang="en-US" sz="1600" b="1" noProof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与</a:t>
            </a:r>
            <a:r>
              <a:rPr lang="en-US" altLang="zh-CN" sz="1600" b="1" noProof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HAL</a:t>
            </a:r>
            <a:r>
              <a:rPr lang="zh-CN" altLang="en-US" sz="1600" b="1" noProof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库》</a:t>
            </a:r>
            <a:endParaRPr lang="zh-CN" altLang="en-US" sz="1600" b="1" noProof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等腰三角形 5"/>
          <p:cNvSpPr/>
          <p:nvPr/>
        </p:nvSpPr>
        <p:spPr>
          <a:xfrm>
            <a:off x="7547610" y="2255520"/>
            <a:ext cx="248920" cy="24892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等腰三角形 12"/>
          <p:cNvSpPr/>
          <p:nvPr/>
        </p:nvSpPr>
        <p:spPr>
          <a:xfrm>
            <a:off x="6712585" y="5574030"/>
            <a:ext cx="248920" cy="24892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软件部分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思路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5612" y="775529"/>
            <a:ext cx="38950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STM32</a:t>
            </a:r>
            <a:r>
              <a:rPr lang="zh-CN" altLang="en-US" sz="28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单片机开发</a:t>
            </a:r>
            <a:r>
              <a:rPr lang="zh-CN" altLang="en-US" sz="28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方式</a:t>
            </a:r>
            <a:endParaRPr lang="zh-CN" altLang="en-US" sz="28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2"/>
          <a:srcRect l="6315" t="13533" r="63142" b="29365"/>
          <a:stretch>
            <a:fillRect/>
          </a:stretch>
        </p:blipFill>
        <p:spPr>
          <a:xfrm>
            <a:off x="7546340" y="1565910"/>
            <a:ext cx="2929890" cy="27101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907655" y="4639945"/>
            <a:ext cx="22078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Keil uVision5</a:t>
            </a:r>
            <a:endParaRPr lang="en-US" altLang="zh-CN" sz="24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8" name="图片 17" descr="202008031303146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120" y="1503680"/>
            <a:ext cx="4590415" cy="263652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2002790" y="4629785"/>
            <a:ext cx="27584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STM32CubeMX</a:t>
            </a:r>
            <a:endParaRPr lang="en-US" altLang="zh-CN" sz="24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" name="加号 22"/>
          <p:cNvSpPr/>
          <p:nvPr/>
        </p:nvSpPr>
        <p:spPr>
          <a:xfrm>
            <a:off x="5837555" y="2547620"/>
            <a:ext cx="1413510" cy="1413510"/>
          </a:xfrm>
          <a:prstGeom prst="mathPlus">
            <a:avLst>
              <a:gd name="adj1" fmla="val 12398"/>
            </a:avLst>
          </a:prstGeom>
          <a:solidFill>
            <a:srgbClr val="1C519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2002790" y="5210810"/>
            <a:ext cx="338391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生成工程文件</a:t>
            </a:r>
            <a:endParaRPr lang="zh-CN" altLang="en-US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图形化</a:t>
            </a:r>
            <a:r>
              <a:rPr lang="zh-CN" altLang="en-US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编程，生成基本</a:t>
            </a:r>
            <a:r>
              <a:rPr lang="zh-CN" altLang="en-US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配置代码</a:t>
            </a:r>
            <a:endParaRPr lang="zh-CN" altLang="en-US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666355" y="5210810"/>
            <a:ext cx="338391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编写核心代码</a:t>
            </a:r>
            <a:endParaRPr lang="zh-CN" altLang="en-US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编译程序并下载到单片机</a:t>
            </a:r>
            <a:r>
              <a:rPr lang="zh-CN" altLang="en-US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</a:t>
            </a:r>
            <a:endParaRPr lang="zh-CN" altLang="en-US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152900" y="806450"/>
            <a:ext cx="66389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软件环境搭建和软件通用使用流程见QQ群文件</a:t>
            </a:r>
            <a:endParaRPr lang="zh-CN" altLang="en-US" sz="240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70923" y="1422985"/>
            <a:ext cx="110500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按键：常见的输入设备，按下导通，松手断开</a:t>
            </a:r>
            <a:endParaRPr lang="en-US" altLang="zh-CN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按键抖动：由于按键内部使用的是机械式弹簧片来进行通断的，所以在按下和松手的瞬间会伴随有一连串的抖动</a:t>
            </a:r>
            <a:endParaRPr lang="en-US" altLang="zh-CN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8792" y="3892396"/>
            <a:ext cx="2205651" cy="188547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798" y="3112865"/>
            <a:ext cx="7041490" cy="3444538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09102" y="64329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软件部分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思路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25612" y="775529"/>
            <a:ext cx="98831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按键检测：状态机</a:t>
            </a:r>
            <a:r>
              <a:rPr lang="en-US" altLang="zh-CN" sz="24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（具体实现与代码参考：群内漆强老师书籍</a:t>
            </a:r>
            <a:r>
              <a:rPr lang="en-US" altLang="zh-CN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6.4.3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节）</a:t>
            </a:r>
            <a:endParaRPr lang="zh-CN" altLang="en-US" sz="240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软件部分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思路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5612" y="775529"/>
            <a:ext cx="98831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按键检测：状态机</a:t>
            </a:r>
            <a:r>
              <a:rPr lang="en-US" altLang="zh-CN" sz="24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（具体实现与代码参考：群内漆强老师书籍</a:t>
            </a:r>
            <a:r>
              <a:rPr lang="en-US" altLang="zh-CN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6.4.3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节）</a:t>
            </a:r>
            <a:endParaRPr lang="zh-CN" altLang="en-US" sz="240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385" y="3651250"/>
            <a:ext cx="5324475" cy="1879600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6912610" y="5262880"/>
            <a:ext cx="39725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该</a:t>
            </a:r>
            <a:r>
              <a:rPr lang="zh-CN" alt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流程定时触发</a:t>
            </a:r>
            <a:r>
              <a:rPr lang="zh-CN" altLang="en-US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：每</a:t>
            </a:r>
            <a:r>
              <a:rPr lang="en-US" altLang="zh-CN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10ms“</a:t>
            </a:r>
            <a:r>
              <a:rPr lang="zh-CN" altLang="en-US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走一步</a:t>
            </a:r>
            <a:r>
              <a:rPr lang="en-US" altLang="zh-CN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endParaRPr lang="en-US" alt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955" y="2107565"/>
            <a:ext cx="5558790" cy="3155315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6786880" y="2284730"/>
            <a:ext cx="11607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初始状态</a:t>
            </a:r>
            <a:endParaRPr lang="zh-CN" altLang="en-US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27" name="直接箭头连接符 26"/>
          <p:cNvCxnSpPr/>
          <p:nvPr/>
        </p:nvCxnSpPr>
        <p:spPr>
          <a:xfrm>
            <a:off x="7947660" y="2502535"/>
            <a:ext cx="661035" cy="233045"/>
          </a:xfrm>
          <a:prstGeom prst="straightConnector1">
            <a:avLst/>
          </a:prstGeom>
          <a:ln w="76200">
            <a:solidFill>
              <a:srgbClr val="1C519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54735" y="2205355"/>
            <a:ext cx="344868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按键不按下时，单片</a:t>
            </a:r>
            <a:r>
              <a:rPr lang="en-US" altLang="zh-CN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IO</a:t>
            </a:r>
            <a:r>
              <a:rPr lang="zh-CN" alt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口电平为高，按下时为</a:t>
            </a:r>
            <a:r>
              <a:rPr lang="zh-CN" alt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低</a:t>
            </a:r>
            <a:endParaRPr lang="zh-CN" altLang="en-US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54735" y="2955290"/>
            <a:ext cx="344868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按下与松开的瞬间存在</a:t>
            </a:r>
            <a:r>
              <a:rPr lang="en-US" altLang="zh-CN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抖动</a:t>
            </a:r>
            <a:r>
              <a:rPr lang="en-US" altLang="zh-CN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endParaRPr lang="en-US" altLang="zh-CN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8458835" y="4893945"/>
            <a:ext cx="1306195" cy="19431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208395" y="5746750"/>
            <a:ext cx="58096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定时</a:t>
            </a:r>
            <a:r>
              <a:rPr lang="en-US" altLang="zh-CN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的方式：</a:t>
            </a:r>
            <a:r>
              <a:rPr lang="zh-CN" altLang="en-US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定时中断，或</a:t>
            </a:r>
            <a:r>
              <a:rPr lang="zh-CN" altLang="en-US" noProof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其他周期性触发的中断</a:t>
            </a:r>
            <a:endParaRPr lang="zh-CN" altLang="en-US" noProof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软件部分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思路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5612" y="775529"/>
            <a:ext cx="27190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效果器整体</a:t>
            </a:r>
            <a:r>
              <a:rPr lang="zh-CN" altLang="en-US" sz="24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架构：</a:t>
            </a:r>
            <a:r>
              <a:rPr lang="en-US" altLang="zh-CN" sz="24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sz="240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2127250" y="3216275"/>
            <a:ext cx="1817370" cy="7302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ADC</a:t>
            </a:r>
            <a:r>
              <a:rPr lang="zh-CN" altLang="en-US"/>
              <a:t>采样</a:t>
            </a:r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2127250" y="4295775"/>
            <a:ext cx="1817370" cy="7302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数据处理</a:t>
            </a: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2119630" y="5336540"/>
            <a:ext cx="1817370" cy="69151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输出</a:t>
            </a:r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2127250" y="2075815"/>
            <a:ext cx="1817370" cy="7302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定时器</a:t>
            </a:r>
            <a:endParaRPr lang="zh-CN" altLang="en-US"/>
          </a:p>
        </p:txBody>
      </p:sp>
      <p:cxnSp>
        <p:nvCxnSpPr>
          <p:cNvPr id="14" name="直接箭头连接符 13"/>
          <p:cNvCxnSpPr>
            <a:stCxn id="9" idx="2"/>
            <a:endCxn id="10" idx="0"/>
          </p:cNvCxnSpPr>
          <p:nvPr/>
        </p:nvCxnSpPr>
        <p:spPr>
          <a:xfrm>
            <a:off x="3035935" y="3946525"/>
            <a:ext cx="0" cy="3492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10" idx="2"/>
            <a:endCxn id="11" idx="0"/>
          </p:cNvCxnSpPr>
          <p:nvPr/>
        </p:nvCxnSpPr>
        <p:spPr>
          <a:xfrm flipH="1">
            <a:off x="3028315" y="5026025"/>
            <a:ext cx="7620" cy="3105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12" idx="2"/>
            <a:endCxn id="9" idx="0"/>
          </p:cNvCxnSpPr>
          <p:nvPr/>
        </p:nvCxnSpPr>
        <p:spPr>
          <a:xfrm>
            <a:off x="3035935" y="2806065"/>
            <a:ext cx="0" cy="4102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3035935" y="2857500"/>
            <a:ext cx="288925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以</a:t>
            </a:r>
            <a:r>
              <a:rPr lang="en-US" altLang="zh-CN" sz="140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200kHz</a:t>
            </a:r>
            <a:r>
              <a:rPr lang="zh-CN" altLang="en-US" sz="140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的频率触发</a:t>
            </a:r>
            <a:r>
              <a:rPr lang="en-US" altLang="zh-CN" sz="140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ADC</a:t>
            </a:r>
            <a:r>
              <a:rPr lang="zh-CN" altLang="en-US" sz="140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采样</a:t>
            </a:r>
            <a:endParaRPr lang="zh-CN" altLang="en-US" sz="140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116580" y="4011930"/>
            <a:ext cx="240855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采样完成，进入中断程序</a:t>
            </a:r>
            <a:endParaRPr lang="zh-CN" altLang="en-US" sz="140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1787525" y="3985260"/>
            <a:ext cx="3661410" cy="2376805"/>
          </a:xfrm>
          <a:prstGeom prst="roundRect">
            <a:avLst/>
          </a:prstGeom>
          <a:noFill/>
          <a:ln w="19050"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2119630" y="1529080"/>
            <a:ext cx="20821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效果器</a:t>
            </a:r>
            <a:r>
              <a:rPr lang="zh-CN" alt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的程序架构</a:t>
            </a:r>
            <a:endParaRPr lang="zh-CN" altLang="en-US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1911985" y="3105785"/>
            <a:ext cx="2232660" cy="933450"/>
          </a:xfrm>
          <a:prstGeom prst="roundRect">
            <a:avLst>
              <a:gd name="adj" fmla="val 1156"/>
            </a:avLst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852167" y="2039179"/>
            <a:ext cx="285178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时刻：采样一个点</a:t>
            </a:r>
            <a:r>
              <a:rPr lang="en-US" altLang="zh-CN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-&gt;</a:t>
            </a:r>
            <a:r>
              <a:rPr lang="zh-CN" altLang="en-US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处理</a:t>
            </a:r>
            <a:r>
              <a:rPr lang="en-US" altLang="zh-CN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-&gt;</a:t>
            </a:r>
            <a:r>
              <a:rPr lang="zh-CN" altLang="en-US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输出</a:t>
            </a:r>
            <a:endParaRPr lang="zh-CN" altLang="en-US" sz="14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864867" y="2387159"/>
            <a:ext cx="305435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5us</a:t>
            </a:r>
            <a:r>
              <a:rPr lang="zh-CN" altLang="en-US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时刻：采样一个点</a:t>
            </a:r>
            <a:r>
              <a:rPr lang="en-US" altLang="zh-CN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-&gt;</a:t>
            </a:r>
            <a:r>
              <a:rPr lang="zh-CN" altLang="en-US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处理</a:t>
            </a:r>
            <a:r>
              <a:rPr lang="en-US" altLang="zh-CN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-&gt;</a:t>
            </a:r>
            <a:r>
              <a:rPr lang="zh-CN" altLang="en-US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输出</a:t>
            </a:r>
            <a:endParaRPr lang="zh-CN" altLang="en-US" sz="14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856612" y="2749109"/>
            <a:ext cx="316420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10us</a:t>
            </a:r>
            <a:r>
              <a:rPr lang="zh-CN" altLang="en-US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时刻：采样一个点</a:t>
            </a:r>
            <a:r>
              <a:rPr lang="en-US" altLang="zh-CN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-&gt;</a:t>
            </a:r>
            <a:r>
              <a:rPr lang="zh-CN" altLang="en-US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处理</a:t>
            </a:r>
            <a:r>
              <a:rPr lang="en-US" altLang="zh-CN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-&gt;</a:t>
            </a:r>
            <a:r>
              <a:rPr lang="zh-CN" altLang="en-US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输出</a:t>
            </a:r>
            <a:endParaRPr lang="zh-CN" altLang="en-US" sz="14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914515" y="1529080"/>
            <a:ext cx="20821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实时处理</a:t>
            </a:r>
            <a:r>
              <a:rPr lang="zh-CN" alt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架构：</a:t>
            </a:r>
            <a:endParaRPr lang="zh-CN" altLang="en-US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288530" y="3168650"/>
            <a:ext cx="991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…………</a:t>
            </a:r>
            <a:endParaRPr lang="en-US" altLang="zh-CN"/>
          </a:p>
        </p:txBody>
      </p:sp>
      <p:sp>
        <p:nvSpPr>
          <p:cNvPr id="26" name="文本框 25"/>
          <p:cNvSpPr txBox="1"/>
          <p:nvPr/>
        </p:nvSpPr>
        <p:spPr>
          <a:xfrm>
            <a:off x="7288530" y="3531870"/>
            <a:ext cx="991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…………</a:t>
            </a:r>
            <a:endParaRPr lang="en-US" altLang="zh-CN"/>
          </a:p>
        </p:txBody>
      </p:sp>
      <p:sp>
        <p:nvSpPr>
          <p:cNvPr id="27" name="文本框 26"/>
          <p:cNvSpPr txBox="1"/>
          <p:nvPr/>
        </p:nvSpPr>
        <p:spPr>
          <a:xfrm>
            <a:off x="6687067" y="3956244"/>
            <a:ext cx="5161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此外，除了执行效果器功能，这个中断还可以通过变量值计数，</a:t>
            </a:r>
            <a:endParaRPr lang="zh-CN" altLang="en-US" sz="14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实现分频，</a:t>
            </a:r>
            <a:r>
              <a:rPr lang="zh-CN" altLang="en-US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用来处理按键检测。</a:t>
            </a:r>
            <a:endParaRPr lang="zh-CN" altLang="en-US" sz="14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914397" y="4485199"/>
            <a:ext cx="224853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时刻：</a:t>
            </a:r>
            <a:r>
              <a:rPr lang="zh-CN" altLang="en-US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执行按键检测</a:t>
            </a:r>
            <a:r>
              <a:rPr lang="zh-CN" altLang="en-US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程序</a:t>
            </a:r>
            <a:endParaRPr lang="zh-CN" altLang="en-US" sz="14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893442" y="4833814"/>
            <a:ext cx="262064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10ms</a:t>
            </a:r>
            <a:r>
              <a:rPr lang="zh-CN" altLang="en-US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时刻：</a:t>
            </a:r>
            <a:r>
              <a:rPr lang="zh-CN" altLang="en-US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执行按键检测</a:t>
            </a:r>
            <a:r>
              <a:rPr lang="zh-CN" altLang="en-US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程序</a:t>
            </a:r>
            <a:endParaRPr lang="zh-CN" altLang="en-US" sz="14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893442" y="5218624"/>
            <a:ext cx="262064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20ms</a:t>
            </a:r>
            <a:r>
              <a:rPr lang="zh-CN" altLang="en-US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时刻：</a:t>
            </a:r>
            <a:r>
              <a:rPr lang="zh-CN" altLang="en-US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执行按键检测</a:t>
            </a:r>
            <a:r>
              <a:rPr lang="zh-CN" altLang="en-US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程序</a:t>
            </a:r>
            <a:endParaRPr lang="zh-CN" altLang="en-US" sz="14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7237730" y="5583555"/>
            <a:ext cx="991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…………</a:t>
            </a:r>
            <a:endParaRPr lang="en-US" altLang="zh-CN"/>
          </a:p>
        </p:txBody>
      </p:sp>
      <p:sp>
        <p:nvSpPr>
          <p:cNvPr id="38" name="文本框 37"/>
          <p:cNvSpPr txBox="1"/>
          <p:nvPr/>
        </p:nvSpPr>
        <p:spPr>
          <a:xfrm>
            <a:off x="7237730" y="5946775"/>
            <a:ext cx="991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…………</a:t>
            </a:r>
            <a:endParaRPr lang="en-US" altLang="zh-C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软件部分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思路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5612" y="775529"/>
            <a:ext cx="992949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ADC</a:t>
            </a:r>
            <a:r>
              <a:rPr lang="zh-CN" altLang="en-US" sz="24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采样</a:t>
            </a:r>
            <a:r>
              <a:rPr lang="zh-CN" altLang="en-US" sz="24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思路：</a:t>
            </a:r>
            <a:r>
              <a:rPr lang="en-US" altLang="zh-CN" sz="24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（具体实现与代码参考：群文件《</a:t>
            </a:r>
            <a:r>
              <a:rPr lang="en-US" altLang="zh-CN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ADC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与</a:t>
            </a:r>
            <a:r>
              <a:rPr lang="en-US" altLang="zh-CN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DAC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配置》）</a:t>
            </a:r>
            <a:endParaRPr lang="zh-CN" altLang="en-US" sz="240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544310" y="1490345"/>
            <a:ext cx="344868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ADC</a:t>
            </a:r>
            <a:r>
              <a:rPr lang="zh-CN" alt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的作用：</a:t>
            </a:r>
            <a:r>
              <a:rPr lang="zh-CN" altLang="en-US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将单片机</a:t>
            </a:r>
            <a:r>
              <a:rPr lang="en-US" altLang="zh-CN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ADC</a:t>
            </a:r>
            <a:r>
              <a:rPr lang="zh-CN" altLang="en-US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en-US" altLang="zh-CN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IO</a:t>
            </a:r>
            <a:r>
              <a:rPr lang="zh-CN" altLang="en-US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口上的</a:t>
            </a:r>
            <a:r>
              <a:rPr lang="zh-CN" altLang="en-US" b="1" noProof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实际电压</a:t>
            </a:r>
            <a:r>
              <a:rPr lang="zh-CN" altLang="en-US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转换成单片机程序中一个</a:t>
            </a:r>
            <a:r>
              <a:rPr lang="zh-CN" altLang="en-US" b="1" noProof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变量的值</a:t>
            </a:r>
            <a:endParaRPr lang="zh-CN" altLang="en-US" b="1" noProof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8" name="图片 7"/>
          <p:cNvPicPr/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6826" r="23504"/>
          <a:stretch>
            <a:fillRect/>
          </a:stretch>
        </p:blipFill>
        <p:spPr>
          <a:xfrm>
            <a:off x="6202680" y="2728595"/>
            <a:ext cx="2677160" cy="3669665"/>
          </a:xfrm>
          <a:prstGeom prst="rect">
            <a:avLst/>
          </a:prstGeom>
        </p:spPr>
      </p:pic>
      <p:sp>
        <p:nvSpPr>
          <p:cNvPr id="30" name="椭圆 29"/>
          <p:cNvSpPr/>
          <p:nvPr/>
        </p:nvSpPr>
        <p:spPr>
          <a:xfrm>
            <a:off x="8836025" y="2969895"/>
            <a:ext cx="1723390" cy="1005840"/>
          </a:xfrm>
          <a:prstGeom prst="ellipse">
            <a:avLst/>
          </a:prstGeom>
          <a:noFill/>
          <a:ln w="76200">
            <a:solidFill>
              <a:srgbClr val="1C519A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9306560" y="3040380"/>
            <a:ext cx="997585" cy="586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0-V</a:t>
            </a:r>
            <a:r>
              <a:rPr lang="en-US" altLang="zh-CN" sz="1400" baseline="-25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ref</a:t>
            </a:r>
            <a:endParaRPr lang="en-US" altLang="zh-CN" sz="1400" baseline="-2500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zh-CN" sz="2800" baseline="-25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模拟量</a:t>
            </a:r>
            <a:endParaRPr lang="zh-CN" altLang="zh-CN" sz="2800" baseline="-2500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8898255" y="5001260"/>
            <a:ext cx="1623060" cy="946785"/>
          </a:xfrm>
          <a:prstGeom prst="ellipse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3" name="直接箭头连接符 32"/>
          <p:cNvCxnSpPr/>
          <p:nvPr/>
        </p:nvCxnSpPr>
        <p:spPr>
          <a:xfrm>
            <a:off x="9772015" y="4061460"/>
            <a:ext cx="0" cy="838200"/>
          </a:xfrm>
          <a:prstGeom prst="straightConnector1">
            <a:avLst/>
          </a:prstGeom>
          <a:ln w="5715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9999980" y="4250690"/>
            <a:ext cx="16021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latin typeface="华文中宋" panose="02010600040101010101" pitchFamily="2" charset="-122"/>
                <a:ea typeface="华文中宋" panose="02010600040101010101" pitchFamily="2" charset="-122"/>
              </a:rPr>
              <a:t>12bit ADC</a:t>
            </a:r>
            <a:endParaRPr lang="en-US" altLang="zh-CN" sz="14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268460" y="5181600"/>
            <a:ext cx="1252855" cy="586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0-4095</a:t>
            </a:r>
            <a:endParaRPr lang="en-US" altLang="zh-CN" sz="1400" baseline="-2500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zh-CN" sz="2800" baseline="-25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数字量</a:t>
            </a:r>
            <a:endParaRPr lang="zh-CN" altLang="zh-CN" sz="2800" baseline="-2500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544955" y="3221355"/>
            <a:ext cx="1817370" cy="7302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ADC</a:t>
            </a:r>
            <a:r>
              <a:rPr lang="zh-CN" altLang="en-US"/>
              <a:t>采样</a:t>
            </a:r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1544955" y="4300855"/>
            <a:ext cx="1817370" cy="7302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数据处理</a:t>
            </a: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1537335" y="5341620"/>
            <a:ext cx="1817370" cy="69151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输出</a:t>
            </a:r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1544955" y="2080895"/>
            <a:ext cx="1817370" cy="7302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定时器</a:t>
            </a:r>
            <a:endParaRPr lang="zh-CN" altLang="en-US"/>
          </a:p>
        </p:txBody>
      </p:sp>
      <p:cxnSp>
        <p:nvCxnSpPr>
          <p:cNvPr id="14" name="直接箭头连接符 13"/>
          <p:cNvCxnSpPr>
            <a:stCxn id="9" idx="2"/>
            <a:endCxn id="10" idx="0"/>
          </p:cNvCxnSpPr>
          <p:nvPr/>
        </p:nvCxnSpPr>
        <p:spPr>
          <a:xfrm>
            <a:off x="2453640" y="3951605"/>
            <a:ext cx="0" cy="3492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10" idx="2"/>
            <a:endCxn id="11" idx="0"/>
          </p:cNvCxnSpPr>
          <p:nvPr/>
        </p:nvCxnSpPr>
        <p:spPr>
          <a:xfrm flipH="1">
            <a:off x="2446020" y="5031105"/>
            <a:ext cx="7620" cy="3105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12" idx="2"/>
            <a:endCxn id="9" idx="0"/>
          </p:cNvCxnSpPr>
          <p:nvPr/>
        </p:nvCxnSpPr>
        <p:spPr>
          <a:xfrm>
            <a:off x="2453640" y="2811145"/>
            <a:ext cx="0" cy="4102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453640" y="2862580"/>
            <a:ext cx="288925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以</a:t>
            </a:r>
            <a:r>
              <a:rPr lang="en-US" altLang="zh-CN" sz="140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200kHz</a:t>
            </a:r>
            <a:r>
              <a:rPr lang="zh-CN" altLang="en-US" sz="140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的频率触发</a:t>
            </a:r>
            <a:r>
              <a:rPr lang="en-US" altLang="zh-CN" sz="140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ADC</a:t>
            </a:r>
            <a:r>
              <a:rPr lang="zh-CN" altLang="en-US" sz="140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采样</a:t>
            </a:r>
            <a:endParaRPr lang="zh-CN" altLang="en-US" sz="140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534285" y="4017010"/>
            <a:ext cx="240855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采样完成，进入中断程序</a:t>
            </a:r>
            <a:endParaRPr lang="zh-CN" altLang="en-US" sz="140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1205230" y="3990340"/>
            <a:ext cx="3661410" cy="2376805"/>
          </a:xfrm>
          <a:prstGeom prst="roundRect">
            <a:avLst/>
          </a:prstGeom>
          <a:noFill/>
          <a:ln w="19050"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537335" y="1534160"/>
            <a:ext cx="20821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效果器</a:t>
            </a:r>
            <a:r>
              <a:rPr lang="zh-CN" alt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的程序架构</a:t>
            </a:r>
            <a:endParaRPr lang="zh-CN" altLang="en-US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>
            <a:off x="6103620" y="3807460"/>
            <a:ext cx="15240" cy="1092200"/>
          </a:xfrm>
          <a:prstGeom prst="straightConnector1">
            <a:avLst/>
          </a:prstGeom>
          <a:ln w="5715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圆角矩形 21"/>
          <p:cNvSpPr/>
          <p:nvPr/>
        </p:nvSpPr>
        <p:spPr>
          <a:xfrm>
            <a:off x="1329690" y="3110865"/>
            <a:ext cx="2232660" cy="933450"/>
          </a:xfrm>
          <a:prstGeom prst="roundRect">
            <a:avLst>
              <a:gd name="adj" fmla="val 1156"/>
            </a:avLst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图片 47" descr="数字波形"/>
          <p:cNvPicPr>
            <a:picLocks noChangeAspect="1"/>
          </p:cNvPicPr>
          <p:nvPr/>
        </p:nvPicPr>
        <p:blipFill>
          <a:blip r:embed="rId1"/>
          <a:srcRect l="39405" t="7001" r="40630" b="62373"/>
          <a:stretch>
            <a:fillRect/>
          </a:stretch>
        </p:blipFill>
        <p:spPr>
          <a:xfrm>
            <a:off x="715645" y="4019550"/>
            <a:ext cx="1397000" cy="1191260"/>
          </a:xfrm>
          <a:prstGeom prst="rect">
            <a:avLst/>
          </a:prstGeom>
        </p:spPr>
      </p:pic>
      <p:pic>
        <p:nvPicPr>
          <p:cNvPr id="43" name="图片 42" descr="数字波形"/>
          <p:cNvPicPr>
            <a:picLocks noChangeAspect="1"/>
          </p:cNvPicPr>
          <p:nvPr/>
        </p:nvPicPr>
        <p:blipFill>
          <a:blip r:embed="rId1"/>
          <a:srcRect l="39405" t="7001" r="40630" b="62373"/>
          <a:stretch>
            <a:fillRect/>
          </a:stretch>
        </p:blipFill>
        <p:spPr>
          <a:xfrm>
            <a:off x="715645" y="3100070"/>
            <a:ext cx="1397000" cy="7004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软件部分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思路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5612" y="775529"/>
            <a:ext cx="24142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数据</a:t>
            </a:r>
            <a:r>
              <a:rPr lang="zh-CN" altLang="en-US" sz="24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处理思路：</a:t>
            </a:r>
            <a:r>
              <a:rPr lang="en-US" altLang="zh-CN" sz="24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sz="240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316230" y="1289685"/>
            <a:ext cx="7726680" cy="5408930"/>
          </a:xfrm>
          <a:prstGeom prst="roundRect">
            <a:avLst>
              <a:gd name="adj" fmla="val 3451"/>
            </a:avLst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909320" y="1341755"/>
            <a:ext cx="17170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一、控制增益：</a:t>
            </a:r>
            <a:endParaRPr lang="en-US" altLang="zh-CN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37" name="图片 36" descr="数字波形"/>
          <p:cNvPicPr>
            <a:picLocks noChangeAspect="1"/>
          </p:cNvPicPr>
          <p:nvPr/>
        </p:nvPicPr>
        <p:blipFill>
          <a:blip r:embed="rId1"/>
          <a:srcRect l="39405" t="7001" r="40630" b="62373"/>
          <a:stretch>
            <a:fillRect/>
          </a:stretch>
        </p:blipFill>
        <p:spPr>
          <a:xfrm>
            <a:off x="802640" y="1931035"/>
            <a:ext cx="1397000" cy="700405"/>
          </a:xfrm>
          <a:prstGeom prst="rect">
            <a:avLst/>
          </a:prstGeom>
        </p:spPr>
      </p:pic>
      <p:cxnSp>
        <p:nvCxnSpPr>
          <p:cNvPr id="38" name="直接连接符 37"/>
          <p:cNvCxnSpPr/>
          <p:nvPr/>
        </p:nvCxnSpPr>
        <p:spPr>
          <a:xfrm flipH="1" flipV="1">
            <a:off x="499745" y="2344420"/>
            <a:ext cx="1922145" cy="17145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2421890" y="2169160"/>
            <a:ext cx="70993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2048</a:t>
            </a:r>
            <a:endParaRPr lang="en-US" altLang="zh-CN" sz="16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0" name="下箭头 39"/>
          <p:cNvSpPr/>
          <p:nvPr/>
        </p:nvSpPr>
        <p:spPr>
          <a:xfrm>
            <a:off x="862330" y="2768600"/>
            <a:ext cx="219710" cy="33845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1191895" y="2693035"/>
            <a:ext cx="357632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减去偏置</a:t>
            </a:r>
            <a:endParaRPr lang="zh-CN" altLang="en-US" sz="16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lang="zh-CN" altLang="en-US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注意数据类型转换</a:t>
            </a:r>
            <a:r>
              <a:rPr lang="en-US" altLang="zh-CN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unit-&gt;float</a:t>
            </a:r>
            <a:r>
              <a:rPr lang="zh-CN" altLang="en-US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 sz="16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499745" y="1751965"/>
            <a:ext cx="169989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ADC</a:t>
            </a:r>
            <a:r>
              <a:rPr lang="zh-CN" altLang="en-US" sz="1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采样得到的值</a:t>
            </a:r>
            <a:r>
              <a:rPr lang="en-US" altLang="zh-CN" sz="1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v_adc</a:t>
            </a:r>
            <a:endParaRPr lang="en-US" altLang="zh-CN" sz="10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44" name="直接连接符 43"/>
          <p:cNvCxnSpPr/>
          <p:nvPr/>
        </p:nvCxnSpPr>
        <p:spPr>
          <a:xfrm flipH="1" flipV="1">
            <a:off x="412750" y="3513455"/>
            <a:ext cx="1922145" cy="17145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2334895" y="3338195"/>
            <a:ext cx="70993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endParaRPr lang="en-US" altLang="zh-CN" sz="16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257300" y="3906520"/>
            <a:ext cx="357632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乘以增益（</a:t>
            </a:r>
            <a:r>
              <a:rPr lang="en-US" altLang="zh-CN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*gain</a:t>
            </a:r>
            <a:r>
              <a:rPr lang="zh-CN" altLang="en-US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 sz="16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7" name="下箭头 46"/>
          <p:cNvSpPr/>
          <p:nvPr/>
        </p:nvSpPr>
        <p:spPr>
          <a:xfrm>
            <a:off x="862330" y="3878580"/>
            <a:ext cx="219710" cy="33845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9" name="直接连接符 48"/>
          <p:cNvCxnSpPr/>
          <p:nvPr/>
        </p:nvCxnSpPr>
        <p:spPr>
          <a:xfrm flipH="1" flipV="1">
            <a:off x="454025" y="4705350"/>
            <a:ext cx="1922145" cy="17145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2416175" y="4553585"/>
            <a:ext cx="70993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endParaRPr lang="en-US" altLang="zh-CN" sz="16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53" name="图片 52" descr="数字波形"/>
          <p:cNvPicPr>
            <a:picLocks noChangeAspect="1"/>
          </p:cNvPicPr>
          <p:nvPr/>
        </p:nvPicPr>
        <p:blipFill>
          <a:blip r:embed="rId1"/>
          <a:srcRect l="39405" t="7001" r="40630" b="62373"/>
          <a:stretch>
            <a:fillRect/>
          </a:stretch>
        </p:blipFill>
        <p:spPr>
          <a:xfrm>
            <a:off x="715645" y="5487670"/>
            <a:ext cx="1397000" cy="1191260"/>
          </a:xfrm>
          <a:prstGeom prst="rect">
            <a:avLst/>
          </a:prstGeom>
        </p:spPr>
      </p:pic>
      <p:cxnSp>
        <p:nvCxnSpPr>
          <p:cNvPr id="54" name="直接连接符 53"/>
          <p:cNvCxnSpPr/>
          <p:nvPr/>
        </p:nvCxnSpPr>
        <p:spPr>
          <a:xfrm flipH="1" flipV="1">
            <a:off x="454025" y="6192520"/>
            <a:ext cx="1922145" cy="17145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2416175" y="6040755"/>
            <a:ext cx="70993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2048</a:t>
            </a:r>
            <a:endParaRPr lang="en-US" altLang="zh-CN" sz="16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6" name="下箭头 55"/>
          <p:cNvSpPr/>
          <p:nvPr/>
        </p:nvSpPr>
        <p:spPr>
          <a:xfrm>
            <a:off x="862330" y="5245735"/>
            <a:ext cx="219710" cy="33845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1318895" y="5308600"/>
            <a:ext cx="119951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加上</a:t>
            </a:r>
            <a:r>
              <a:rPr lang="zh-CN" altLang="en-US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偏置</a:t>
            </a:r>
            <a:endParaRPr lang="zh-CN" altLang="en-US" sz="16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5202555" y="1347470"/>
            <a:ext cx="17170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二、变声</a:t>
            </a:r>
            <a:r>
              <a:rPr lang="zh-CN" alt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效果：</a:t>
            </a:r>
            <a:endParaRPr lang="en-US" altLang="zh-CN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60" name="图片 59" descr="数字波形"/>
          <p:cNvPicPr>
            <a:picLocks noChangeAspect="1"/>
          </p:cNvPicPr>
          <p:nvPr/>
        </p:nvPicPr>
        <p:blipFill>
          <a:blip r:embed="rId1"/>
          <a:srcRect l="39405" t="7001" r="40630" b="62373"/>
          <a:stretch>
            <a:fillRect/>
          </a:stretch>
        </p:blipFill>
        <p:spPr>
          <a:xfrm>
            <a:off x="5159375" y="1831975"/>
            <a:ext cx="1397000" cy="700405"/>
          </a:xfrm>
          <a:prstGeom prst="rect">
            <a:avLst/>
          </a:prstGeom>
        </p:spPr>
      </p:pic>
      <p:cxnSp>
        <p:nvCxnSpPr>
          <p:cNvPr id="63" name="直接连接符 62"/>
          <p:cNvCxnSpPr/>
          <p:nvPr/>
        </p:nvCxnSpPr>
        <p:spPr>
          <a:xfrm flipH="1" flipV="1">
            <a:off x="4856480" y="2245360"/>
            <a:ext cx="1922145" cy="17145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>
            <a:off x="6778625" y="2070100"/>
            <a:ext cx="70993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endParaRPr lang="en-US" altLang="zh-CN" sz="16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4892040" y="1751965"/>
            <a:ext cx="169989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减去偏置后的</a:t>
            </a:r>
            <a:r>
              <a:rPr lang="zh-CN" altLang="en-US" sz="1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值</a:t>
            </a:r>
            <a:endParaRPr lang="zh-CN" altLang="en-US" sz="10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6" name="乘号 65"/>
          <p:cNvSpPr/>
          <p:nvPr/>
        </p:nvSpPr>
        <p:spPr>
          <a:xfrm>
            <a:off x="5624830" y="2532380"/>
            <a:ext cx="357505" cy="357505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7" name="图片 66" descr="数字波形"/>
          <p:cNvPicPr>
            <a:picLocks noChangeAspect="1"/>
          </p:cNvPicPr>
          <p:nvPr/>
        </p:nvPicPr>
        <p:blipFill>
          <a:blip r:embed="rId3"/>
          <a:srcRect l="39405" t="7001" r="40630" b="62373"/>
          <a:stretch>
            <a:fillRect/>
          </a:stretch>
        </p:blipFill>
        <p:spPr>
          <a:xfrm>
            <a:off x="4957445" y="3260090"/>
            <a:ext cx="721995" cy="361950"/>
          </a:xfrm>
          <a:prstGeom prst="rect">
            <a:avLst/>
          </a:prstGeom>
        </p:spPr>
      </p:pic>
      <p:cxnSp>
        <p:nvCxnSpPr>
          <p:cNvPr id="70" name="直接连接符 69"/>
          <p:cNvCxnSpPr/>
          <p:nvPr/>
        </p:nvCxnSpPr>
        <p:spPr>
          <a:xfrm flipH="1" flipV="1">
            <a:off x="5049520" y="3496945"/>
            <a:ext cx="1922145" cy="17145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1" name="文本框 70"/>
          <p:cNvSpPr txBox="1"/>
          <p:nvPr/>
        </p:nvSpPr>
        <p:spPr>
          <a:xfrm>
            <a:off x="4856480" y="2972435"/>
            <a:ext cx="187515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400HZ</a:t>
            </a:r>
            <a:r>
              <a:rPr lang="zh-CN" altLang="en-US" sz="1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（或其他频率</a:t>
            </a:r>
            <a:r>
              <a:rPr lang="zh-CN" altLang="en-US" sz="1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正弦波）</a:t>
            </a:r>
            <a:endParaRPr lang="zh-CN" altLang="en-US" sz="10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5858510" y="3723005"/>
            <a:ext cx="18288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采得信号乘正弦波</a:t>
            </a:r>
            <a:endParaRPr lang="zh-CN" altLang="en-US" sz="16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74" name="图片 73" descr="数字波形"/>
          <p:cNvPicPr>
            <a:picLocks noChangeAspect="1"/>
          </p:cNvPicPr>
          <p:nvPr/>
        </p:nvPicPr>
        <p:blipFill>
          <a:blip r:embed="rId3"/>
          <a:srcRect l="39405" t="7001" r="40630" b="62373"/>
          <a:stretch>
            <a:fillRect/>
          </a:stretch>
        </p:blipFill>
        <p:spPr>
          <a:xfrm>
            <a:off x="5473065" y="3260090"/>
            <a:ext cx="721995" cy="361950"/>
          </a:xfrm>
          <a:prstGeom prst="rect">
            <a:avLst/>
          </a:prstGeom>
        </p:spPr>
      </p:pic>
      <p:pic>
        <p:nvPicPr>
          <p:cNvPr id="75" name="图片 74" descr="数字波形"/>
          <p:cNvPicPr>
            <a:picLocks noChangeAspect="1"/>
          </p:cNvPicPr>
          <p:nvPr/>
        </p:nvPicPr>
        <p:blipFill>
          <a:blip r:embed="rId3"/>
          <a:srcRect l="39405" t="7001" r="40630" b="62373"/>
          <a:stretch>
            <a:fillRect/>
          </a:stretch>
        </p:blipFill>
        <p:spPr>
          <a:xfrm>
            <a:off x="5952490" y="3274695"/>
            <a:ext cx="721995" cy="361950"/>
          </a:xfrm>
          <a:prstGeom prst="rect">
            <a:avLst/>
          </a:prstGeom>
        </p:spPr>
      </p:pic>
      <p:pic>
        <p:nvPicPr>
          <p:cNvPr id="76" name="图片 75" descr="数字波形"/>
          <p:cNvPicPr>
            <a:picLocks noChangeAspect="1"/>
          </p:cNvPicPr>
          <p:nvPr/>
        </p:nvPicPr>
        <p:blipFill>
          <a:blip r:embed="rId3"/>
          <a:srcRect l="39405" t="7001" r="40630" b="62373"/>
          <a:stretch>
            <a:fillRect/>
          </a:stretch>
        </p:blipFill>
        <p:spPr>
          <a:xfrm>
            <a:off x="6450965" y="3272790"/>
            <a:ext cx="721995" cy="361950"/>
          </a:xfrm>
          <a:prstGeom prst="rect">
            <a:avLst/>
          </a:prstGeom>
        </p:spPr>
      </p:pic>
      <p:sp>
        <p:nvSpPr>
          <p:cNvPr id="77" name="下箭头 76"/>
          <p:cNvSpPr/>
          <p:nvPr/>
        </p:nvSpPr>
        <p:spPr>
          <a:xfrm>
            <a:off x="5608955" y="3883660"/>
            <a:ext cx="219710" cy="33845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下箭头 80"/>
          <p:cNvSpPr/>
          <p:nvPr/>
        </p:nvSpPr>
        <p:spPr>
          <a:xfrm>
            <a:off x="5625465" y="5014595"/>
            <a:ext cx="219710" cy="33845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6082030" y="5077460"/>
            <a:ext cx="119951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加上</a:t>
            </a:r>
            <a:r>
              <a:rPr lang="zh-CN" altLang="en-US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偏置</a:t>
            </a:r>
            <a:endParaRPr lang="zh-CN" altLang="en-US" sz="16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83" name="直接连接符 82"/>
          <p:cNvCxnSpPr/>
          <p:nvPr/>
        </p:nvCxnSpPr>
        <p:spPr>
          <a:xfrm>
            <a:off x="4335780" y="1289685"/>
            <a:ext cx="0" cy="53886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84" name="图片 83"/>
          <p:cNvPicPr/>
          <p:nvPr/>
        </p:nvPicPr>
        <p:blipFill>
          <a:blip r:embed="rId4"/>
          <a:stretch>
            <a:fillRect/>
          </a:stretch>
        </p:blipFill>
        <p:spPr>
          <a:xfrm>
            <a:off x="5019675" y="4233545"/>
            <a:ext cx="1951990" cy="644525"/>
          </a:xfrm>
          <a:prstGeom prst="rect">
            <a:avLst/>
          </a:prstGeom>
        </p:spPr>
      </p:pic>
      <p:pic>
        <p:nvPicPr>
          <p:cNvPr id="85" name="图片 84"/>
          <p:cNvPicPr/>
          <p:nvPr/>
        </p:nvPicPr>
        <p:blipFill>
          <a:blip r:embed="rId4"/>
          <a:stretch>
            <a:fillRect/>
          </a:stretch>
        </p:blipFill>
        <p:spPr>
          <a:xfrm>
            <a:off x="5019675" y="5445125"/>
            <a:ext cx="1951990" cy="644525"/>
          </a:xfrm>
          <a:prstGeom prst="rect">
            <a:avLst/>
          </a:prstGeom>
        </p:spPr>
      </p:pic>
      <p:cxnSp>
        <p:nvCxnSpPr>
          <p:cNvPr id="86" name="直接连接符 85"/>
          <p:cNvCxnSpPr/>
          <p:nvPr/>
        </p:nvCxnSpPr>
        <p:spPr>
          <a:xfrm flipH="1" flipV="1">
            <a:off x="4997450" y="5659755"/>
            <a:ext cx="1922145" cy="17145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7" name="文本框 86"/>
          <p:cNvSpPr txBox="1"/>
          <p:nvPr/>
        </p:nvSpPr>
        <p:spPr>
          <a:xfrm>
            <a:off x="6977380" y="5434330"/>
            <a:ext cx="70993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2048</a:t>
            </a:r>
            <a:endParaRPr lang="en-US" altLang="zh-CN" sz="16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88" name="直接连接符 87"/>
          <p:cNvCxnSpPr/>
          <p:nvPr/>
        </p:nvCxnSpPr>
        <p:spPr>
          <a:xfrm flipH="1" flipV="1">
            <a:off x="5009515" y="4542155"/>
            <a:ext cx="1922145" cy="17145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9" name="文本框 88"/>
          <p:cNvSpPr txBox="1"/>
          <p:nvPr/>
        </p:nvSpPr>
        <p:spPr>
          <a:xfrm>
            <a:off x="7028815" y="4390390"/>
            <a:ext cx="70993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endParaRPr lang="en-US" altLang="zh-CN" sz="16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93" name="图片 9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6660" y="4306570"/>
            <a:ext cx="2428240" cy="344805"/>
          </a:xfrm>
          <a:prstGeom prst="rect">
            <a:avLst/>
          </a:prstGeom>
        </p:spPr>
      </p:pic>
      <p:sp>
        <p:nvSpPr>
          <p:cNvPr id="94" name="矩形 93"/>
          <p:cNvSpPr/>
          <p:nvPr/>
        </p:nvSpPr>
        <p:spPr>
          <a:xfrm>
            <a:off x="8837295" y="4338320"/>
            <a:ext cx="360045" cy="2711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5" name="矩形 94"/>
          <p:cNvSpPr/>
          <p:nvPr/>
        </p:nvSpPr>
        <p:spPr>
          <a:xfrm>
            <a:off x="9197340" y="4338320"/>
            <a:ext cx="360045" cy="2711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6" name="矩形 95"/>
          <p:cNvSpPr/>
          <p:nvPr/>
        </p:nvSpPr>
        <p:spPr>
          <a:xfrm>
            <a:off x="9821545" y="4338320"/>
            <a:ext cx="631825" cy="2711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7" name="矩形 96"/>
          <p:cNvSpPr/>
          <p:nvPr/>
        </p:nvSpPr>
        <p:spPr>
          <a:xfrm>
            <a:off x="10580370" y="4338320"/>
            <a:ext cx="631825" cy="2711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8" name="直接箭头连接符 97"/>
          <p:cNvCxnSpPr/>
          <p:nvPr/>
        </p:nvCxnSpPr>
        <p:spPr>
          <a:xfrm>
            <a:off x="8886190" y="4267835"/>
            <a:ext cx="124460" cy="16319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9" name="文本框 98"/>
          <p:cNvSpPr txBox="1"/>
          <p:nvPr/>
        </p:nvSpPr>
        <p:spPr>
          <a:xfrm>
            <a:off x="8220075" y="3839210"/>
            <a:ext cx="105537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000" b="1" noProof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原来的声音信号</a:t>
            </a:r>
            <a:endParaRPr lang="zh-CN" altLang="en-US" sz="1000" b="1" noProof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496300" y="4919345"/>
            <a:ext cx="96266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000" b="1" noProof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乘上的</a:t>
            </a:r>
            <a:r>
              <a:rPr lang="zh-CN" altLang="en-US" sz="1000" b="1" noProof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正弦波</a:t>
            </a:r>
            <a:endParaRPr lang="zh-CN" altLang="en-US" sz="1000" b="1" noProof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01" name="直接箭头连接符 100"/>
          <p:cNvCxnSpPr>
            <a:endCxn id="95" idx="2"/>
          </p:cNvCxnSpPr>
          <p:nvPr/>
        </p:nvCxnSpPr>
        <p:spPr>
          <a:xfrm flipV="1">
            <a:off x="9013190" y="4609465"/>
            <a:ext cx="364490" cy="26352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2" name="文本框 101"/>
          <p:cNvSpPr txBox="1"/>
          <p:nvPr/>
        </p:nvSpPr>
        <p:spPr>
          <a:xfrm>
            <a:off x="9512300" y="3857625"/>
            <a:ext cx="169989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000" b="1" noProof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更高频</a:t>
            </a:r>
            <a:r>
              <a:rPr lang="zh-CN" altLang="en-US" sz="1000" b="1" noProof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的声音</a:t>
            </a:r>
            <a:endParaRPr lang="zh-CN" altLang="en-US" sz="1000" b="1" noProof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10580370" y="3857625"/>
            <a:ext cx="111569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000" b="1" noProof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更</a:t>
            </a:r>
            <a:r>
              <a:rPr lang="zh-CN" altLang="en-US" sz="1000" b="1" noProof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低频</a:t>
            </a:r>
            <a:r>
              <a:rPr lang="zh-CN" altLang="en-US" sz="1000" b="1" noProof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的声音</a:t>
            </a:r>
            <a:endParaRPr lang="zh-CN" altLang="en-US" sz="1000" b="1" noProof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06" name="直接箭头连接符 105"/>
          <p:cNvCxnSpPr/>
          <p:nvPr/>
        </p:nvCxnSpPr>
        <p:spPr>
          <a:xfrm>
            <a:off x="9907270" y="4102735"/>
            <a:ext cx="124460" cy="16319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7" name="直接箭头连接符 106"/>
          <p:cNvCxnSpPr/>
          <p:nvPr/>
        </p:nvCxnSpPr>
        <p:spPr>
          <a:xfrm>
            <a:off x="10895965" y="4102735"/>
            <a:ext cx="124460" cy="16319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8" name="圆角矩形 107"/>
          <p:cNvSpPr/>
          <p:nvPr/>
        </p:nvSpPr>
        <p:spPr>
          <a:xfrm>
            <a:off x="8220075" y="1289685"/>
            <a:ext cx="3244215" cy="5408930"/>
          </a:xfrm>
          <a:prstGeom prst="roundRect">
            <a:avLst>
              <a:gd name="adj" fmla="val 5460"/>
            </a:avLst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2" name="文本框 111"/>
          <p:cNvSpPr txBox="1"/>
          <p:nvPr/>
        </p:nvSpPr>
        <p:spPr>
          <a:xfrm>
            <a:off x="8368030" y="1341755"/>
            <a:ext cx="76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原理：</a:t>
            </a:r>
            <a:endParaRPr lang="en-US" altLang="zh-CN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8496300" y="2032000"/>
            <a:ext cx="244221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、傅里叶分解：</a:t>
            </a:r>
            <a:r>
              <a:rPr lang="zh-CN" altLang="en-US" sz="140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任何信号可以被分解为不同频率正弦波的叠加</a:t>
            </a:r>
            <a:endParaRPr lang="zh-CN" altLang="en-US" sz="140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8563610" y="3282315"/>
            <a:ext cx="143764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、积化和差</a:t>
            </a:r>
            <a:r>
              <a:rPr lang="zh-CN" altLang="en-US" sz="12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endParaRPr lang="zh-CN" altLang="en-US" sz="120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8496300" y="5371465"/>
            <a:ext cx="244221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上式中：</a:t>
            </a:r>
            <a:r>
              <a:rPr lang="zh-CN" altLang="en-US" sz="1400" noProof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α</a:t>
            </a:r>
            <a:r>
              <a:rPr lang="en-US" altLang="zh-CN" sz="1400" noProof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=w</a:t>
            </a:r>
            <a:r>
              <a:rPr lang="en-US" altLang="zh-CN" sz="1400" baseline="-25000" noProof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1</a:t>
            </a:r>
            <a:r>
              <a:rPr lang="en-US" altLang="zh-CN" sz="1400" noProof="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t</a:t>
            </a:r>
            <a:r>
              <a:rPr lang="zh-CN" altLang="en-US" sz="1400" noProof="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，β</a:t>
            </a:r>
            <a:r>
              <a:rPr lang="en-US" altLang="zh-CN" sz="1400" noProof="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=w</a:t>
            </a:r>
            <a:r>
              <a:rPr lang="en-US" altLang="zh-CN" sz="1400" baseline="-25000" noProof="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2</a:t>
            </a:r>
            <a:r>
              <a:rPr lang="en-US" altLang="zh-CN" sz="1400" noProof="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t</a:t>
            </a:r>
            <a:endParaRPr lang="en-US" altLang="zh-CN" sz="1400" baseline="-25000" noProof="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028815" y="2532380"/>
            <a:ext cx="1055370" cy="860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000" b="1" noProof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建议打表（用一个数组预先存储好一整个周期的正弦波，减轻算力</a:t>
            </a:r>
            <a:r>
              <a:rPr lang="zh-CN" altLang="en-US" sz="1000" b="1" noProof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消耗）</a:t>
            </a:r>
            <a:endParaRPr lang="zh-CN" altLang="en-US" sz="1000" b="1" noProof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275722" y="762194"/>
            <a:ext cx="309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 sz="240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软件部分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思路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5612" y="775529"/>
            <a:ext cx="992949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DAC</a:t>
            </a:r>
            <a:r>
              <a:rPr lang="zh-CN" altLang="en-US" sz="24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输出思路：</a:t>
            </a:r>
            <a:r>
              <a:rPr lang="en-US" altLang="zh-CN" sz="24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（具体实现与代码参考：群文件《</a:t>
            </a:r>
            <a:r>
              <a:rPr lang="en-US" altLang="zh-CN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ADC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与</a:t>
            </a:r>
            <a:r>
              <a:rPr lang="en-US" altLang="zh-CN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DAC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配置》）</a:t>
            </a:r>
            <a:endParaRPr lang="zh-CN" altLang="en-US" sz="240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36320" y="1647825"/>
            <a:ext cx="344868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DAC</a:t>
            </a:r>
            <a:r>
              <a:rPr lang="zh-CN" alt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的作用：</a:t>
            </a:r>
            <a:r>
              <a:rPr lang="zh-CN" altLang="en-US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将单片机</a:t>
            </a:r>
            <a:r>
              <a:rPr lang="zh-CN" altLang="en-US" b="1" noProof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程序中</a:t>
            </a:r>
            <a:r>
              <a:rPr lang="zh-CN" altLang="en-US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的一个</a:t>
            </a:r>
            <a:r>
              <a:rPr lang="zh-CN" altLang="en-US" b="1" noProof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变量值</a:t>
            </a:r>
            <a:r>
              <a:rPr lang="zh-CN" altLang="en-US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转换成</a:t>
            </a:r>
            <a:r>
              <a:rPr lang="en-US" altLang="zh-CN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DAC</a:t>
            </a:r>
            <a:r>
              <a:rPr lang="zh-CN" altLang="en-US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en-US" altLang="zh-CN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IO</a:t>
            </a:r>
            <a:r>
              <a:rPr lang="zh-CN" altLang="en-US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口</a:t>
            </a:r>
            <a:r>
              <a:rPr lang="zh-CN" altLang="en-US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上一个</a:t>
            </a:r>
            <a:r>
              <a:rPr lang="zh-CN" altLang="en-US" b="1" noProof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实际的电压</a:t>
            </a:r>
            <a:endParaRPr lang="zh-CN" altLang="en-US" b="1" noProof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416165" y="3189605"/>
            <a:ext cx="1817370" cy="7302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ADC</a:t>
            </a:r>
            <a:r>
              <a:rPr lang="zh-CN" altLang="en-US"/>
              <a:t>采样</a:t>
            </a:r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7416165" y="4269105"/>
            <a:ext cx="1817370" cy="7302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数据处理</a:t>
            </a: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7408545" y="5309870"/>
            <a:ext cx="1817370" cy="69151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</a:rPr>
              <a:t>输出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7416165" y="2049145"/>
            <a:ext cx="1817370" cy="7302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定时器</a:t>
            </a:r>
            <a:endParaRPr lang="zh-CN" altLang="en-US"/>
          </a:p>
        </p:txBody>
      </p:sp>
      <p:cxnSp>
        <p:nvCxnSpPr>
          <p:cNvPr id="14" name="直接箭头连接符 13"/>
          <p:cNvCxnSpPr>
            <a:stCxn id="9" idx="2"/>
            <a:endCxn id="10" idx="0"/>
          </p:cNvCxnSpPr>
          <p:nvPr/>
        </p:nvCxnSpPr>
        <p:spPr>
          <a:xfrm>
            <a:off x="8324850" y="3919855"/>
            <a:ext cx="0" cy="3492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10" idx="2"/>
            <a:endCxn id="11" idx="0"/>
          </p:cNvCxnSpPr>
          <p:nvPr/>
        </p:nvCxnSpPr>
        <p:spPr>
          <a:xfrm flipH="1">
            <a:off x="8317230" y="4999355"/>
            <a:ext cx="7620" cy="3105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12" idx="2"/>
            <a:endCxn id="9" idx="0"/>
          </p:cNvCxnSpPr>
          <p:nvPr/>
        </p:nvCxnSpPr>
        <p:spPr>
          <a:xfrm>
            <a:off x="8324850" y="2779395"/>
            <a:ext cx="0" cy="4102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8405495" y="2831465"/>
            <a:ext cx="288925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以</a:t>
            </a:r>
            <a:r>
              <a:rPr lang="en-US" altLang="zh-CN" sz="140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200kHz</a:t>
            </a:r>
            <a:r>
              <a:rPr lang="zh-CN" altLang="en-US" sz="140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的频率触发</a:t>
            </a:r>
            <a:r>
              <a:rPr lang="en-US" altLang="zh-CN" sz="140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ADC</a:t>
            </a:r>
            <a:r>
              <a:rPr lang="zh-CN" altLang="en-US" sz="140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采样</a:t>
            </a:r>
            <a:endParaRPr lang="zh-CN" altLang="en-US" sz="140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405495" y="3924300"/>
            <a:ext cx="240855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采样完成，进入中断程序</a:t>
            </a:r>
            <a:endParaRPr lang="zh-CN" altLang="en-US" sz="140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7076440" y="3958590"/>
            <a:ext cx="3661410" cy="2376805"/>
          </a:xfrm>
          <a:prstGeom prst="roundRect">
            <a:avLst/>
          </a:prstGeom>
          <a:noFill/>
          <a:ln w="19050"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6688455" y="1520825"/>
            <a:ext cx="39541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DAC</a:t>
            </a:r>
            <a:r>
              <a:rPr lang="zh-CN" alt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的功能即上述流程图中的</a:t>
            </a:r>
            <a:r>
              <a:rPr lang="en-US" altLang="zh-CN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输出</a:t>
            </a:r>
            <a:r>
              <a:rPr lang="en-US" altLang="zh-CN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endParaRPr lang="en-US" altLang="zh-CN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6" name="图片 5"/>
          <p:cNvPicPr/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6826" r="23504"/>
          <a:stretch>
            <a:fillRect/>
          </a:stretch>
        </p:blipFill>
        <p:spPr>
          <a:xfrm>
            <a:off x="864235" y="2740660"/>
            <a:ext cx="2677160" cy="3669665"/>
          </a:xfrm>
          <a:prstGeom prst="rect">
            <a:avLst/>
          </a:prstGeom>
        </p:spPr>
      </p:pic>
      <p:sp>
        <p:nvSpPr>
          <p:cNvPr id="13" name="椭圆 12"/>
          <p:cNvSpPr/>
          <p:nvPr/>
        </p:nvSpPr>
        <p:spPr>
          <a:xfrm>
            <a:off x="3497580" y="2928620"/>
            <a:ext cx="1723390" cy="1005840"/>
          </a:xfrm>
          <a:prstGeom prst="ellipse">
            <a:avLst/>
          </a:prstGeom>
          <a:noFill/>
          <a:ln w="76200">
            <a:solidFill>
              <a:srgbClr val="1C519A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3968115" y="2999105"/>
            <a:ext cx="997585" cy="586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0-V</a:t>
            </a:r>
            <a:r>
              <a:rPr lang="en-US" altLang="zh-CN" sz="1400" baseline="-25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ref</a:t>
            </a:r>
            <a:endParaRPr lang="en-US" altLang="zh-CN" sz="1400" baseline="-2500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zh-CN" sz="2800" baseline="-25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模拟量</a:t>
            </a:r>
            <a:endParaRPr lang="zh-CN" altLang="zh-CN" sz="2800" baseline="-2500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3559810" y="5066665"/>
            <a:ext cx="1623060" cy="946785"/>
          </a:xfrm>
          <a:prstGeom prst="ellipse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3" name="直接箭头连接符 22"/>
          <p:cNvCxnSpPr/>
          <p:nvPr/>
        </p:nvCxnSpPr>
        <p:spPr>
          <a:xfrm flipV="1">
            <a:off x="4359275" y="3987800"/>
            <a:ext cx="0" cy="986790"/>
          </a:xfrm>
          <a:prstGeom prst="straightConnector1">
            <a:avLst/>
          </a:prstGeom>
          <a:ln w="5715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4485005" y="4266565"/>
            <a:ext cx="16021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latin typeface="华文中宋" panose="02010600040101010101" pitchFamily="2" charset="-122"/>
                <a:ea typeface="华文中宋" panose="02010600040101010101" pitchFamily="2" charset="-122"/>
              </a:rPr>
              <a:t>12bit DAC</a:t>
            </a:r>
            <a:endParaRPr lang="en-US" altLang="zh-CN" sz="14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930015" y="5247005"/>
            <a:ext cx="1252855" cy="586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0-4095</a:t>
            </a:r>
            <a:endParaRPr lang="en-US" altLang="zh-CN" sz="1400" baseline="-2500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zh-CN" sz="2800" baseline="-250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数字量</a:t>
            </a:r>
            <a:endParaRPr lang="zh-CN" altLang="zh-CN" sz="2800" baseline="-2500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26" name="直接箭头连接符 25"/>
          <p:cNvCxnSpPr/>
          <p:nvPr/>
        </p:nvCxnSpPr>
        <p:spPr>
          <a:xfrm flipH="1" flipV="1">
            <a:off x="643255" y="3874135"/>
            <a:ext cx="17780" cy="1319530"/>
          </a:xfrm>
          <a:prstGeom prst="straightConnector1">
            <a:avLst/>
          </a:prstGeom>
          <a:ln w="5715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圆角矩形 26"/>
          <p:cNvSpPr/>
          <p:nvPr/>
        </p:nvSpPr>
        <p:spPr>
          <a:xfrm>
            <a:off x="7256145" y="5220335"/>
            <a:ext cx="2232660" cy="933450"/>
          </a:xfrm>
          <a:prstGeom prst="roundRect">
            <a:avLst>
              <a:gd name="adj" fmla="val 1156"/>
            </a:avLst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软件部分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思路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5612" y="775529"/>
            <a:ext cx="18046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注意</a:t>
            </a:r>
            <a:r>
              <a:rPr lang="zh-CN" altLang="en-US" sz="24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事项：</a:t>
            </a:r>
            <a:r>
              <a:rPr lang="en-US" altLang="zh-CN" sz="24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sz="240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806575" y="1773555"/>
            <a:ext cx="78092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中断程序中：不要放</a:t>
            </a:r>
            <a:r>
              <a:rPr lang="en-US" altLang="zh-CN" b="1" noProof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HAL_Delay</a:t>
            </a:r>
            <a:r>
              <a:rPr lang="zh-CN" alt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函数或</a:t>
            </a:r>
            <a:r>
              <a:rPr lang="en-US" altLang="zh-CN" b="1" noProof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OLED</a:t>
            </a:r>
            <a:r>
              <a:rPr lang="zh-CN" altLang="en-US" b="1" noProof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显示</a:t>
            </a:r>
            <a:r>
              <a:rPr lang="zh-CN" alt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函数，程序会</a:t>
            </a:r>
            <a:r>
              <a:rPr lang="zh-CN" altLang="en-US" b="1" noProof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直接卡死</a:t>
            </a:r>
            <a:endParaRPr lang="zh-CN" altLang="en-US" b="1" noProof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865630" y="4404995"/>
            <a:ext cx="78092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在中断程序中执行的运算：尽量使用</a:t>
            </a:r>
            <a:r>
              <a:rPr lang="zh-CN" altLang="en-US" b="1" noProof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乘法</a:t>
            </a:r>
            <a:r>
              <a:rPr lang="zh-CN" alt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而非除法（如</a:t>
            </a:r>
            <a:r>
              <a:rPr lang="en-US" altLang="zh-CN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*0.5f</a:t>
            </a:r>
            <a:r>
              <a:rPr lang="zh-CN" alt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而不是</a:t>
            </a:r>
            <a:r>
              <a:rPr lang="en-US" altLang="zh-CN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/2</a:t>
            </a:r>
            <a:r>
              <a:rPr lang="zh-CN" alt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806575" y="2995295"/>
            <a:ext cx="78092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在中断程序中执行的运算：乘法运算要写成</a:t>
            </a:r>
            <a:r>
              <a:rPr lang="en-US" altLang="zh-CN" b="1" noProof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*2.0f</a:t>
            </a:r>
            <a:r>
              <a:rPr lang="zh-CN" alt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的形式而非</a:t>
            </a:r>
            <a:r>
              <a:rPr lang="en-US" altLang="zh-CN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*2.0</a:t>
            </a:r>
            <a:r>
              <a:rPr lang="zh-CN" alt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altLang="zh-CN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*2.0f</a:t>
            </a:r>
            <a:r>
              <a:rPr lang="zh-CN" alt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zh-CN" alt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形式会强制使用单精度浮点运算，运算速度更快，避免卡住高速</a:t>
            </a:r>
            <a:r>
              <a:rPr lang="zh-CN" altLang="en-US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中断</a:t>
            </a:r>
            <a:endParaRPr lang="zh-CN" altLang="en-US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1686945" y="-565329"/>
            <a:ext cx="8368529" cy="3378143"/>
            <a:chOff x="1328939" y="114936"/>
            <a:chExt cx="8368529" cy="3378143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8939" y="114936"/>
              <a:ext cx="3378143" cy="3378143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7936" y="904008"/>
              <a:ext cx="1800000" cy="1800000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97090" y="904008"/>
              <a:ext cx="1800378" cy="1800000"/>
            </a:xfrm>
            <a:prstGeom prst="rect">
              <a:avLst/>
            </a:prstGeom>
          </p:spPr>
        </p:pic>
      </p:grpSp>
      <p:sp>
        <p:nvSpPr>
          <p:cNvPr id="2" name="文本框 1"/>
          <p:cNvSpPr txBox="1"/>
          <p:nvPr/>
        </p:nvSpPr>
        <p:spPr>
          <a:xfrm>
            <a:off x="4131945" y="303339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7200"/>
              <a:t>感谢</a:t>
            </a:r>
            <a:r>
              <a:rPr lang="zh-CN" altLang="en-US" sz="7200"/>
              <a:t>观看！</a:t>
            </a:r>
            <a:endParaRPr lang="zh-CN" altLang="en-US" sz="72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90.35929133858264,&quot;left&quot;:19.240000000000002,&quot;top&quot;:160.35,&quot;width&quot;:923.5600000000001}"/>
</p:tagLst>
</file>

<file path=ppt/tags/tag2.xml><?xml version="1.0" encoding="utf-8"?>
<p:tagLst xmlns:p="http://schemas.openxmlformats.org/presentationml/2006/main">
  <p:tag name="KSO_WM_DIAGRAM_VIRTUALLY_FRAME" val="{&quot;height&quot;:290.35929133858264,&quot;left&quot;:19.240000000000002,&quot;top&quot;:160.35,&quot;width&quot;:923.5600000000001}"/>
</p:tagLst>
</file>

<file path=ppt/tags/tag3.xml><?xml version="1.0" encoding="utf-8"?>
<p:tagLst xmlns:p="http://schemas.openxmlformats.org/presentationml/2006/main">
  <p:tag name="KSO_WM_DIAGRAM_VIRTUALLY_FRAME" val="{&quot;height&quot;:290.35929133858264,&quot;left&quot;:19.240000000000002,&quot;top&quot;:160.35,&quot;width&quot;:923.5600000000001}"/>
</p:tagLst>
</file>

<file path=ppt/tags/tag4.xml><?xml version="1.0" encoding="utf-8"?>
<p:tagLst xmlns:p="http://schemas.openxmlformats.org/presentationml/2006/main">
  <p:tag name="KSO_WM_DIAGRAM_VIRTUALLY_FRAME" val="{&quot;height&quot;:290.35929133858264,&quot;left&quot;:19.240000000000002,&quot;top&quot;:160.35,&quot;width&quot;:923.5600000000001}"/>
</p:tagLst>
</file>

<file path=ppt/tags/tag5.xml><?xml version="1.0" encoding="utf-8"?>
<p:tagLst xmlns:p="http://schemas.openxmlformats.org/presentationml/2006/main">
  <p:tag name="KSO_WM_DIAGRAM_VIRTUALLY_FRAME" val="{&quot;height&quot;:290.35929133858264,&quot;left&quot;:19.240000000000002,&quot;top&quot;:160.35,&quot;width&quot;:923.5600000000001}"/>
</p:tagLst>
</file>

<file path=ppt/tags/tag6.xml><?xml version="1.0" encoding="utf-8"?>
<p:tagLst xmlns:p="http://schemas.openxmlformats.org/presentationml/2006/main">
  <p:tag name="KSO_WM_DIAGRAM_VIRTUALLY_FRAME" val="{&quot;height&quot;:290.35929133858264,&quot;left&quot;:19.240000000000002,&quot;top&quot;:160.35,&quot;width&quot;:923.5600000000001}"/>
</p:tagLst>
</file>

<file path=ppt/tags/tag7.xml><?xml version="1.0" encoding="utf-8"?>
<p:tagLst xmlns:p="http://schemas.openxmlformats.org/presentationml/2006/main">
  <p:tag name="KSO_WM_DIAGRAM_VIRTUALLY_FRAME" val="{&quot;height&quot;:290.35929133858264,&quot;left&quot;:19.240000000000002,&quot;top&quot;:160.35,&quot;width&quot;:923.5600000000001}"/>
</p:tagLst>
</file>

<file path=ppt/tags/tag8.xml><?xml version="1.0" encoding="utf-8"?>
<p:tagLst xmlns:p="http://schemas.openxmlformats.org/presentationml/2006/main">
  <p:tag name="KSO_WM_DIAGRAM_VIRTUALLY_FRAME" val="{&quot;height&quot;:290.35929133858264,&quot;left&quot;:19.240000000000002,&quot;top&quot;:160.35,&quot;width&quot;:923.5600000000001}"/>
</p:tagLst>
</file>

<file path=ppt/tags/tag9.xml><?xml version="1.0" encoding="utf-8"?>
<p:tagLst xmlns:p="http://schemas.openxmlformats.org/presentationml/2006/main">
  <p:tag name="KSO_WM_DIAGRAM_VIRTUALLY_FRAME" val="{&quot;height&quot;:290.35929133858264,&quot;left&quot;:19.240000000000002,&quot;top&quot;:160.35,&quot;width&quot;:923.5600000000001}"/>
</p:tagLst>
</file>

<file path=ppt/tags/tag10.xml><?xml version="1.0" encoding="utf-8"?>
<p:tagLst xmlns:p="http://schemas.openxmlformats.org/presentationml/2006/main">
  <p:tag name="KSO_WM_DIAGRAM_VIRTUALLY_FRAME" val="{&quot;height&quot;:290.35929133858264,&quot;left&quot;:19.240000000000002,&quot;top&quot;:160.35,&quot;width&quot;:923.5600000000001}"/>
</p:tagLst>
</file>

<file path=ppt/tags/tag11.xml><?xml version="1.0" encoding="utf-8"?>
<p:tagLst xmlns:p="http://schemas.openxmlformats.org/presentationml/2006/main">
  <p:tag name="KSO_WM_DIAGRAM_VIRTUALLY_FRAME" val="{&quot;height&quot;:290.35929133858264,&quot;left&quot;:19.240000000000002,&quot;top&quot;:160.35,&quot;width&quot;:923.5600000000001}"/>
</p:tagLst>
</file>

<file path=ppt/tags/tag12.xml><?xml version="1.0" encoding="utf-8"?>
<p:tagLst xmlns:p="http://schemas.openxmlformats.org/presentationml/2006/main">
  <p:tag name="KSO_WM_DIAGRAM_VIRTUALLY_FRAME" val="{&quot;height&quot;:290.35929133858264,&quot;left&quot;:19.240000000000002,&quot;top&quot;:160.35,&quot;width&quot;:923.5600000000001}"/>
</p:tagLst>
</file>

<file path=ppt/tags/tag13.xml><?xml version="1.0" encoding="utf-8"?>
<p:tagLst xmlns:p="http://schemas.openxmlformats.org/presentationml/2006/main">
  <p:tag name="KSO_WM_DIAGRAM_VIRTUALLY_FRAME" val="{&quot;height&quot;:290.35929133858264,&quot;left&quot;:19.240000000000002,&quot;top&quot;:160.35,&quot;width&quot;:923.5600000000001}"/>
</p:tagLst>
</file>

<file path=ppt/tags/tag14.xml><?xml version="1.0" encoding="utf-8"?>
<p:tagLst xmlns:p="http://schemas.openxmlformats.org/presentationml/2006/main">
  <p:tag name="KSO_WM_DIAGRAM_VIRTUALLY_FRAME" val="{&quot;height&quot;:290.35929133858264,&quot;left&quot;:19.240000000000002,&quot;top&quot;:160.35,&quot;width&quot;:923.5600000000001}"/>
</p:tagLst>
</file>

<file path=ppt/tags/tag15.xml><?xml version="1.0" encoding="utf-8"?>
<p:tagLst xmlns:p="http://schemas.openxmlformats.org/presentationml/2006/main">
  <p:tag name="KSO_WM_DIAGRAM_VIRTUALLY_FRAME" val="{&quot;height&quot;:290.35929133858264,&quot;left&quot;:19.240000000000002,&quot;top&quot;:160.35,&quot;width&quot;:923.5600000000001}"/>
</p:tagLst>
</file>

<file path=ppt/tags/tag16.xml><?xml version="1.0" encoding="utf-8"?>
<p:tagLst xmlns:p="http://schemas.openxmlformats.org/presentationml/2006/main">
  <p:tag name="KSO_WM_DIAGRAM_VIRTUALLY_FRAME" val="{&quot;height&quot;:290.35929133858264,&quot;left&quot;:19.240000000000002,&quot;top&quot;:160.35,&quot;width&quot;:923.5600000000001}"/>
</p:tagLst>
</file>

<file path=ppt/tags/tag17.xml><?xml version="1.0" encoding="utf-8"?>
<p:tagLst xmlns:p="http://schemas.openxmlformats.org/presentationml/2006/main">
  <p:tag name="KSO_WM_DIAGRAM_VIRTUALLY_FRAME" val="{&quot;height&quot;:290.35929133858264,&quot;left&quot;:19.240000000000002,&quot;top&quot;:160.35,&quot;width&quot;:923.5600000000001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2578</Words>
  <Application>WPS 演示</Application>
  <PresentationFormat>宽屏</PresentationFormat>
  <Paragraphs>511</Paragraphs>
  <Slides>29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1" baseType="lpstr">
      <vt:lpstr>Arial</vt:lpstr>
      <vt:lpstr>宋体</vt:lpstr>
      <vt:lpstr>Wingdings</vt:lpstr>
      <vt:lpstr>华文中宋</vt:lpstr>
      <vt:lpstr>HarmonyOS Sans SC</vt:lpstr>
      <vt:lpstr>微软雅黑</vt:lpstr>
      <vt:lpstr>Arial Unicode MS</vt:lpstr>
      <vt:lpstr>Calibri</vt:lpstr>
      <vt:lpstr>Cambria Math</vt:lpstr>
      <vt:lpstr>Saturday Sans Regular</vt:lpstr>
      <vt:lpstr>WPS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关于按键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quzhongyu</dc:creator>
  <cp:lastModifiedBy>，</cp:lastModifiedBy>
  <cp:revision>71</cp:revision>
  <dcterms:created xsi:type="dcterms:W3CDTF">2023-08-09T12:44:00Z</dcterms:created>
  <dcterms:modified xsi:type="dcterms:W3CDTF">2025-09-17T06:40:35Z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B89DBB4872384F63BC6473E7227A5BA0_13</vt:lpwstr>
  </property>
</Properties>
</file>