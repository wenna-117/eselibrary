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7" r:id="rId3"/>
    <p:sldId id="261" r:id="rId4"/>
    <p:sldId id="260" r:id="rId5"/>
    <p:sldId id="259" r:id="rId6"/>
    <p:sldId id="265" r:id="rId7"/>
    <p:sldId id="268" r:id="rId8"/>
    <p:sldId id="792" r:id="rId9"/>
    <p:sldId id="270" r:id="rId10"/>
    <p:sldId id="271" r:id="rId11"/>
    <p:sldId id="258" r:id="rId12"/>
    <p:sldId id="793" r:id="rId13"/>
    <p:sldId id="794" r:id="rId14"/>
    <p:sldId id="795" r:id="rId15"/>
    <p:sldId id="813" r:id="rId17"/>
    <p:sldId id="814" r:id="rId18"/>
    <p:sldId id="815" r:id="rId19"/>
    <p:sldId id="817" r:id="rId20"/>
    <p:sldId id="818" r:id="rId21"/>
    <p:sldId id="819" r:id="rId22"/>
    <p:sldId id="820" r:id="rId23"/>
    <p:sldId id="821" r:id="rId24"/>
    <p:sldId id="822" r:id="rId25"/>
    <p:sldId id="823" r:id="rId26"/>
    <p:sldId id="826" r:id="rId27"/>
    <p:sldId id="825" r:id="rId28"/>
    <p:sldId id="827" r:id="rId29"/>
    <p:sldId id="828" r:id="rId30"/>
    <p:sldId id="830" r:id="rId31"/>
    <p:sldId id="831" r:id="rId32"/>
    <p:sldId id="832" r:id="rId33"/>
    <p:sldId id="833" r:id="rId34"/>
    <p:sldId id="835" r:id="rId35"/>
    <p:sldId id="838" r:id="rId36"/>
    <p:sldId id="834" r:id="rId37"/>
    <p:sldId id="824" r:id="rId3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765" y="26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1" Type="http://schemas.openxmlformats.org/officeDocument/2006/relationships/tableStyles" Target="tableStyles.xml"/><Relationship Id="rId40" Type="http://schemas.openxmlformats.org/officeDocument/2006/relationships/viewProps" Target="viewProps.xml"/><Relationship Id="rId4" Type="http://schemas.openxmlformats.org/officeDocument/2006/relationships/slide" Target="slides/slide2.xml"/><Relationship Id="rId39" Type="http://schemas.openxmlformats.org/officeDocument/2006/relationships/presProps" Target="presProps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9AE583-85FA-452D-B437-ED2AA1293D4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AA2B4C-D2D0-448A-8644-6758D5741BD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AA2B4C-D2D0-448A-8644-6758D5741BD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FACC7-2C0B-4518-B0EB-33C31854FD7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82484-4279-409F-AA31-A6E009B430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FACC7-2C0B-4518-B0EB-33C31854FD7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82484-4279-409F-AA31-A6E009B430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FACC7-2C0B-4518-B0EB-33C31854FD7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82484-4279-409F-AA31-A6E009B430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FACC7-2C0B-4518-B0EB-33C31854FD7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82484-4279-409F-AA31-A6E009B430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FACC7-2C0B-4518-B0EB-33C31854FD7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82484-4279-409F-AA31-A6E009B430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FACC7-2C0B-4518-B0EB-33C31854FD7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82484-4279-409F-AA31-A6E009B430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FACC7-2C0B-4518-B0EB-33C31854FD76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82484-4279-409F-AA31-A6E009B430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FACC7-2C0B-4518-B0EB-33C31854FD7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82484-4279-409F-AA31-A6E009B430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FACC7-2C0B-4518-B0EB-33C31854FD7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82484-4279-409F-AA31-A6E009B430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FACC7-2C0B-4518-B0EB-33C31854FD7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82484-4279-409F-AA31-A6E009B430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FACC7-2C0B-4518-B0EB-33C31854FD7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82484-4279-409F-AA31-A6E009B430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1FACC7-2C0B-4518-B0EB-33C31854FD7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E82484-4279-409F-AA31-A6E009B4305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5.xml"/><Relationship Id="rId8" Type="http://schemas.openxmlformats.org/officeDocument/2006/relationships/image" Target="../media/image12.png"/><Relationship Id="rId7" Type="http://schemas.openxmlformats.org/officeDocument/2006/relationships/tags" Target="../tags/tag4.xml"/><Relationship Id="rId6" Type="http://schemas.openxmlformats.org/officeDocument/2006/relationships/image" Target="../media/image11.png"/><Relationship Id="rId5" Type="http://schemas.openxmlformats.org/officeDocument/2006/relationships/tags" Target="../tags/tag3.xml"/><Relationship Id="rId4" Type="http://schemas.openxmlformats.org/officeDocument/2006/relationships/image" Target="../media/image10.png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3" Type="http://schemas.openxmlformats.org/officeDocument/2006/relationships/slideLayout" Target="../slideLayouts/slideLayout7.xml"/><Relationship Id="rId12" Type="http://schemas.openxmlformats.org/officeDocument/2006/relationships/tags" Target="../tags/tag8.xml"/><Relationship Id="rId11" Type="http://schemas.openxmlformats.org/officeDocument/2006/relationships/tags" Target="../tags/tag7.xml"/><Relationship Id="rId10" Type="http://schemas.openxmlformats.org/officeDocument/2006/relationships/tags" Target="../tags/tag6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9.png"/><Relationship Id="rId8" Type="http://schemas.openxmlformats.org/officeDocument/2006/relationships/image" Target="../media/image18.png"/><Relationship Id="rId7" Type="http://schemas.openxmlformats.org/officeDocument/2006/relationships/image" Target="../media/image17.png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3" Type="http://schemas.openxmlformats.org/officeDocument/2006/relationships/image" Target="../media/image13.wmf"/><Relationship Id="rId2" Type="http://schemas.openxmlformats.org/officeDocument/2006/relationships/oleObject" Target="../embeddings/oleObject1.bin"/><Relationship Id="rId15" Type="http://schemas.openxmlformats.org/officeDocument/2006/relationships/vmlDrawing" Target="../drawings/vmlDrawing1.vml"/><Relationship Id="rId14" Type="http://schemas.openxmlformats.org/officeDocument/2006/relationships/slideLayout" Target="../slideLayouts/slideLayout7.xml"/><Relationship Id="rId13" Type="http://schemas.openxmlformats.org/officeDocument/2006/relationships/image" Target="../media/image23.png"/><Relationship Id="rId12" Type="http://schemas.openxmlformats.org/officeDocument/2006/relationships/image" Target="../media/image22.png"/><Relationship Id="rId11" Type="http://schemas.openxmlformats.org/officeDocument/2006/relationships/image" Target="../media/image21.png"/><Relationship Id="rId10" Type="http://schemas.openxmlformats.org/officeDocument/2006/relationships/image" Target="../media/image20.png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tags" Target="../tags/tag9.xml"/><Relationship Id="rId2" Type="http://schemas.openxmlformats.org/officeDocument/2006/relationships/image" Target="../media/image26.png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27.png"/><Relationship Id="rId3" Type="http://schemas.openxmlformats.org/officeDocument/2006/relationships/image" Target="../media/image24.png"/><Relationship Id="rId2" Type="http://schemas.openxmlformats.org/officeDocument/2006/relationships/image" Target="../media/image26.png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27.png"/><Relationship Id="rId3" Type="http://schemas.openxmlformats.org/officeDocument/2006/relationships/image" Target="../media/image24.png"/><Relationship Id="rId2" Type="http://schemas.openxmlformats.org/officeDocument/2006/relationships/image" Target="../media/image26.png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8.png"/><Relationship Id="rId2" Type="http://schemas.openxmlformats.org/officeDocument/2006/relationships/hyperlink" Target="https://www.bilibili.com/video/BV1t64y1b7w7/" TargetMode="External"/><Relationship Id="rId1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31.png"/><Relationship Id="rId3" Type="http://schemas.openxmlformats.org/officeDocument/2006/relationships/image" Target="../media/image30.png"/><Relationship Id="rId2" Type="http://schemas.openxmlformats.org/officeDocument/2006/relationships/image" Target="../media/image29.jpeg"/><Relationship Id="rId1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2.jpeg"/><Relationship Id="rId1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1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8.png"/><Relationship Id="rId1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tags" Target="../tags/tag14.xml"/><Relationship Id="rId7" Type="http://schemas.openxmlformats.org/officeDocument/2006/relationships/tags" Target="../tags/tag13.xml"/><Relationship Id="rId6" Type="http://schemas.openxmlformats.org/officeDocument/2006/relationships/tags" Target="../tags/tag12.xml"/><Relationship Id="rId5" Type="http://schemas.openxmlformats.org/officeDocument/2006/relationships/image" Target="../media/image41.png"/><Relationship Id="rId4" Type="http://schemas.openxmlformats.org/officeDocument/2006/relationships/tags" Target="../tags/tag11.xml"/><Relationship Id="rId3" Type="http://schemas.openxmlformats.org/officeDocument/2006/relationships/tags" Target="../tags/tag10.xml"/><Relationship Id="rId2" Type="http://schemas.openxmlformats.org/officeDocument/2006/relationships/image" Target="../media/image26.png"/><Relationship Id="rId1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image" Target="../media/image49.png"/><Relationship Id="rId8" Type="http://schemas.openxmlformats.org/officeDocument/2006/relationships/image" Target="../media/image48.png"/><Relationship Id="rId7" Type="http://schemas.openxmlformats.org/officeDocument/2006/relationships/image" Target="../media/image47.png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0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image" Target="../media/image57.png"/><Relationship Id="rId8" Type="http://schemas.openxmlformats.org/officeDocument/2006/relationships/image" Target="../media/image56.png"/><Relationship Id="rId7" Type="http://schemas.openxmlformats.org/officeDocument/2006/relationships/image" Target="../media/image55.png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58.png"/><Relationship Id="rId1" Type="http://schemas.openxmlformats.org/officeDocument/2006/relationships/image" Target="../media/image4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9.png"/><Relationship Id="rId1" Type="http://schemas.openxmlformats.org/officeDocument/2006/relationships/image" Target="../media/image4.png"/></Relationships>
</file>

<file path=ppt/slides/_rels/slide30.xml.rels><?xml version="1.0" encoding="UTF-8" standalone="yes"?>
<Relationships xmlns="http://schemas.openxmlformats.org/package/2006/relationships"><Relationship Id="rId9" Type="http://schemas.openxmlformats.org/officeDocument/2006/relationships/image" Target="../media/image67.png"/><Relationship Id="rId8" Type="http://schemas.openxmlformats.org/officeDocument/2006/relationships/image" Target="../media/image66.png"/><Relationship Id="rId7" Type="http://schemas.openxmlformats.org/officeDocument/2006/relationships/image" Target="../media/image65.png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4" Type="http://schemas.openxmlformats.org/officeDocument/2006/relationships/slideLayout" Target="../slideLayouts/slideLayout7.xml"/><Relationship Id="rId13" Type="http://schemas.openxmlformats.org/officeDocument/2006/relationships/image" Target="../media/image71.png"/><Relationship Id="rId12" Type="http://schemas.openxmlformats.org/officeDocument/2006/relationships/image" Target="../media/image70.png"/><Relationship Id="rId11" Type="http://schemas.openxmlformats.org/officeDocument/2006/relationships/image" Target="../media/image69.png"/><Relationship Id="rId10" Type="http://schemas.openxmlformats.org/officeDocument/2006/relationships/image" Target="../media/image68.png"/><Relationship Id="rId1" Type="http://schemas.openxmlformats.org/officeDocument/2006/relationships/image" Target="../media/image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2.png"/><Relationship Id="rId1" Type="http://schemas.openxmlformats.org/officeDocument/2006/relationships/image" Target="../media/image4.png"/></Relationships>
</file>

<file path=ppt/slides/_rels/slide3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76.png"/><Relationship Id="rId4" Type="http://schemas.openxmlformats.org/officeDocument/2006/relationships/image" Target="../media/image75.png"/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image" Target="../media/image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7.png"/><Relationship Id="rId1" Type="http://schemas.openxmlformats.org/officeDocument/2006/relationships/image" Target="../media/image4.png"/></Relationships>
</file>

<file path=ppt/slides/_rels/slide3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80.png"/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image" Target="../media/image4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1911735" y="78561"/>
            <a:ext cx="8368529" cy="3378143"/>
            <a:chOff x="1328939" y="114936"/>
            <a:chExt cx="8368529" cy="3378143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28939" y="114936"/>
              <a:ext cx="3378143" cy="3378143"/>
            </a:xfrm>
            <a:prstGeom prst="rect">
              <a:avLst/>
            </a:prstGeom>
          </p:spPr>
        </p:pic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27936" y="904008"/>
              <a:ext cx="1800000" cy="1800000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97090" y="904008"/>
              <a:ext cx="1800378" cy="1800000"/>
            </a:xfrm>
            <a:prstGeom prst="rect">
              <a:avLst/>
            </a:prstGeom>
          </p:spPr>
        </p:pic>
      </p:grpSp>
      <p:cxnSp>
        <p:nvCxnSpPr>
          <p:cNvPr id="18" name="直接连接符 17"/>
          <p:cNvCxnSpPr/>
          <p:nvPr/>
        </p:nvCxnSpPr>
        <p:spPr>
          <a:xfrm>
            <a:off x="1558631" y="3117259"/>
            <a:ext cx="9000000" cy="0"/>
          </a:xfrm>
          <a:prstGeom prst="line">
            <a:avLst/>
          </a:prstGeom>
          <a:ln w="38100">
            <a:solidFill>
              <a:srgbClr val="1C519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/>
          <p:cNvSpPr txBox="1"/>
          <p:nvPr/>
        </p:nvSpPr>
        <p:spPr>
          <a:xfrm>
            <a:off x="1920282" y="3200407"/>
            <a:ext cx="8359981" cy="25391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  <a:spcAft>
                <a:spcPts val="600"/>
              </a:spcAft>
            </a:pPr>
            <a:r>
              <a:rPr lang="en-US" altLang="zh-CN" sz="44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2025</a:t>
            </a:r>
            <a:r>
              <a:rPr lang="zh-CN" altLang="en-US" sz="44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年“盟升杯”电子设计竞赛</a:t>
            </a:r>
            <a:endParaRPr lang="en-US" altLang="zh-CN" sz="44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algn="ctr"/>
            <a:r>
              <a:rPr lang="zh-CN" altLang="en-US" sz="4400" dirty="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“包赢”转盘（</a:t>
            </a:r>
            <a:r>
              <a:rPr lang="en-US" altLang="zh-CN" sz="4400" dirty="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D</a:t>
            </a:r>
            <a:r>
              <a:rPr lang="zh-CN" altLang="en-US" sz="4400" dirty="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题）</a:t>
            </a:r>
            <a:endParaRPr lang="en-US" altLang="zh-CN" sz="4400" dirty="0">
              <a:solidFill>
                <a:srgbClr val="1C519A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algn="ctr"/>
            <a:r>
              <a:rPr lang="zh-CN" altLang="en-US" sz="4400" dirty="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赛题讲解</a:t>
            </a:r>
            <a:endParaRPr lang="zh-CN" altLang="en-US" sz="4400" dirty="0">
              <a:solidFill>
                <a:srgbClr val="1C519A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cxnSp>
        <p:nvCxnSpPr>
          <p:cNvPr id="21" name="直接连接符 20"/>
          <p:cNvCxnSpPr/>
          <p:nvPr/>
        </p:nvCxnSpPr>
        <p:spPr>
          <a:xfrm>
            <a:off x="1560364" y="6028451"/>
            <a:ext cx="9000000" cy="0"/>
          </a:xfrm>
          <a:prstGeom prst="line">
            <a:avLst/>
          </a:prstGeom>
          <a:ln w="38100">
            <a:solidFill>
              <a:srgbClr val="1C519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8230" y="176639"/>
            <a:ext cx="1080000" cy="1080000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>
            <a:off x="129896" y="727350"/>
            <a:ext cx="9000000" cy="0"/>
          </a:xfrm>
          <a:prstGeom prst="line">
            <a:avLst/>
          </a:prstGeom>
          <a:ln w="38100">
            <a:solidFill>
              <a:srgbClr val="1C519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109102" y="64329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前言</a:t>
            </a:r>
            <a:endParaRPr lang="zh-CN" altLang="en-US" sz="3200" dirty="0">
              <a:solidFill>
                <a:srgbClr val="1C519A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731334" y="2896433"/>
            <a:ext cx="479712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一定要加</a:t>
            </a:r>
            <a:r>
              <a:rPr lang="en-US" altLang="zh-CN" sz="40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QQ</a:t>
            </a:r>
            <a:r>
              <a:rPr lang="zh-CN" altLang="en-US" sz="40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群！！！</a:t>
            </a:r>
            <a:endParaRPr lang="zh-CN" altLang="en-US" sz="40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rcRect r="3427" b="4411"/>
          <a:stretch>
            <a:fillRect/>
          </a:stretch>
        </p:blipFill>
        <p:spPr>
          <a:xfrm>
            <a:off x="1395903" y="1237725"/>
            <a:ext cx="3560726" cy="452444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8230" y="176639"/>
            <a:ext cx="1080000" cy="1080000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>
            <a:off x="129896" y="727350"/>
            <a:ext cx="9000000" cy="0"/>
          </a:xfrm>
          <a:prstGeom prst="line">
            <a:avLst/>
          </a:prstGeom>
          <a:ln w="38100">
            <a:solidFill>
              <a:srgbClr val="1C519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575310" y="985520"/>
            <a:ext cx="180911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内容概要</a:t>
            </a:r>
            <a:endParaRPr lang="zh-CN" altLang="en-US" sz="5400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494405" y="1245870"/>
            <a:ext cx="4784090" cy="47359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36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元器件认识</a:t>
            </a:r>
            <a:endParaRPr lang="zh-CN" altLang="en-US" sz="3600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342900" indent="-34290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36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题目解析与总体架构</a:t>
            </a:r>
            <a:endParaRPr lang="en-US" altLang="zh-CN" sz="3600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342900" indent="-34290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36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硬件部分</a:t>
            </a:r>
            <a:endParaRPr lang="zh-CN" altLang="en-US" sz="3600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342900" indent="-34290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36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软件部分</a:t>
            </a:r>
            <a:endParaRPr lang="en-US" altLang="zh-CN" sz="3600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3600" dirty="0">
                <a:latin typeface="华文中宋" panose="02010600040101010101" pitchFamily="2" charset="-122"/>
                <a:ea typeface="华文中宋" panose="02010600040101010101" pitchFamily="2" charset="-122"/>
              </a:rPr>
              <a:t>PID</a:t>
            </a:r>
            <a:endParaRPr lang="en-US" altLang="zh-CN" sz="36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indent="0" fontAlgn="auto">
              <a:lnSpc>
                <a:spcPct val="150000"/>
              </a:lnSpc>
              <a:buFont typeface="Arial" panose="020B0604020202020204" pitchFamily="34" charset="0"/>
              <a:buNone/>
            </a:pPr>
            <a:endParaRPr lang="zh-CN" altLang="en-US" sz="2400" dirty="0">
              <a:solidFill>
                <a:srgbClr val="FF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cxnSp>
        <p:nvCxnSpPr>
          <p:cNvPr id="2" name="直接连接符 1"/>
          <p:cNvCxnSpPr/>
          <p:nvPr/>
        </p:nvCxnSpPr>
        <p:spPr>
          <a:xfrm rot="16200000">
            <a:off x="705001" y="1906340"/>
            <a:ext cx="3600000" cy="0"/>
          </a:xfrm>
          <a:prstGeom prst="line">
            <a:avLst/>
          </a:prstGeom>
          <a:ln w="38100">
            <a:solidFill>
              <a:srgbClr val="1C519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8230" y="176639"/>
            <a:ext cx="1080000" cy="1080000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>
            <a:off x="129896" y="727350"/>
            <a:ext cx="9000000" cy="0"/>
          </a:xfrm>
          <a:prstGeom prst="line">
            <a:avLst/>
          </a:prstGeom>
          <a:ln w="38100">
            <a:solidFill>
              <a:srgbClr val="1C519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109102" y="64329"/>
            <a:ext cx="359664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元器件认识</a:t>
            </a:r>
            <a:r>
              <a:rPr lang="en-US" altLang="zh-CN" sz="3200" dirty="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-</a:t>
            </a:r>
            <a:r>
              <a:rPr lang="zh-CN" altLang="en-US" sz="3200" dirty="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连接件</a:t>
            </a:r>
            <a:endParaRPr lang="zh-CN" altLang="en-US" sz="3200" dirty="0">
              <a:solidFill>
                <a:srgbClr val="1C519A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2642462" y="1133392"/>
            <a:ext cx="23544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kern="1200" cap="none" spc="0" normalizeH="0" baseline="0" noProof="0" dirty="0">
                <a:solidFill>
                  <a:srgbClr val="004578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</a:rPr>
              <a:t>排针</a:t>
            </a:r>
            <a:endParaRPr kumimoji="0" lang="en-US" altLang="zh-CN" sz="2400" b="1" i="0" kern="1200" cap="none" spc="0" normalizeH="0" baseline="0" noProof="0" dirty="0">
              <a:solidFill>
                <a:srgbClr val="004578"/>
              </a:solidFill>
              <a:latin typeface="HarmonyOS Sans SC" panose="00000500000000000000" pitchFamily="2" charset="-122"/>
              <a:ea typeface="HarmonyOS Sans SC" panose="00000500000000000000" pitchFamily="2" charset="-122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2038985" y="1593850"/>
            <a:ext cx="3561080" cy="4233545"/>
            <a:chOff x="3211" y="2510"/>
            <a:chExt cx="5608" cy="6667"/>
          </a:xfrm>
        </p:grpSpPr>
        <p:pic>
          <p:nvPicPr>
            <p:cNvPr id="16" name="图片 15"/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AFAFA">
                    <a:alpha val="100000"/>
                  </a:srgbClr>
                </a:clrFrom>
                <a:clrTo>
                  <a:srgbClr val="FAFAFA">
                    <a:alpha val="100000"/>
                    <a:alpha val="0"/>
                  </a:srgbClr>
                </a:clrTo>
              </a:clrChange>
            </a:blip>
            <a:srcRect t="10041"/>
            <a:stretch>
              <a:fillRect/>
            </a:stretch>
          </p:blipFill>
          <p:spPr>
            <a:xfrm>
              <a:off x="3211" y="2510"/>
              <a:ext cx="5609" cy="3163"/>
            </a:xfrm>
            <a:prstGeom prst="rect">
              <a:avLst/>
            </a:prstGeom>
          </p:spPr>
        </p:pic>
        <p:pic>
          <p:nvPicPr>
            <p:cNvPr id="17" name="图片 16"/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FAFAFA">
                    <a:alpha val="100000"/>
                  </a:srgbClr>
                </a:clrFrom>
                <a:clrTo>
                  <a:srgbClr val="FAFAFA">
                    <a:alpha val="100000"/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3211" y="5673"/>
              <a:ext cx="5609" cy="3505"/>
            </a:xfrm>
            <a:prstGeom prst="rect">
              <a:avLst/>
            </a:prstGeom>
          </p:spPr>
        </p:pic>
      </p:grpSp>
      <p:grpSp>
        <p:nvGrpSpPr>
          <p:cNvPr id="18" name="组合 17"/>
          <p:cNvGrpSpPr/>
          <p:nvPr/>
        </p:nvGrpSpPr>
        <p:grpSpPr>
          <a:xfrm>
            <a:off x="6591300" y="1593850"/>
            <a:ext cx="3299460" cy="4206875"/>
            <a:chOff x="10380" y="2510"/>
            <a:chExt cx="5196" cy="6625"/>
          </a:xfrm>
        </p:grpSpPr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AFAFA">
                    <a:alpha val="100000"/>
                  </a:srgbClr>
                </a:clrFrom>
                <a:clrTo>
                  <a:srgbClr val="FAFAFA">
                    <a:alpha val="100000"/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0380" y="2510"/>
              <a:ext cx="5197" cy="3665"/>
            </a:xfrm>
            <a:prstGeom prst="rect">
              <a:avLst/>
            </a:prstGeom>
          </p:spPr>
        </p:pic>
        <p:pic>
          <p:nvPicPr>
            <p:cNvPr id="20" name="图片 19"/>
            <p:cNvPicPr>
              <a:picLocks noChangeAspect="1"/>
            </p:cNvPicPr>
            <p:nvPr/>
          </p:nvPicPr>
          <p:blipFill>
            <a:blip r:embed="rId5">
              <a:clrChange>
                <a:clrFrom>
                  <a:srgbClr val="FAFAFA">
                    <a:alpha val="100000"/>
                  </a:srgbClr>
                </a:clrFrom>
                <a:clrTo>
                  <a:srgbClr val="FAFAFA">
                    <a:alpha val="100000"/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0380" y="6175"/>
              <a:ext cx="5197" cy="2960"/>
            </a:xfrm>
            <a:prstGeom prst="rect">
              <a:avLst/>
            </a:prstGeom>
          </p:spPr>
        </p:pic>
      </p:grpSp>
      <p:sp>
        <p:nvSpPr>
          <p:cNvPr id="21" name="文本框 20"/>
          <p:cNvSpPr txBox="1"/>
          <p:nvPr/>
        </p:nvSpPr>
        <p:spPr>
          <a:xfrm>
            <a:off x="7064094" y="1139682"/>
            <a:ext cx="23544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kern="1200" cap="none" spc="0" normalizeH="0" baseline="0" noProof="0" dirty="0">
                <a:solidFill>
                  <a:srgbClr val="004578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</a:rPr>
              <a:t>排母</a:t>
            </a:r>
            <a:endParaRPr kumimoji="0" lang="en-US" altLang="zh-CN" sz="2400" b="1" i="0" kern="1200" cap="none" spc="0" normalizeH="0" baseline="0" noProof="0" dirty="0">
              <a:solidFill>
                <a:srgbClr val="004578"/>
              </a:solidFill>
              <a:latin typeface="HarmonyOS Sans SC" panose="00000500000000000000" pitchFamily="2" charset="-122"/>
              <a:ea typeface="HarmonyOS Sans SC" panose="00000500000000000000" pitchFamily="2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9210946" y="2757561"/>
            <a:ext cx="23544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kern="1200" cap="none" spc="0" normalizeH="0" baseline="0" noProof="0" dirty="0">
                <a:solidFill>
                  <a:srgbClr val="004578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</a:rPr>
              <a:t>单排</a:t>
            </a:r>
            <a:endParaRPr kumimoji="0" lang="en-US" altLang="zh-CN" sz="2400" b="1" i="0" kern="1200" cap="none" spc="0" normalizeH="0" baseline="0" noProof="0" dirty="0">
              <a:solidFill>
                <a:srgbClr val="004578"/>
              </a:solidFill>
              <a:latin typeface="HarmonyOS Sans SC" panose="00000500000000000000" pitchFamily="2" charset="-122"/>
              <a:ea typeface="HarmonyOS Sans SC" panose="00000500000000000000" pitchFamily="2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9210946" y="4484676"/>
            <a:ext cx="23544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b="1" dirty="0">
                <a:solidFill>
                  <a:srgbClr val="004578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</a:rPr>
              <a:t>双排</a:t>
            </a:r>
            <a:endParaRPr kumimoji="0" lang="en-US" altLang="zh-CN" sz="2400" b="1" i="0" kern="1200" cap="none" spc="0" normalizeH="0" baseline="0" noProof="0" dirty="0">
              <a:solidFill>
                <a:srgbClr val="004578"/>
              </a:solidFill>
              <a:latin typeface="HarmonyOS Sans SC" panose="00000500000000000000" pitchFamily="2" charset="-122"/>
              <a:ea typeface="HarmonyOS Sans SC" panose="00000500000000000000" pitchFamily="2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-129160" y="2327126"/>
            <a:ext cx="23544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kern="1200" cap="none" spc="0" normalizeH="0" baseline="0" noProof="0" dirty="0">
                <a:solidFill>
                  <a:srgbClr val="004578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</a:rPr>
              <a:t>单排直排针</a:t>
            </a:r>
            <a:endParaRPr kumimoji="0" lang="en-US" altLang="zh-CN" sz="2400" b="1" i="0" kern="1200" cap="none" spc="0" normalizeH="0" baseline="0" noProof="0" dirty="0">
              <a:solidFill>
                <a:srgbClr val="004578"/>
              </a:solidFill>
              <a:latin typeface="HarmonyOS Sans SC" panose="00000500000000000000" pitchFamily="2" charset="-122"/>
              <a:ea typeface="HarmonyOS Sans SC" panose="00000500000000000000" pitchFamily="2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-129160" y="4630471"/>
            <a:ext cx="23544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kern="1200" cap="none" spc="0" normalizeH="0" baseline="0" noProof="0" dirty="0">
                <a:solidFill>
                  <a:srgbClr val="004578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</a:rPr>
              <a:t>单排弯排针</a:t>
            </a:r>
            <a:endParaRPr kumimoji="0" lang="en-US" altLang="zh-CN" sz="2400" b="1" i="0" kern="1200" cap="none" spc="0" normalizeH="0" baseline="0" noProof="0" dirty="0">
              <a:solidFill>
                <a:srgbClr val="004578"/>
              </a:solidFill>
              <a:latin typeface="HarmonyOS Sans SC" panose="00000500000000000000" pitchFamily="2" charset="-122"/>
              <a:ea typeface="HarmonyOS Sans SC" panose="00000500000000000000" pitchFamily="2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8230" y="176639"/>
            <a:ext cx="1080000" cy="1080000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>
            <a:off x="129896" y="727350"/>
            <a:ext cx="9000000" cy="0"/>
          </a:xfrm>
          <a:prstGeom prst="line">
            <a:avLst/>
          </a:prstGeom>
          <a:ln w="38100">
            <a:solidFill>
              <a:srgbClr val="1C519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109102" y="64329"/>
            <a:ext cx="359664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元器件认识</a:t>
            </a:r>
            <a:r>
              <a:rPr lang="en-US" altLang="zh-CN" sz="3200" dirty="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-</a:t>
            </a:r>
            <a:r>
              <a:rPr lang="zh-CN" altLang="en-US" sz="3200" dirty="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连接件</a:t>
            </a:r>
            <a:endParaRPr lang="zh-CN" altLang="en-US" sz="3200" dirty="0">
              <a:solidFill>
                <a:srgbClr val="1C519A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grpSp>
        <p:nvGrpSpPr>
          <p:cNvPr id="2" name="组合 1"/>
          <p:cNvGrpSpPr/>
          <p:nvPr>
            <p:custDataLst>
              <p:tags r:id="rId2"/>
            </p:custDataLst>
          </p:nvPr>
        </p:nvGrpSpPr>
        <p:grpSpPr>
          <a:xfrm>
            <a:off x="244475" y="2036445"/>
            <a:ext cx="11729085" cy="3077210"/>
            <a:chOff x="385" y="3207"/>
            <a:chExt cx="18471" cy="4846"/>
          </a:xfrm>
        </p:grpSpPr>
        <p:pic>
          <p:nvPicPr>
            <p:cNvPr id="7" name="图片 6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4"/>
            <a:stretch>
              <a:fillRect/>
            </a:stretch>
          </p:blipFill>
          <p:spPr>
            <a:xfrm>
              <a:off x="385" y="3207"/>
              <a:ext cx="5932" cy="4846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6"/>
            <a:stretch>
              <a:fillRect/>
            </a:stretch>
          </p:blipFill>
          <p:spPr>
            <a:xfrm>
              <a:off x="6317" y="3217"/>
              <a:ext cx="6008" cy="4820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8"/>
            <a:stretch>
              <a:fillRect/>
            </a:stretch>
          </p:blipFill>
          <p:spPr>
            <a:xfrm>
              <a:off x="12326" y="3217"/>
              <a:ext cx="6530" cy="4836"/>
            </a:xfrm>
            <a:prstGeom prst="rect">
              <a:avLst/>
            </a:prstGeom>
          </p:spPr>
        </p:pic>
      </p:grpSp>
      <p:sp>
        <p:nvSpPr>
          <p:cNvPr id="8" name="文本框 7"/>
          <p:cNvSpPr txBox="1"/>
          <p:nvPr>
            <p:custDataLst>
              <p:tags r:id="rId9"/>
            </p:custDataLst>
          </p:nvPr>
        </p:nvSpPr>
        <p:spPr>
          <a:xfrm>
            <a:off x="950642" y="5262343"/>
            <a:ext cx="23544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kern="1200" cap="none" spc="0" normalizeH="0" baseline="0" noProof="0" dirty="0">
                <a:solidFill>
                  <a:srgbClr val="004578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</a:rPr>
              <a:t>母对母</a:t>
            </a:r>
            <a:endParaRPr kumimoji="0" lang="en-US" altLang="zh-CN" sz="2400" b="1" i="0" kern="1200" cap="none" spc="0" normalizeH="0" baseline="0" noProof="0" dirty="0">
              <a:solidFill>
                <a:srgbClr val="004578"/>
              </a:solidFill>
              <a:latin typeface="HarmonyOS Sans SC" panose="00000500000000000000" pitchFamily="2" charset="-122"/>
              <a:ea typeface="HarmonyOS Sans SC" panose="00000500000000000000" pitchFamily="2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10"/>
            </p:custDataLst>
          </p:nvPr>
        </p:nvSpPr>
        <p:spPr>
          <a:xfrm>
            <a:off x="4741842" y="5262343"/>
            <a:ext cx="23544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kern="1200" cap="none" spc="0" normalizeH="0" baseline="0" noProof="0" dirty="0">
                <a:solidFill>
                  <a:srgbClr val="004578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</a:rPr>
              <a:t>母对公</a:t>
            </a:r>
            <a:endParaRPr kumimoji="0" lang="en-US" altLang="zh-CN" sz="2400" b="1" i="0" kern="1200" cap="none" spc="0" normalizeH="0" baseline="0" noProof="0" dirty="0">
              <a:solidFill>
                <a:srgbClr val="004578"/>
              </a:solidFill>
              <a:latin typeface="HarmonyOS Sans SC" panose="00000500000000000000" pitchFamily="2" charset="-122"/>
              <a:ea typeface="HarmonyOS Sans SC" panose="00000500000000000000" pitchFamily="2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11"/>
            </p:custDataLst>
          </p:nvPr>
        </p:nvSpPr>
        <p:spPr>
          <a:xfrm>
            <a:off x="8722665" y="5262343"/>
            <a:ext cx="23544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b="1" noProof="0" dirty="0">
                <a:solidFill>
                  <a:srgbClr val="004578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</a:rPr>
              <a:t>公</a:t>
            </a:r>
            <a:r>
              <a:rPr kumimoji="0" lang="zh-CN" altLang="en-US" sz="2400" b="1" i="0" kern="1200" cap="none" spc="0" normalizeH="0" baseline="0" noProof="0" dirty="0">
                <a:solidFill>
                  <a:srgbClr val="004578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</a:rPr>
              <a:t>对公</a:t>
            </a:r>
            <a:endParaRPr kumimoji="0" lang="en-US" altLang="zh-CN" sz="2400" b="1" i="0" kern="1200" cap="none" spc="0" normalizeH="0" baseline="0" noProof="0" dirty="0">
              <a:solidFill>
                <a:srgbClr val="004578"/>
              </a:solidFill>
              <a:latin typeface="HarmonyOS Sans SC" panose="00000500000000000000" pitchFamily="2" charset="-122"/>
              <a:ea typeface="HarmonyOS Sans SC" panose="00000500000000000000" pitchFamily="2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12"/>
            </p:custDataLst>
          </p:nvPr>
        </p:nvSpPr>
        <p:spPr>
          <a:xfrm>
            <a:off x="4741592" y="1097378"/>
            <a:ext cx="23544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kern="1200" cap="none" spc="0" normalizeH="0" baseline="0" noProof="0" dirty="0">
                <a:solidFill>
                  <a:srgbClr val="004578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</a:rPr>
              <a:t>杜邦线</a:t>
            </a:r>
            <a:endParaRPr kumimoji="0" lang="zh-CN" altLang="en-US" sz="2400" b="1" i="0" kern="1200" cap="none" spc="0" normalizeH="0" baseline="0" noProof="0" dirty="0">
              <a:solidFill>
                <a:srgbClr val="004578"/>
              </a:solidFill>
              <a:latin typeface="HarmonyOS Sans SC" panose="00000500000000000000" pitchFamily="2" charset="-122"/>
              <a:ea typeface="HarmonyOS Sans SC" panose="00000500000000000000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8230" y="176639"/>
            <a:ext cx="1080000" cy="1080000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>
            <a:off x="129896" y="727350"/>
            <a:ext cx="9000000" cy="0"/>
          </a:xfrm>
          <a:prstGeom prst="line">
            <a:avLst/>
          </a:prstGeom>
          <a:ln w="38100">
            <a:solidFill>
              <a:srgbClr val="1C519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109102" y="64329"/>
            <a:ext cx="22148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元器件认识</a:t>
            </a:r>
            <a:endParaRPr lang="zh-CN" altLang="en-US" sz="3200" dirty="0">
              <a:solidFill>
                <a:srgbClr val="1C519A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graphicFrame>
        <p:nvGraphicFramePr>
          <p:cNvPr id="7" name="对象 6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6073458" y="3321050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" r:id="rId2" imgW="114300" imgH="215900" progId="Equation.KSEE3">
                  <p:embed/>
                </p:oleObj>
              </mc:Choice>
              <mc:Fallback>
                <p:oleObj name="" r:id="rId2" imgW="114300" imgH="215900" progId="Equation.KSEE3">
                  <p:embed/>
                  <p:pic>
                    <p:nvPicPr>
                      <p:cNvPr id="0" name="对象 6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073458" y="3321050"/>
                        <a:ext cx="1143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345" y="1522730"/>
            <a:ext cx="2190115" cy="220281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5">
            <a:clrChange>
              <a:clrFrom>
                <a:srgbClr val="FAFAFA">
                  <a:alpha val="100000"/>
                </a:srgbClr>
              </a:clrFrom>
              <a:clrTo>
                <a:srgbClr val="FAFAFA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99745" y="4031615"/>
            <a:ext cx="2501265" cy="147637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3225" y="2045335"/>
            <a:ext cx="3342640" cy="168021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7">
            <a:clrChange>
              <a:clrFrom>
                <a:srgbClr val="FAFAFA">
                  <a:alpha val="100000"/>
                </a:srgbClr>
              </a:clrFrom>
              <a:clrTo>
                <a:srgbClr val="FAFAFA">
                  <a:alpha val="100000"/>
                  <a:alpha val="0"/>
                </a:srgbClr>
              </a:clrTo>
            </a:clrChange>
          </a:blip>
          <a:srcRect l="20542" t="13814" b="3973"/>
          <a:stretch>
            <a:fillRect/>
          </a:stretch>
        </p:blipFill>
        <p:spPr>
          <a:xfrm>
            <a:off x="2597785" y="1099185"/>
            <a:ext cx="3211830" cy="2626360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01465" y="4031615"/>
            <a:ext cx="3790950" cy="1999615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46269" y="1433514"/>
            <a:ext cx="2674257" cy="2612701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323195" y="3321050"/>
            <a:ext cx="1807845" cy="1640840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11"/>
          <a:srcRect l="2742" t="4068"/>
          <a:stretch>
            <a:fillRect/>
          </a:stretch>
        </p:blipFill>
        <p:spPr>
          <a:xfrm>
            <a:off x="9847580" y="5176520"/>
            <a:ext cx="2229485" cy="1497330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12">
            <a:clrChange>
              <a:clrFrom>
                <a:srgbClr val="FAFAFA">
                  <a:alpha val="100000"/>
                </a:srgbClr>
              </a:clrFrom>
              <a:clrTo>
                <a:srgbClr val="FAFAFA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302625" y="4222750"/>
            <a:ext cx="2300605" cy="1242060"/>
          </a:xfrm>
          <a:prstGeom prst="rect">
            <a:avLst/>
          </a:prstGeom>
        </p:spPr>
      </p:pic>
      <p:sp>
        <p:nvSpPr>
          <p:cNvPr id="25" name="文本框 24"/>
          <p:cNvSpPr txBox="1"/>
          <p:nvPr/>
        </p:nvSpPr>
        <p:spPr>
          <a:xfrm>
            <a:off x="2802526" y="176351"/>
            <a:ext cx="3193108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kern="1200" cap="none" spc="0" normalizeH="0" baseline="0" noProof="0" dirty="0">
                <a:solidFill>
                  <a:schemeClr val="tx1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</a:rPr>
              <a:t>关注：值、封装</a:t>
            </a:r>
            <a:endParaRPr kumimoji="0" lang="zh-CN" altLang="en-US" sz="2000" b="1" kern="1200" cap="none" spc="0" normalizeH="0" baseline="0" noProof="0" dirty="0">
              <a:solidFill>
                <a:schemeClr val="tx1"/>
              </a:solidFill>
              <a:latin typeface="HarmonyOS Sans SC" panose="00000500000000000000" pitchFamily="2" charset="-122"/>
              <a:ea typeface="HarmonyOS Sans SC" panose="00000500000000000000" pitchFamily="2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695325" y="1077928"/>
            <a:ext cx="23544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kern="1200" cap="none" spc="0" normalizeH="0" baseline="0" noProof="0" dirty="0">
                <a:solidFill>
                  <a:srgbClr val="004578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</a:rPr>
              <a:t>电阻</a:t>
            </a:r>
            <a:endParaRPr kumimoji="0" lang="en-US" altLang="zh-CN" sz="2400" b="1" i="0" kern="1200" cap="none" spc="0" normalizeH="0" baseline="0" noProof="0" dirty="0">
              <a:solidFill>
                <a:srgbClr val="004578"/>
              </a:solidFill>
              <a:latin typeface="HarmonyOS Sans SC" panose="00000500000000000000" pitchFamily="2" charset="-122"/>
              <a:ea typeface="HarmonyOS Sans SC" panose="00000500000000000000" pitchFamily="2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4918765" y="1061142"/>
            <a:ext cx="23544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kern="1200" cap="none" spc="0" normalizeH="0" baseline="0" noProof="0" dirty="0">
                <a:solidFill>
                  <a:srgbClr val="004578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</a:rPr>
              <a:t>电容</a:t>
            </a:r>
            <a:endParaRPr kumimoji="0" lang="en-US" altLang="zh-CN" sz="2400" b="1" i="0" kern="1200" cap="none" spc="0" normalizeH="0" baseline="0" noProof="0" dirty="0">
              <a:solidFill>
                <a:srgbClr val="004578"/>
              </a:solidFill>
              <a:latin typeface="HarmonyOS Sans SC" panose="00000500000000000000" pitchFamily="2" charset="-122"/>
              <a:ea typeface="HarmonyOS Sans SC" panose="00000500000000000000" pitchFamily="2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8946399" y="1055398"/>
            <a:ext cx="23544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kern="1200" cap="none" spc="0" normalizeH="0" baseline="0" noProof="0" dirty="0">
                <a:solidFill>
                  <a:srgbClr val="004578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</a:rPr>
              <a:t>电感</a:t>
            </a:r>
            <a:endParaRPr kumimoji="0" lang="en-US" altLang="zh-CN" sz="2400" b="1" i="0" kern="1200" cap="none" spc="0" normalizeH="0" baseline="0" noProof="0" dirty="0">
              <a:solidFill>
                <a:srgbClr val="004578"/>
              </a:solidFill>
              <a:latin typeface="HarmonyOS Sans SC" panose="00000500000000000000" pitchFamily="2" charset="-122"/>
              <a:ea typeface="HarmonyOS Sans SC" panose="00000500000000000000" pitchFamily="2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44450" y="3455035"/>
            <a:ext cx="15665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直插绕线电阻</a:t>
            </a:r>
            <a:endParaRPr lang="zh-CN" altLang="en-US">
              <a:solidFill>
                <a:srgbClr val="1C519A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71450" y="5866130"/>
            <a:ext cx="15665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贴片电阻</a:t>
            </a:r>
            <a:endParaRPr lang="zh-CN" altLang="en-US">
              <a:solidFill>
                <a:srgbClr val="1C519A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4884420" y="6234430"/>
            <a:ext cx="27857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贴片叠层电容(MLCC)</a:t>
            </a:r>
            <a:endParaRPr lang="zh-CN" altLang="en-US">
              <a:solidFill>
                <a:srgbClr val="1C519A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8684260" y="6361430"/>
            <a:ext cx="20358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贴片功率电感</a:t>
            </a:r>
            <a:endParaRPr lang="zh-CN" altLang="en-US">
              <a:solidFill>
                <a:srgbClr val="1C519A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10668000" y="4717415"/>
            <a:ext cx="20358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工字绕线电感</a:t>
            </a:r>
            <a:endParaRPr lang="zh-CN" altLang="en-US" dirty="0">
              <a:solidFill>
                <a:srgbClr val="1C519A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8902700" y="1433830"/>
            <a:ext cx="20358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直插绕线电感</a:t>
            </a:r>
            <a:endParaRPr lang="zh-CN" altLang="en-US">
              <a:solidFill>
                <a:srgbClr val="1C519A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8166735" y="5464810"/>
            <a:ext cx="15887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贴片叠层电感</a:t>
            </a:r>
            <a:endParaRPr lang="zh-CN" altLang="en-US">
              <a:solidFill>
                <a:srgbClr val="1C519A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5809615" y="1677035"/>
            <a:ext cx="27857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直插叠层电容(MLCC)</a:t>
            </a:r>
            <a:endParaRPr lang="zh-CN" altLang="en-US">
              <a:solidFill>
                <a:srgbClr val="1C519A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2697480" y="3725545"/>
            <a:ext cx="27857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直插电解电容</a:t>
            </a:r>
            <a:endParaRPr lang="zh-CN" altLang="en-US">
              <a:solidFill>
                <a:srgbClr val="1C519A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pic>
        <p:nvPicPr>
          <p:cNvPr id="35" name="图片 34"/>
          <p:cNvPicPr>
            <a:picLocks noChangeAspect="1"/>
          </p:cNvPicPr>
          <p:nvPr/>
        </p:nvPicPr>
        <p:blipFill>
          <a:blip r:embed="rId13">
            <a:clrChange>
              <a:clrFrom>
                <a:srgbClr val="FAFAFA">
                  <a:alpha val="100000"/>
                </a:srgbClr>
              </a:clrFrom>
              <a:clrTo>
                <a:srgbClr val="FAFAFA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908175" y="4681220"/>
            <a:ext cx="2084070" cy="1730375"/>
          </a:xfrm>
          <a:prstGeom prst="rect">
            <a:avLst/>
          </a:prstGeom>
        </p:spPr>
      </p:pic>
      <p:sp>
        <p:nvSpPr>
          <p:cNvPr id="36" name="文本框 35"/>
          <p:cNvSpPr txBox="1"/>
          <p:nvPr/>
        </p:nvSpPr>
        <p:spPr>
          <a:xfrm>
            <a:off x="2004060" y="6411595"/>
            <a:ext cx="19881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多圈精密电位器</a:t>
            </a:r>
            <a:endParaRPr lang="zh-CN" altLang="en-US">
              <a:solidFill>
                <a:srgbClr val="1C519A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  <p:bldP spid="27" grpId="0"/>
      <p:bldP spid="2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8230" y="176639"/>
            <a:ext cx="1080000" cy="1080000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>
            <a:off x="129896" y="727350"/>
            <a:ext cx="9000000" cy="0"/>
          </a:xfrm>
          <a:prstGeom prst="line">
            <a:avLst/>
          </a:prstGeom>
          <a:ln w="38100">
            <a:solidFill>
              <a:srgbClr val="1C519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109102" y="64329"/>
            <a:ext cx="359664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元器件认识</a:t>
            </a:r>
            <a:r>
              <a:rPr lang="en-US" altLang="zh-CN" sz="3200" dirty="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-</a:t>
            </a:r>
            <a:r>
              <a:rPr lang="zh-CN" altLang="en-US" sz="3200" dirty="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稳压器</a:t>
            </a:r>
            <a:endParaRPr lang="zh-CN" altLang="en-US" sz="3200" dirty="0">
              <a:solidFill>
                <a:srgbClr val="1C519A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4974" y="2001731"/>
            <a:ext cx="4156398" cy="3931586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3580429" y="841140"/>
            <a:ext cx="315296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b="1" dirty="0">
                <a:solidFill>
                  <a:srgbClr val="004578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</a:rPr>
              <a:t>LM317</a:t>
            </a:r>
            <a:endParaRPr lang="en-US" altLang="zh-CN" sz="2400" b="1" dirty="0">
              <a:solidFill>
                <a:srgbClr val="004578"/>
              </a:solidFill>
              <a:latin typeface="HarmonyOS Sans SC" panose="00000500000000000000" pitchFamily="2" charset="-122"/>
              <a:ea typeface="HarmonyOS Sans SC" panose="00000500000000000000" pitchFamily="2" charset="-122"/>
            </a:endParaRPr>
          </a:p>
          <a:p>
            <a:pPr marR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b="1" dirty="0">
                <a:solidFill>
                  <a:srgbClr val="004578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</a:rPr>
              <a:t>正压三端稳压器件</a:t>
            </a:r>
            <a:endParaRPr kumimoji="0" lang="zh-CN" altLang="en-US" sz="2400" b="0" i="0" kern="1200" cap="none" spc="0" normalizeH="0" baseline="0" noProof="0" dirty="0">
              <a:solidFill>
                <a:srgbClr val="004578"/>
              </a:solidFill>
              <a:latin typeface="HarmonyOS Sans SC" panose="00000500000000000000" pitchFamily="2" charset="-122"/>
              <a:ea typeface="HarmonyOS Sans SC" panose="00000500000000000000" pitchFamily="2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8230" y="176639"/>
            <a:ext cx="1080000" cy="1080000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>
            <a:off x="129896" y="727350"/>
            <a:ext cx="9000000" cy="0"/>
          </a:xfrm>
          <a:prstGeom prst="line">
            <a:avLst/>
          </a:prstGeom>
          <a:ln w="38100">
            <a:solidFill>
              <a:srgbClr val="1C519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109102" y="64329"/>
            <a:ext cx="22148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元器件认识</a:t>
            </a:r>
            <a:endParaRPr lang="zh-CN" altLang="en-US" sz="3200" dirty="0">
              <a:solidFill>
                <a:srgbClr val="1C519A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3225" y="1474276"/>
            <a:ext cx="8557325" cy="4850859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09220" y="800100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80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微处理器（</a:t>
            </a:r>
            <a:r>
              <a:rPr lang="en-US" altLang="zh-CN" sz="280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MCU/</a:t>
            </a:r>
            <a:r>
              <a:rPr lang="zh-CN" altLang="en-US" sz="280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单片机）</a:t>
            </a:r>
            <a:endParaRPr lang="zh-CN" altLang="en-US" sz="2800">
              <a:solidFill>
                <a:srgbClr val="1C519A"/>
              </a:solidFill>
              <a:latin typeface="华文中宋" panose="02010600040101010101" pitchFamily="2" charset="-122"/>
              <a:ea typeface="华文中宋" panose="0201060004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8230" y="176639"/>
            <a:ext cx="1080000" cy="1080000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>
            <a:off x="129896" y="727350"/>
            <a:ext cx="9000000" cy="0"/>
          </a:xfrm>
          <a:prstGeom prst="line">
            <a:avLst/>
          </a:prstGeom>
          <a:ln w="38100">
            <a:solidFill>
              <a:srgbClr val="1C519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109102" y="64329"/>
            <a:ext cx="22148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元器件认识</a:t>
            </a:r>
            <a:endParaRPr lang="zh-CN" altLang="en-US" sz="3200" dirty="0">
              <a:solidFill>
                <a:srgbClr val="1C519A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4385" y="2073035"/>
            <a:ext cx="2579826" cy="2176903"/>
          </a:xfrm>
          <a:prstGeom prst="rect">
            <a:avLst/>
          </a:prstGeom>
        </p:spPr>
      </p:pic>
      <p:sp>
        <p:nvSpPr>
          <p:cNvPr id="11" name="文本框 10"/>
          <p:cNvSpPr txBox="1"/>
          <p:nvPr>
            <p:custDataLst>
              <p:tags r:id="rId3"/>
            </p:custDataLst>
          </p:nvPr>
        </p:nvSpPr>
        <p:spPr>
          <a:xfrm>
            <a:off x="4270279" y="4554458"/>
            <a:ext cx="235447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kern="1200" cap="none" spc="0" normalizeH="0" baseline="0" noProof="0" dirty="0">
                <a:solidFill>
                  <a:srgbClr val="004578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</a:rPr>
              <a:t>OLED</a:t>
            </a:r>
            <a:r>
              <a:rPr kumimoji="0" lang="zh-CN" altLang="en-US" sz="2400" b="1" i="0" kern="1200" cap="none" spc="0" normalizeH="0" baseline="0" noProof="0" dirty="0">
                <a:solidFill>
                  <a:srgbClr val="004578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</a:rPr>
              <a:t>屏幕</a:t>
            </a:r>
            <a:endParaRPr kumimoji="0" lang="en-US" altLang="zh-CN" sz="2400" b="1" i="0" kern="1200" cap="none" spc="0" normalizeH="0" baseline="0" noProof="0" dirty="0">
              <a:solidFill>
                <a:srgbClr val="004578"/>
              </a:solidFill>
              <a:latin typeface="HarmonyOS Sans SC" panose="00000500000000000000" pitchFamily="2" charset="-122"/>
              <a:ea typeface="HarmonyOS Sans SC" panose="00000500000000000000" pitchFamily="2" charset="-122"/>
            </a:endParaRPr>
          </a:p>
          <a:p>
            <a:pPr marR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b="1" dirty="0">
                <a:solidFill>
                  <a:srgbClr val="004578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</a:rPr>
              <a:t>I2C</a:t>
            </a:r>
            <a:r>
              <a:rPr lang="zh-CN" altLang="en-US" sz="2400" b="1" dirty="0">
                <a:solidFill>
                  <a:srgbClr val="004578"/>
                </a:solidFill>
                <a:latin typeface="HarmonyOS Sans SC" panose="00000500000000000000" pitchFamily="2" charset="-122"/>
                <a:ea typeface="HarmonyOS Sans SC" panose="00000500000000000000" pitchFamily="2" charset="-122"/>
              </a:rPr>
              <a:t>协议</a:t>
            </a:r>
            <a:endParaRPr kumimoji="0" lang="en-US" altLang="zh-CN" sz="2400" b="1" i="0" kern="1200" cap="none" spc="0" normalizeH="0" baseline="0" noProof="0" dirty="0">
              <a:solidFill>
                <a:srgbClr val="004578"/>
              </a:solidFill>
              <a:latin typeface="HarmonyOS Sans SC" panose="00000500000000000000" pitchFamily="2" charset="-122"/>
              <a:ea typeface="HarmonyOS Sans SC" panose="00000500000000000000" pitchFamily="2" charset="-122"/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4359767" y="5633225"/>
            <a:ext cx="2239010" cy="0"/>
          </a:xfrm>
          <a:prstGeom prst="line">
            <a:avLst/>
          </a:prstGeom>
          <a:ln w="57150">
            <a:solidFill>
              <a:srgbClr val="1C519A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8230" y="176639"/>
            <a:ext cx="1080000" cy="1080000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>
            <a:off x="129896" y="727350"/>
            <a:ext cx="9000000" cy="0"/>
          </a:xfrm>
          <a:prstGeom prst="line">
            <a:avLst/>
          </a:prstGeom>
          <a:ln w="38100">
            <a:solidFill>
              <a:srgbClr val="1C519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109102" y="64329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题目解析与总体架构</a:t>
            </a:r>
            <a:endParaRPr lang="zh-CN" altLang="en-US" sz="3200" dirty="0">
              <a:solidFill>
                <a:srgbClr val="1C519A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1283" y="1044726"/>
            <a:ext cx="1229947" cy="1037851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433" y="2759574"/>
            <a:ext cx="1097196" cy="1037851"/>
          </a:xfrm>
          <a:prstGeom prst="rect">
            <a:avLst/>
          </a:prstGeom>
        </p:spPr>
      </p:pic>
      <p:sp>
        <p:nvSpPr>
          <p:cNvPr id="30" name="文本框 29"/>
          <p:cNvSpPr txBox="1"/>
          <p:nvPr/>
        </p:nvSpPr>
        <p:spPr>
          <a:xfrm>
            <a:off x="6133994" y="1478006"/>
            <a:ext cx="5991803" cy="406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66700" algn="just">
              <a:buNone/>
            </a:pPr>
            <a:r>
              <a:rPr lang="en-US" altLang="zh-CN" sz="2000" b="1" kern="100" dirty="0"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lang="zh-CN" altLang="en-US" sz="2400" b="1" kern="1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基础</a:t>
            </a:r>
            <a:r>
              <a:rPr lang="zh-CN" altLang="zh-CN" sz="2400" b="1" kern="100" dirty="0"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要求</a:t>
            </a:r>
            <a:endParaRPr lang="zh-CN" altLang="zh-CN" sz="2400" kern="100" dirty="0">
              <a:effectLst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lvl="1" algn="just"/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1.  </a:t>
            </a: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直流电源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12V</a:t>
            </a: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供电，稳压芯片正常输出</a:t>
            </a:r>
            <a:r>
              <a:rPr lang="en-US" altLang="zh-CN" kern="1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3.3V</a:t>
            </a: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LED</a:t>
            </a: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以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1Hz</a:t>
            </a: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频率闪烁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次后熄灭，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OLED</a:t>
            </a: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显示屏显示启动初始化画面，蜂鸣器响一声作为指示；</a:t>
            </a:r>
            <a:endParaRPr lang="en-US" altLang="zh-CN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/>
            <a:endParaRPr lang="zh-CN" altLang="en-US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/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2.  </a:t>
            </a: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通过按键启动或停止旋转，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OLED</a:t>
            </a: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显示屏显示此时指针指示的区域；</a:t>
            </a:r>
            <a:endParaRPr lang="en-US" altLang="zh-CN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/>
            <a:endParaRPr lang="zh-CN" altLang="en-US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/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3.  </a:t>
            </a: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通过按键设定指针旋转速度和旋转圈数，匀速旋转到达指定圈数后，蜂鸣器响一声作为指示；</a:t>
            </a:r>
            <a:endParaRPr lang="en-US" altLang="zh-CN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/>
            <a:endParaRPr lang="zh-CN" altLang="en-US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/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4.  </a:t>
            </a: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通过按键设置指定区域（多圈指定区域，例：一圈又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12</a:t>
            </a: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个区域），启动旋转后，指针到达指定区域后，蜂鸣器响一声作为指示。</a:t>
            </a:r>
            <a:endParaRPr lang="zh-CN" altLang="en-US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2166" y="2204863"/>
            <a:ext cx="5089842" cy="3446746"/>
          </a:xfrm>
          <a:prstGeom prst="rect">
            <a:avLst/>
          </a:prstGeom>
        </p:spPr>
      </p:pic>
      <p:cxnSp>
        <p:nvCxnSpPr>
          <p:cNvPr id="8" name="直接箭头连接符 7"/>
          <p:cNvCxnSpPr/>
          <p:nvPr/>
        </p:nvCxnSpPr>
        <p:spPr>
          <a:xfrm>
            <a:off x="129896" y="4007224"/>
            <a:ext cx="13627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400771" y="4105090"/>
            <a:ext cx="820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供电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8230" y="176639"/>
            <a:ext cx="1080000" cy="1080000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>
            <a:off x="129896" y="727350"/>
            <a:ext cx="9000000" cy="0"/>
          </a:xfrm>
          <a:prstGeom prst="line">
            <a:avLst/>
          </a:prstGeom>
          <a:ln w="38100">
            <a:solidFill>
              <a:srgbClr val="1C519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109102" y="64329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题目解析与总体架构</a:t>
            </a:r>
            <a:endParaRPr lang="zh-CN" altLang="en-US" sz="3200" dirty="0">
              <a:solidFill>
                <a:srgbClr val="1C519A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6589059" y="991928"/>
            <a:ext cx="5473045" cy="54476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kern="1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发挥部分</a:t>
            </a:r>
            <a:endParaRPr lang="en-US" altLang="zh-CN" sz="2400" b="1" kern="100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指针到达指定区域后，经过一定人为扰动，指针仍能回到指定区域，响应时间控制在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1s</a:t>
            </a: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内；</a:t>
            </a:r>
            <a:endParaRPr lang="zh-CN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indent="-342900">
              <a:buAutoNum type="arabicPeriod" startAt="2"/>
            </a:pP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旋转旋转编码器，指针同步旋转；</a:t>
            </a:r>
            <a:endParaRPr lang="zh-CN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3.  </a:t>
            </a: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实现“作弊”功能，使指针旋转速度达到最大，旋转起来后设定停止区域，使其“自然”停在设定区域；</a:t>
            </a:r>
            <a:endParaRPr lang="zh-CN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4.  </a:t>
            </a: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其他（每完成一项得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分）：</a:t>
            </a:r>
            <a:endParaRPr lang="zh-CN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0"/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4.1 </a:t>
            </a: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实现速度环（在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1.3</a:t>
            </a: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的基础上实现可以测出指针旋转速度，通过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OLED</a:t>
            </a: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显示，并定量控制速度）；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0"/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4.2 </a:t>
            </a: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有多级菜单；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0"/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4.3 </a:t>
            </a: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使用按键越少得分越高（不使用按键（不包括旋转编码器）得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分，使用一个扣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分，扣完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分为止）；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0"/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4.4 OLED</a:t>
            </a: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显示屏图形化显示位置变化（如圆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红点）；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0"/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4.5 OLED</a:t>
            </a: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显示屏图形化显示速度变化（如波形）；蜂鸣器演奏歌曲作为背景音乐（无源蜂鸣器自行准备）。</a:t>
            </a:r>
            <a:endParaRPr lang="zh-CN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1283" y="1044726"/>
            <a:ext cx="1229947" cy="1037851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433" y="2759574"/>
            <a:ext cx="1097196" cy="1037851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2166" y="2204863"/>
            <a:ext cx="5089842" cy="3446746"/>
          </a:xfrm>
          <a:prstGeom prst="rect">
            <a:avLst/>
          </a:prstGeom>
        </p:spPr>
      </p:pic>
      <p:cxnSp>
        <p:nvCxnSpPr>
          <p:cNvPr id="9" name="直接箭头连接符 8"/>
          <p:cNvCxnSpPr/>
          <p:nvPr/>
        </p:nvCxnSpPr>
        <p:spPr>
          <a:xfrm>
            <a:off x="129896" y="4007224"/>
            <a:ext cx="13627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400771" y="4105090"/>
            <a:ext cx="820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供电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8230" y="176639"/>
            <a:ext cx="1080000" cy="1080000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>
            <a:off x="129896" y="727350"/>
            <a:ext cx="9000000" cy="0"/>
          </a:xfrm>
          <a:prstGeom prst="line">
            <a:avLst/>
          </a:prstGeom>
          <a:ln w="38100">
            <a:solidFill>
              <a:srgbClr val="1C519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109102" y="64329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硬件部分</a:t>
            </a:r>
            <a:endParaRPr lang="zh-CN" altLang="en-US" sz="3200" dirty="0">
              <a:solidFill>
                <a:srgbClr val="1C519A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414430" y="1400164"/>
            <a:ext cx="54863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如何上手一款没用过的芯片？</a:t>
            </a:r>
            <a:endParaRPr lang="zh-CN" altLang="en-US" sz="32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414430" y="2240893"/>
            <a:ext cx="54863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数据手册（</a:t>
            </a:r>
            <a:r>
              <a:rPr lang="en-US" altLang="zh-CN" sz="3200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Datasheet</a:t>
            </a:r>
            <a:r>
              <a:rPr lang="zh-CN" altLang="en-US" sz="3200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）</a:t>
            </a:r>
            <a:endParaRPr lang="zh-CN" altLang="en-US" sz="3200" b="1" dirty="0">
              <a:solidFill>
                <a:srgbClr val="C0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414430" y="3081622"/>
            <a:ext cx="54863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在哪里找数据手册？</a:t>
            </a:r>
            <a:endParaRPr lang="zh-CN" altLang="en-US" sz="32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2414429" y="3845859"/>
            <a:ext cx="54863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个人推荐两个站点：</a:t>
            </a:r>
            <a:endParaRPr lang="zh-CN" altLang="en-US" sz="2400" b="1" dirty="0">
              <a:solidFill>
                <a:srgbClr val="C0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2414429" y="4486986"/>
            <a:ext cx="59502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半导小芯： </a:t>
            </a:r>
            <a:r>
              <a:rPr lang="en-GB" altLang="zh-CN" sz="2400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https://www.semiee.com/</a:t>
            </a:r>
            <a:endParaRPr lang="zh-CN" altLang="en-US" sz="2400" b="1" dirty="0">
              <a:solidFill>
                <a:srgbClr val="C0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2414429" y="5096882"/>
            <a:ext cx="59502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立创商城： </a:t>
            </a:r>
            <a:r>
              <a:rPr lang="en-GB" altLang="zh-CN" sz="2400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https://www.szlcsc.com/</a:t>
            </a:r>
            <a:endParaRPr lang="zh-CN" altLang="en-US" sz="2400" b="1" dirty="0">
              <a:solidFill>
                <a:srgbClr val="C0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8230" y="176639"/>
            <a:ext cx="1080000" cy="1080000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>
            <a:off x="129896" y="727350"/>
            <a:ext cx="9000000" cy="0"/>
          </a:xfrm>
          <a:prstGeom prst="line">
            <a:avLst/>
          </a:prstGeom>
          <a:ln w="38100">
            <a:solidFill>
              <a:srgbClr val="1C519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109102" y="64329"/>
            <a:ext cx="403668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硬件部分</a:t>
            </a:r>
            <a:r>
              <a:rPr lang="en-US" altLang="zh-CN" sz="3200" dirty="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——LM317</a:t>
            </a:r>
            <a:endParaRPr lang="zh-CN" altLang="en-US" sz="3200" dirty="0">
              <a:solidFill>
                <a:srgbClr val="1C519A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544393" y="5552152"/>
            <a:ext cx="1141676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进一步了解线性稳压器工作原理：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怎么把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12V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电降到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5V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？直流线性稳压降压电源原理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爱上半导体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GB" altLang="zh-CN" sz="2000" dirty="0">
                <a:latin typeface="宋体" panose="02010600030101010101" pitchFamily="2" charset="-122"/>
                <a:ea typeface="宋体" panose="02010600030101010101" pitchFamily="2" charset="-122"/>
                <a:hlinkClick r:id="rId2"/>
              </a:rPr>
              <a:t>https://www.bilibili.com/video/BV1t64y1b7w7/</a:t>
            </a:r>
            <a:endParaRPr lang="en-US" altLang="zh-CN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8607" y="1256639"/>
            <a:ext cx="4343400" cy="330517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8230" y="176639"/>
            <a:ext cx="1080000" cy="1080000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>
            <a:off x="129896" y="727350"/>
            <a:ext cx="9000000" cy="0"/>
          </a:xfrm>
          <a:prstGeom prst="line">
            <a:avLst/>
          </a:prstGeom>
          <a:ln w="38100">
            <a:solidFill>
              <a:srgbClr val="1C519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109102" y="64329"/>
            <a:ext cx="510107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硬件部分</a:t>
            </a:r>
            <a:r>
              <a:rPr lang="en-US" altLang="zh-CN" sz="3200" dirty="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——N20</a:t>
            </a:r>
            <a:r>
              <a:rPr lang="zh-CN" altLang="en-US" sz="3200" dirty="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减速电机</a:t>
            </a:r>
            <a:endParaRPr lang="zh-CN" altLang="en-US" sz="3200" dirty="0">
              <a:solidFill>
                <a:srgbClr val="1C519A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1109" y="1645849"/>
            <a:ext cx="3121726" cy="4162301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9755284" y="5927118"/>
            <a:ext cx="181520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电机装配图</a:t>
            </a:r>
            <a:endParaRPr lang="zh-CN" altLang="en-US" sz="20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9164" y="1190679"/>
            <a:ext cx="3316549" cy="531584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2626157"/>
            <a:ext cx="4934857" cy="169671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8230" y="176639"/>
            <a:ext cx="1080000" cy="1080000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>
            <a:off x="129896" y="727350"/>
            <a:ext cx="9000000" cy="0"/>
          </a:xfrm>
          <a:prstGeom prst="line">
            <a:avLst/>
          </a:prstGeom>
          <a:ln w="38100">
            <a:solidFill>
              <a:srgbClr val="1C519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109102" y="64329"/>
            <a:ext cx="4288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软件部分</a:t>
            </a:r>
            <a:r>
              <a:rPr lang="en-US" altLang="zh-CN" sz="3200" dirty="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——</a:t>
            </a:r>
            <a:r>
              <a:rPr lang="zh-CN" altLang="en-US" sz="3200" dirty="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电机驱动</a:t>
            </a:r>
            <a:endParaRPr lang="zh-CN" altLang="en-US" sz="3200" dirty="0">
              <a:solidFill>
                <a:srgbClr val="1C519A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6673" y="1008084"/>
            <a:ext cx="3901170" cy="4970489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4973732" y="6130650"/>
            <a:ext cx="16793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接口说明</a:t>
            </a:r>
            <a:endParaRPr lang="zh-CN" altLang="en-US" sz="20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8230" y="176639"/>
            <a:ext cx="1080000" cy="1080000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>
            <a:off x="129896" y="727350"/>
            <a:ext cx="9000000" cy="0"/>
          </a:xfrm>
          <a:prstGeom prst="line">
            <a:avLst/>
          </a:prstGeom>
          <a:ln w="38100">
            <a:solidFill>
              <a:srgbClr val="1C519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109102" y="64329"/>
            <a:ext cx="369844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软件部分</a:t>
            </a:r>
            <a:r>
              <a:rPr lang="en-US" altLang="zh-CN" sz="3200" dirty="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——GPIO</a:t>
            </a:r>
            <a:endParaRPr lang="zh-CN" altLang="en-US" sz="3200" dirty="0">
              <a:solidFill>
                <a:srgbClr val="1C519A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6358" y="1256639"/>
            <a:ext cx="7534275" cy="439102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4728029" y="5776842"/>
            <a:ext cx="186871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GPIO</a:t>
            </a:r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电路图</a:t>
            </a:r>
            <a:endParaRPr lang="zh-CN" altLang="en-US" sz="2000" dirty="0">
              <a:latin typeface="华文中宋" panose="02010600040101010101" pitchFamily="2" charset="-122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8230" y="176639"/>
            <a:ext cx="1080000" cy="1080000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>
            <a:off x="129896" y="727350"/>
            <a:ext cx="9000000" cy="0"/>
          </a:xfrm>
          <a:prstGeom prst="line">
            <a:avLst/>
          </a:prstGeom>
          <a:ln w="38100">
            <a:solidFill>
              <a:srgbClr val="1C519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109102" y="64329"/>
            <a:ext cx="36744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软件部分</a:t>
            </a:r>
            <a:r>
              <a:rPr lang="en-US" altLang="zh-CN" sz="3200" dirty="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——PWM</a:t>
            </a:r>
            <a:endParaRPr lang="zh-CN" altLang="en-US" sz="3200" dirty="0">
              <a:solidFill>
                <a:srgbClr val="1C519A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56639"/>
            <a:ext cx="5928107" cy="5601361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164" b="3815"/>
          <a:stretch>
            <a:fillRect/>
          </a:stretch>
        </p:blipFill>
        <p:spPr>
          <a:xfrm>
            <a:off x="5194348" y="2138738"/>
            <a:ext cx="6997652" cy="2580524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109102" y="832879"/>
            <a:ext cx="16793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PWM</a:t>
            </a:r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简介</a:t>
            </a:r>
            <a:endParaRPr lang="zh-CN" altLang="en-US" sz="20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8220403" y="1738628"/>
            <a:ext cx="16793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PWM</a:t>
            </a:r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模式</a:t>
            </a:r>
            <a:endParaRPr lang="zh-CN" altLang="en-US" sz="20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8230" y="176639"/>
            <a:ext cx="1080000" cy="1080000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>
            <a:off x="129896" y="727350"/>
            <a:ext cx="9000000" cy="0"/>
          </a:xfrm>
          <a:prstGeom prst="line">
            <a:avLst/>
          </a:prstGeom>
          <a:ln w="38100">
            <a:solidFill>
              <a:srgbClr val="1C519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109102" y="64329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软件部分</a:t>
            </a:r>
            <a:r>
              <a:rPr lang="en-US" altLang="zh-CN" sz="3200" dirty="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——</a:t>
            </a:r>
            <a:r>
              <a:rPr lang="zh-CN" altLang="en-US" sz="3200" dirty="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按键</a:t>
            </a:r>
            <a:endParaRPr lang="zh-CN" altLang="en-US" sz="3200" dirty="0">
              <a:solidFill>
                <a:srgbClr val="1C519A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74964" y="1256639"/>
            <a:ext cx="190697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GPIO EXIT</a:t>
            </a:r>
            <a:endParaRPr lang="zh-CN" altLang="en-US" sz="20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74964" y="2944603"/>
            <a:ext cx="190697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消抖办法</a:t>
            </a:r>
            <a:endParaRPr lang="zh-CN" altLang="en-US" sz="20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74964" y="4773281"/>
            <a:ext cx="190697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单击双击实现</a:t>
            </a:r>
            <a:endParaRPr lang="zh-CN" altLang="en-US" sz="20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8040" y="2944495"/>
            <a:ext cx="892810" cy="177419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0145" y="2940685"/>
            <a:ext cx="1068070" cy="1778000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1422400" y="3645535"/>
            <a:ext cx="6756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下拉</a:t>
            </a:r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4303395" y="3645535"/>
            <a:ext cx="6667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上拉</a:t>
            </a:r>
            <a:endParaRPr lang="zh-CN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8230" y="176639"/>
            <a:ext cx="1080000" cy="1080000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>
            <a:off x="129896" y="727350"/>
            <a:ext cx="9000000" cy="0"/>
          </a:xfrm>
          <a:prstGeom prst="line">
            <a:avLst/>
          </a:prstGeom>
          <a:ln w="38100">
            <a:solidFill>
              <a:srgbClr val="1C519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109102" y="64329"/>
            <a:ext cx="46987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软件部分</a:t>
            </a:r>
            <a:r>
              <a:rPr lang="en-US" altLang="zh-CN" sz="3200" dirty="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——</a:t>
            </a:r>
            <a:r>
              <a:rPr lang="zh-CN" altLang="en-US" sz="3200" dirty="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旋转编码器</a:t>
            </a:r>
            <a:endParaRPr lang="zh-CN" altLang="en-US" sz="3200" dirty="0">
              <a:solidFill>
                <a:srgbClr val="1C519A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6915" y="1117187"/>
            <a:ext cx="7753350" cy="340995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1686915" y="5371481"/>
            <a:ext cx="612172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推荐使用：TIM定时器的E</a:t>
            </a:r>
            <a:r>
              <a:rPr lang="en-US" altLang="zh-CN" sz="2000" dirty="0" err="1">
                <a:latin typeface="华文中宋" panose="02010600040101010101" pitchFamily="2" charset="-122"/>
                <a:ea typeface="华文中宋" panose="02010600040101010101" pitchFamily="2" charset="-122"/>
              </a:rPr>
              <a:t>ncoder</a:t>
            </a:r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模式</a:t>
            </a:r>
            <a:endParaRPr lang="zh-CN" altLang="en-US" sz="20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8230" y="176639"/>
            <a:ext cx="1080000" cy="1080000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>
            <a:off x="129896" y="727350"/>
            <a:ext cx="9000000" cy="0"/>
          </a:xfrm>
          <a:prstGeom prst="line">
            <a:avLst/>
          </a:prstGeom>
          <a:ln w="38100">
            <a:solidFill>
              <a:srgbClr val="1C519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109102" y="64329"/>
            <a:ext cx="4288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软件部分</a:t>
            </a:r>
            <a:r>
              <a:rPr lang="en-US" altLang="zh-CN" sz="3200" dirty="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——</a:t>
            </a:r>
            <a:r>
              <a:rPr lang="zh-CN" altLang="en-US" sz="3200" dirty="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磁编码器</a:t>
            </a:r>
            <a:endParaRPr lang="zh-CN" altLang="en-US" sz="3200" dirty="0">
              <a:solidFill>
                <a:srgbClr val="1C519A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1" t="739" r="5442" b="676"/>
          <a:stretch>
            <a:fillRect/>
          </a:stretch>
        </p:blipFill>
        <p:spPr>
          <a:xfrm>
            <a:off x="0" y="986972"/>
            <a:ext cx="5072743" cy="5602725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85" r="5256"/>
          <a:stretch>
            <a:fillRect/>
          </a:stretch>
        </p:blipFill>
        <p:spPr>
          <a:xfrm>
            <a:off x="5335203" y="885450"/>
            <a:ext cx="5603027" cy="5805768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8230" y="176639"/>
            <a:ext cx="1080000" cy="1080000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>
            <a:off x="129896" y="727350"/>
            <a:ext cx="9000000" cy="0"/>
          </a:xfrm>
          <a:prstGeom prst="line">
            <a:avLst/>
          </a:prstGeom>
          <a:ln w="38100">
            <a:solidFill>
              <a:srgbClr val="1C519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109102" y="64329"/>
            <a:ext cx="38459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软件部分</a:t>
            </a:r>
            <a:r>
              <a:rPr lang="en-US" altLang="zh-CN" sz="3200" dirty="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——OLED</a:t>
            </a:r>
            <a:endParaRPr lang="zh-CN" altLang="en-US" sz="3200" dirty="0">
              <a:solidFill>
                <a:srgbClr val="1C519A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300" y="1506977"/>
            <a:ext cx="2579826" cy="2176903"/>
          </a:xfrm>
          <a:prstGeom prst="rect">
            <a:avLst/>
          </a:prstGeom>
        </p:spPr>
      </p:pic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2923991" y="996407"/>
            <a:ext cx="23544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硬件</a:t>
            </a:r>
            <a:r>
              <a:rPr lang="en-US" altLang="zh-CN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I2C</a:t>
            </a:r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：</a:t>
            </a:r>
            <a:endParaRPr kumimoji="0" lang="en-US" altLang="zh-CN" sz="2000" i="0" kern="1200" cap="none" spc="0" normalizeH="0" baseline="0" noProof="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1033594" y="4140800"/>
            <a:ext cx="23544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I2C</a:t>
            </a:r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协议</a:t>
            </a:r>
            <a:endParaRPr kumimoji="0" lang="en-US" altLang="zh-CN" sz="2000" i="0" kern="1200" cap="none" spc="0" normalizeH="0" baseline="0" noProof="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0132" y="896195"/>
            <a:ext cx="6093811" cy="4344893"/>
          </a:xfrm>
          <a:prstGeom prst="rect">
            <a:avLst/>
          </a:prstGeom>
        </p:spPr>
      </p:pic>
      <p:sp>
        <p:nvSpPr>
          <p:cNvPr id="12" name="文本框 11"/>
          <p:cNvSpPr txBox="1"/>
          <p:nvPr>
            <p:custDataLst>
              <p:tags r:id="rId6"/>
            </p:custDataLst>
          </p:nvPr>
        </p:nvSpPr>
        <p:spPr>
          <a:xfrm>
            <a:off x="3017238" y="5972337"/>
            <a:ext cx="23544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软件</a:t>
            </a:r>
            <a:r>
              <a:rPr lang="en-US" altLang="zh-CN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I2C</a:t>
            </a:r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：</a:t>
            </a:r>
            <a:endParaRPr kumimoji="0" lang="en-US" altLang="zh-CN" sz="2000" i="0" kern="1200" cap="none" spc="0" normalizeH="0" baseline="0" noProof="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7"/>
            </p:custDataLst>
          </p:nvPr>
        </p:nvSpPr>
        <p:spPr>
          <a:xfrm>
            <a:off x="194364" y="4942153"/>
            <a:ext cx="316076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kumimoji="0" lang="zh-CN" altLang="en-US" sz="2000" i="0" kern="1200" cap="none" spc="0" normalizeH="0" baseline="0" noProof="0" dirty="0">
                <a:latin typeface="华文中宋" panose="02010600040101010101" pitchFamily="2" charset="-122"/>
                <a:ea typeface="华文中宋" panose="02010600040101010101" pitchFamily="2" charset="-122"/>
              </a:rPr>
              <a:t>一定要区分</a:t>
            </a:r>
            <a:endParaRPr kumimoji="0" lang="en-US" altLang="zh-CN" sz="2000" i="0" kern="1200" cap="none" spc="0" normalizeH="0" baseline="0" noProof="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algn="ctr">
              <a:defRPr/>
            </a:pPr>
            <a:r>
              <a:rPr kumimoji="0" lang="zh-CN" altLang="en-US" sz="2000" i="0" kern="1200" cap="none" spc="0" normalizeH="0" baseline="0" noProof="0" dirty="0">
                <a:latin typeface="华文中宋" panose="02010600040101010101" pitchFamily="2" charset="-122"/>
                <a:ea typeface="华文中宋" panose="02010600040101010101" pitchFamily="2" charset="-122"/>
              </a:rPr>
              <a:t>是硬件还是软件！！！</a:t>
            </a:r>
            <a:endParaRPr kumimoji="0" lang="en-US" altLang="zh-CN" sz="2000" i="0" kern="1200" cap="none" spc="0" normalizeH="0" baseline="0" noProof="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8"/>
            </p:custDataLst>
          </p:nvPr>
        </p:nvSpPr>
        <p:spPr>
          <a:xfrm>
            <a:off x="4950465" y="5961805"/>
            <a:ext cx="57331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将</a:t>
            </a:r>
            <a:r>
              <a:rPr lang="en-US" altLang="zh-CN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SCL</a:t>
            </a:r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和</a:t>
            </a:r>
            <a:r>
              <a:rPr lang="en-US" altLang="zh-CN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SDA</a:t>
            </a:r>
            <a:r>
              <a:rPr kumimoji="0" lang="zh-CN" altLang="en-US" sz="2000" i="0" kern="1200" cap="none" spc="0" normalizeH="0" baseline="0" noProof="0" dirty="0">
                <a:latin typeface="华文中宋" panose="02010600040101010101" pitchFamily="2" charset="-122"/>
                <a:ea typeface="华文中宋" panose="02010600040101010101" pitchFamily="2" charset="-122"/>
              </a:rPr>
              <a:t>引脚配置为</a:t>
            </a:r>
            <a:r>
              <a:rPr kumimoji="0" lang="en-US" altLang="zh-CN" sz="2000" i="0" kern="1200" cap="none" spc="0" normalizeH="0" baseline="0" noProof="0" dirty="0">
                <a:latin typeface="华文中宋" panose="02010600040101010101" pitchFamily="2" charset="-122"/>
                <a:ea typeface="华文中宋" panose="02010600040101010101" pitchFamily="2" charset="-122"/>
              </a:rPr>
              <a:t>GPIO</a:t>
            </a:r>
            <a:r>
              <a:rPr kumimoji="0" lang="zh-CN" altLang="en-US" sz="2000" i="0" kern="1200" cap="none" spc="0" normalizeH="0" baseline="0" noProof="0" dirty="0">
                <a:latin typeface="华文中宋" panose="02010600040101010101" pitchFamily="2" charset="-122"/>
                <a:ea typeface="华文中宋" panose="02010600040101010101" pitchFamily="2" charset="-122"/>
              </a:rPr>
              <a:t>开漏输出即可</a:t>
            </a:r>
            <a:endParaRPr kumimoji="0" lang="en-US" altLang="zh-CN" sz="2000" i="0" kern="1200" cap="none" spc="0" normalizeH="0" baseline="0" noProof="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8230" y="176639"/>
            <a:ext cx="1080000" cy="1080000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>
            <a:off x="129896" y="727350"/>
            <a:ext cx="9000000" cy="0"/>
          </a:xfrm>
          <a:prstGeom prst="line">
            <a:avLst/>
          </a:prstGeom>
          <a:ln w="38100">
            <a:solidFill>
              <a:srgbClr val="1C519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109102" y="64329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软件部分</a:t>
            </a:r>
            <a:r>
              <a:rPr lang="en-US" altLang="zh-CN" sz="3200" dirty="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——</a:t>
            </a:r>
            <a:r>
              <a:rPr lang="zh-CN" altLang="en-US" sz="3200" dirty="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蜂鸣器</a:t>
            </a:r>
            <a:endParaRPr lang="zh-CN" altLang="en-US" sz="3200" dirty="0">
              <a:solidFill>
                <a:srgbClr val="1C519A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348343" y="1850726"/>
          <a:ext cx="11495314" cy="270675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15142"/>
                <a:gridCol w="5450805"/>
                <a:gridCol w="4629367"/>
              </a:tblGrid>
              <a:tr h="484578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0" kern="1200" dirty="0">
                          <a:solidFill>
                            <a:schemeClr val="tx1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区别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华文中宋" panose="02010600040101010101" pitchFamily="2" charset="-122"/>
                        <a:ea typeface="华文中宋" panose="0201060004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0" kern="1200" dirty="0">
                          <a:solidFill>
                            <a:schemeClr val="tx1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有源蜂鸣器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华文中宋" panose="02010600040101010101" pitchFamily="2" charset="-122"/>
                        <a:ea typeface="华文中宋" panose="0201060004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0" kern="1200" dirty="0">
                          <a:solidFill>
                            <a:schemeClr val="tx1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无源蜂鸣器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华文中宋" panose="02010600040101010101" pitchFamily="2" charset="-122"/>
                        <a:ea typeface="华文中宋" panose="02010600040101010101" pitchFamily="2" charset="-122"/>
                      </a:endParaRPr>
                    </a:p>
                  </a:txBody>
                  <a:tcPr anchor="ctr"/>
                </a:tc>
              </a:tr>
              <a:tr h="87536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0" kern="1200" dirty="0">
                          <a:solidFill>
                            <a:schemeClr val="dk1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内部结构</a:t>
                      </a:r>
                      <a:endParaRPr lang="zh-CN" altLang="en-US" sz="2000" dirty="0">
                        <a:latin typeface="华文中宋" panose="02010600040101010101" pitchFamily="2" charset="-122"/>
                        <a:ea typeface="华文中宋" panose="0201060004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2000" b="0" kern="1200" dirty="0">
                          <a:solidFill>
                            <a:schemeClr val="dk1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有源蜂鸣器内部带有</a:t>
                      </a:r>
                      <a:r>
                        <a:rPr lang="zh-CN" altLang="en-US" sz="20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震荡源</a:t>
                      </a:r>
                      <a:r>
                        <a:rPr lang="zh-CN" altLang="en-US" sz="2000" b="0" kern="1200" dirty="0">
                          <a:solidFill>
                            <a:schemeClr val="dk1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，因此只要一通电就会发出声音。</a:t>
                      </a:r>
                      <a:endParaRPr lang="zh-CN" altLang="en-US" sz="2000" dirty="0">
                        <a:latin typeface="华文中宋" panose="02010600040101010101" pitchFamily="2" charset="-122"/>
                        <a:ea typeface="华文中宋" panose="0201060004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2000" b="0" kern="1200" dirty="0">
                          <a:solidFill>
                            <a:schemeClr val="dk1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而无源蜂鸣器内部则没有震荡源，所以如果使用直流信号无法使其鸣叫。</a:t>
                      </a:r>
                      <a:endParaRPr lang="zh-CN" altLang="en-US" sz="2000" dirty="0">
                        <a:latin typeface="华文中宋" panose="02010600040101010101" pitchFamily="2" charset="-122"/>
                        <a:ea typeface="华文中宋" panose="02010600040101010101" pitchFamily="2" charset="-122"/>
                      </a:endParaRPr>
                    </a:p>
                  </a:txBody>
                  <a:tcPr anchor="ctr"/>
                </a:tc>
              </a:tr>
              <a:tr h="134681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0" kern="1200" dirty="0">
                          <a:solidFill>
                            <a:schemeClr val="dk1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驱动方式</a:t>
                      </a:r>
                      <a:endParaRPr lang="zh-CN" altLang="en-US" sz="2000" dirty="0">
                        <a:latin typeface="华文中宋" panose="02010600040101010101" pitchFamily="2" charset="-122"/>
                        <a:ea typeface="华文中宋" panose="0201060004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2000" b="0" kern="1200" dirty="0">
                          <a:solidFill>
                            <a:schemeClr val="dk1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有源蜂鸣器则有正负之分，只需要</a:t>
                      </a:r>
                      <a:r>
                        <a:rPr lang="zh-CN" altLang="en-US" sz="2000" b="0" kern="1200" dirty="0">
                          <a:solidFill>
                            <a:schemeClr val="dk1"/>
                          </a:solidFill>
                          <a:effectLst/>
                          <a:highlight>
                            <a:srgbClr val="FFFF00"/>
                          </a:highlight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在两个引脚上加上电压信号</a:t>
                      </a:r>
                      <a:r>
                        <a:rPr lang="zh-CN" altLang="en-US" sz="2000" b="0" kern="1200" dirty="0">
                          <a:solidFill>
                            <a:schemeClr val="dk1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就会发声，发出的声音</a:t>
                      </a:r>
                      <a:r>
                        <a:rPr lang="zh-CN" altLang="en-US" sz="2000" b="0" kern="1200" dirty="0">
                          <a:solidFill>
                            <a:schemeClr val="dk1"/>
                          </a:solidFill>
                          <a:effectLst/>
                          <a:highlight>
                            <a:srgbClr val="FFFF00"/>
                          </a:highlight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音调单一、频率固定</a:t>
                      </a:r>
                      <a:r>
                        <a:rPr lang="zh-CN" altLang="en-US" sz="2000" b="0" kern="1200" dirty="0">
                          <a:solidFill>
                            <a:schemeClr val="dk1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。</a:t>
                      </a:r>
                      <a:endParaRPr lang="zh-CN" altLang="en-US" sz="2000" dirty="0">
                        <a:latin typeface="华文中宋" panose="02010600040101010101" pitchFamily="2" charset="-122"/>
                        <a:ea typeface="华文中宋" panose="0201060004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2000" b="0" kern="1200" dirty="0">
                          <a:solidFill>
                            <a:schemeClr val="dk1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无源蜂鸣器类似于喇叭，只要在两个引脚上</a:t>
                      </a:r>
                      <a:r>
                        <a:rPr lang="zh-CN" altLang="en-US" sz="2000" b="0" kern="1200" dirty="0">
                          <a:solidFill>
                            <a:schemeClr val="dk1"/>
                          </a:solidFill>
                          <a:effectLst/>
                          <a:highlight>
                            <a:srgbClr val="FFFF00"/>
                          </a:highlight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加载不同的频率的电信号（</a:t>
                      </a:r>
                      <a:r>
                        <a:rPr lang="en-US" altLang="zh-CN" sz="2000" b="0" kern="1200" dirty="0">
                          <a:solidFill>
                            <a:schemeClr val="dk1"/>
                          </a:solidFill>
                          <a:effectLst/>
                          <a:highlight>
                            <a:srgbClr val="FFFF00"/>
                          </a:highlight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PWM</a:t>
                      </a:r>
                      <a:r>
                        <a:rPr lang="zh-CN" altLang="en-US" sz="2000" b="0" kern="1200" dirty="0">
                          <a:solidFill>
                            <a:schemeClr val="dk1"/>
                          </a:solidFill>
                          <a:effectLst/>
                          <a:highlight>
                            <a:srgbClr val="FFFF00"/>
                          </a:highlight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）</a:t>
                      </a:r>
                      <a:r>
                        <a:rPr lang="zh-CN" altLang="en-US" sz="2000" b="0" kern="1200" dirty="0">
                          <a:solidFill>
                            <a:schemeClr val="dk1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就可以实现发声，而且</a:t>
                      </a:r>
                      <a:r>
                        <a:rPr lang="zh-CN" altLang="en-US" sz="2000" b="0" kern="1200" dirty="0">
                          <a:solidFill>
                            <a:schemeClr val="dk1"/>
                          </a:solidFill>
                          <a:effectLst/>
                          <a:highlight>
                            <a:srgbClr val="FFFF00"/>
                          </a:highlight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声音频率可控</a:t>
                      </a:r>
                      <a:r>
                        <a:rPr lang="zh-CN" altLang="en-US" sz="2000" b="0" kern="1200" dirty="0">
                          <a:solidFill>
                            <a:schemeClr val="dk1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，可以做出“多来米发索拉西”的效果。</a:t>
                      </a:r>
                      <a:endParaRPr lang="zh-CN" altLang="en-US" sz="2000" dirty="0">
                        <a:latin typeface="华文中宋" panose="02010600040101010101" pitchFamily="2" charset="-122"/>
                        <a:ea typeface="华文中宋" panose="02010600040101010101" pitchFamily="2" charset="-122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8230" y="176639"/>
            <a:ext cx="1080000" cy="1080000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>
            <a:off x="129896" y="727350"/>
            <a:ext cx="9000000" cy="0"/>
          </a:xfrm>
          <a:prstGeom prst="line">
            <a:avLst/>
          </a:prstGeom>
          <a:ln w="38100">
            <a:solidFill>
              <a:srgbClr val="1C519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109102" y="64329"/>
            <a:ext cx="500329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软件部分</a:t>
            </a:r>
            <a:r>
              <a:rPr lang="en-US" altLang="zh-CN" sz="3200" dirty="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——</a:t>
            </a:r>
            <a:r>
              <a:rPr lang="zh-CN" altLang="en-US" sz="3200" dirty="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串口 </a:t>
            </a:r>
            <a:r>
              <a:rPr lang="en-US" altLang="zh-CN" sz="3200" dirty="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VOFA+</a:t>
            </a:r>
            <a:endParaRPr lang="zh-CN" altLang="en-US" sz="3200" dirty="0">
              <a:solidFill>
                <a:srgbClr val="1C519A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8230" y="176639"/>
            <a:ext cx="1080000" cy="1080000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>
            <a:off x="129896" y="727350"/>
            <a:ext cx="9000000" cy="0"/>
          </a:xfrm>
          <a:prstGeom prst="line">
            <a:avLst/>
          </a:prstGeom>
          <a:ln w="38100">
            <a:solidFill>
              <a:srgbClr val="1C519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109102" y="64329"/>
            <a:ext cx="378020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PID——</a:t>
            </a:r>
            <a:r>
              <a:rPr lang="zh-CN" altLang="en-US" sz="3200" dirty="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开环与闭环</a:t>
            </a:r>
            <a:endParaRPr lang="zh-CN" altLang="en-US" sz="3200" dirty="0">
              <a:solidFill>
                <a:srgbClr val="1C519A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36439" y="1209056"/>
            <a:ext cx="10800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开环（</a:t>
            </a:r>
            <a:r>
              <a:rPr lang="en-US" altLang="zh-CN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Open Loop</a:t>
            </a:r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）：控制器单向输出值给被控对象，不获取被控对象的反馈，控制器对被控对象的执行状态不清楚</a:t>
            </a:r>
            <a:endParaRPr lang="en-US" altLang="zh-CN" sz="20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79885" y="3791674"/>
            <a:ext cx="10800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闭环（</a:t>
            </a:r>
            <a:r>
              <a:rPr lang="en-US" altLang="zh-CN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Closed Loop</a:t>
            </a:r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）：控制器输出值给被控对象，同时获取被控对象的反馈，控制器知道被控对象的执行状态，可以根据反馈修改输出值以优化控制</a:t>
            </a:r>
            <a:endParaRPr lang="en-US" altLang="zh-CN" sz="20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3100169" y="2230977"/>
            <a:ext cx="5120996" cy="664589"/>
            <a:chOff x="3228602" y="4574817"/>
            <a:chExt cx="5120996" cy="664589"/>
          </a:xfrm>
        </p:grpSpPr>
        <p:sp>
          <p:nvSpPr>
            <p:cNvPr id="9" name="矩形 8"/>
            <p:cNvSpPr/>
            <p:nvPr/>
          </p:nvSpPr>
          <p:spPr>
            <a:xfrm>
              <a:off x="4717779" y="4699406"/>
              <a:ext cx="1260000" cy="540000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控制器</a:t>
              </a:r>
              <a:endParaRPr lang="zh-CN" altLang="en-US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cxnSp>
          <p:nvCxnSpPr>
            <p:cNvPr id="10" name="直接箭头连接符 9"/>
            <p:cNvCxnSpPr>
              <a:stCxn id="9" idx="3"/>
              <a:endCxn id="11" idx="1"/>
            </p:cNvCxnSpPr>
            <p:nvPr/>
          </p:nvCxnSpPr>
          <p:spPr>
            <a:xfrm>
              <a:off x="5977779" y="4969406"/>
              <a:ext cx="1111819" cy="0"/>
            </a:xfrm>
            <a:prstGeom prst="straightConnector1">
              <a:avLst/>
            </a:prstGeom>
            <a:ln w="28575" cap="rnd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矩形 10"/>
            <p:cNvSpPr/>
            <p:nvPr/>
          </p:nvSpPr>
          <p:spPr>
            <a:xfrm>
              <a:off x="7089598" y="4699406"/>
              <a:ext cx="1260000" cy="540000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>
                  <a:solidFill>
                    <a:schemeClr val="tx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被控对象</a:t>
              </a:r>
              <a:endParaRPr lang="zh-CN" altLang="en-US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5965197" y="4574817"/>
              <a:ext cx="98127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800" dirty="0">
                  <a:latin typeface="华文中宋" panose="02010600040101010101" pitchFamily="2" charset="-122"/>
                  <a:ea typeface="华文中宋" panose="02010600040101010101" pitchFamily="2" charset="-122"/>
                </a:rPr>
                <a:t>输出值</a:t>
              </a:r>
              <a:endPara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3228602" y="4605396"/>
              <a:ext cx="97361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800">
                  <a:latin typeface="华文中宋" panose="02010600040101010101" pitchFamily="2" charset="-122"/>
                  <a:ea typeface="华文中宋" panose="02010600040101010101" pitchFamily="2" charset="-122"/>
                </a:rPr>
                <a:t>目标值</a:t>
              </a:r>
              <a:endParaRPr lang="zh-CN" altLang="en-US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cxnSp>
          <p:nvCxnSpPr>
            <p:cNvPr id="14" name="直接箭头连接符 13"/>
            <p:cNvCxnSpPr/>
            <p:nvPr/>
          </p:nvCxnSpPr>
          <p:spPr>
            <a:xfrm>
              <a:off x="3228602" y="4974728"/>
              <a:ext cx="1483308" cy="0"/>
            </a:xfrm>
            <a:prstGeom prst="straightConnector1">
              <a:avLst/>
            </a:prstGeom>
            <a:ln w="28575" cap="rnd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组合 14"/>
          <p:cNvGrpSpPr/>
          <p:nvPr/>
        </p:nvGrpSpPr>
        <p:grpSpPr>
          <a:xfrm>
            <a:off x="3276266" y="4797332"/>
            <a:ext cx="5120996" cy="1266538"/>
            <a:chOff x="3228602" y="4475894"/>
            <a:chExt cx="5120996" cy="1266538"/>
          </a:xfrm>
        </p:grpSpPr>
        <p:sp>
          <p:nvSpPr>
            <p:cNvPr id="16" name="矩形 15"/>
            <p:cNvSpPr/>
            <p:nvPr/>
          </p:nvSpPr>
          <p:spPr>
            <a:xfrm>
              <a:off x="4717779" y="4699406"/>
              <a:ext cx="1260000" cy="540000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>
                  <a:solidFill>
                    <a:schemeClr val="tx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控制器</a:t>
              </a:r>
              <a:endParaRPr lang="zh-CN" altLang="en-US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cxnSp>
          <p:nvCxnSpPr>
            <p:cNvPr id="17" name="直接箭头连接符 16"/>
            <p:cNvCxnSpPr>
              <a:stCxn id="16" idx="3"/>
              <a:endCxn id="18" idx="1"/>
            </p:cNvCxnSpPr>
            <p:nvPr/>
          </p:nvCxnSpPr>
          <p:spPr>
            <a:xfrm>
              <a:off x="5977779" y="4969406"/>
              <a:ext cx="1111819" cy="0"/>
            </a:xfrm>
            <a:prstGeom prst="straightConnector1">
              <a:avLst/>
            </a:prstGeom>
            <a:ln w="28575" cap="rnd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矩形 17"/>
            <p:cNvSpPr/>
            <p:nvPr/>
          </p:nvSpPr>
          <p:spPr>
            <a:xfrm>
              <a:off x="7089598" y="4699406"/>
              <a:ext cx="1260000" cy="540000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>
                  <a:solidFill>
                    <a:schemeClr val="tx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被控对象</a:t>
              </a:r>
              <a:endParaRPr lang="zh-CN" altLang="en-US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5965197" y="4574817"/>
              <a:ext cx="98127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800">
                  <a:latin typeface="华文中宋" panose="02010600040101010101" pitchFamily="2" charset="-122"/>
                  <a:ea typeface="华文中宋" panose="02010600040101010101" pitchFamily="2" charset="-122"/>
                </a:rPr>
                <a:t>输出值</a:t>
              </a:r>
              <a:endParaRPr lang="zh-CN" altLang="en-US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cxnSp>
          <p:nvCxnSpPr>
            <p:cNvPr id="20" name="直接箭头连接符 19"/>
            <p:cNvCxnSpPr/>
            <p:nvPr/>
          </p:nvCxnSpPr>
          <p:spPr>
            <a:xfrm>
              <a:off x="4156001" y="5096101"/>
              <a:ext cx="561778" cy="0"/>
            </a:xfrm>
            <a:prstGeom prst="straightConnector1">
              <a:avLst/>
            </a:prstGeom>
            <a:ln w="28575" cap="rnd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文本框 20"/>
            <p:cNvSpPr txBox="1"/>
            <p:nvPr/>
          </p:nvSpPr>
          <p:spPr>
            <a:xfrm>
              <a:off x="3228602" y="4475894"/>
              <a:ext cx="97361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800">
                  <a:latin typeface="华文中宋" panose="02010600040101010101" pitchFamily="2" charset="-122"/>
                  <a:ea typeface="华文中宋" panose="02010600040101010101" pitchFamily="2" charset="-122"/>
                </a:rPr>
                <a:t>目标值</a:t>
              </a:r>
              <a:endParaRPr lang="zh-CN" altLang="en-US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cxnSp>
          <p:nvCxnSpPr>
            <p:cNvPr id="22" name="直接箭头连接符 21"/>
            <p:cNvCxnSpPr/>
            <p:nvPr/>
          </p:nvCxnSpPr>
          <p:spPr>
            <a:xfrm>
              <a:off x="3228602" y="4845226"/>
              <a:ext cx="1483308" cy="0"/>
            </a:xfrm>
            <a:prstGeom prst="straightConnector1">
              <a:avLst/>
            </a:prstGeom>
            <a:ln w="28575" cap="rnd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文本框 22"/>
            <p:cNvSpPr txBox="1"/>
            <p:nvPr/>
          </p:nvSpPr>
          <p:spPr>
            <a:xfrm>
              <a:off x="3234670" y="5101662"/>
              <a:ext cx="97361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800">
                  <a:latin typeface="华文中宋" panose="02010600040101010101" pitchFamily="2" charset="-122"/>
                  <a:ea typeface="华文中宋" panose="02010600040101010101" pitchFamily="2" charset="-122"/>
                </a:rPr>
                <a:t>实际值</a:t>
              </a:r>
              <a:endParaRPr lang="zh-CN" altLang="en-US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cxnSp>
          <p:nvCxnSpPr>
            <p:cNvPr id="24" name="直接箭头连接符 23"/>
            <p:cNvCxnSpPr>
              <a:stCxn id="18" idx="2"/>
            </p:cNvCxnSpPr>
            <p:nvPr/>
          </p:nvCxnSpPr>
          <p:spPr>
            <a:xfrm>
              <a:off x="7719598" y="5239406"/>
              <a:ext cx="0" cy="503026"/>
            </a:xfrm>
            <a:prstGeom prst="straightConnector1">
              <a:avLst/>
            </a:prstGeom>
            <a:ln w="28575" cap="rnd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箭头连接符 24"/>
            <p:cNvCxnSpPr/>
            <p:nvPr/>
          </p:nvCxnSpPr>
          <p:spPr>
            <a:xfrm>
              <a:off x="4156001" y="5742432"/>
              <a:ext cx="3563597" cy="0"/>
            </a:xfrm>
            <a:prstGeom prst="straightConnector1">
              <a:avLst/>
            </a:prstGeom>
            <a:ln w="28575" cap="rnd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箭头连接符 25"/>
            <p:cNvCxnSpPr/>
            <p:nvPr/>
          </p:nvCxnSpPr>
          <p:spPr>
            <a:xfrm flipV="1">
              <a:off x="4156001" y="5096101"/>
              <a:ext cx="0" cy="646331"/>
            </a:xfrm>
            <a:prstGeom prst="straightConnector1">
              <a:avLst/>
            </a:prstGeom>
            <a:ln w="28575" cap="rnd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8230" y="176639"/>
            <a:ext cx="1080000" cy="1080000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>
            <a:off x="129896" y="727350"/>
            <a:ext cx="9000000" cy="0"/>
          </a:xfrm>
          <a:prstGeom prst="line">
            <a:avLst/>
          </a:prstGeom>
          <a:ln w="38100">
            <a:solidFill>
              <a:srgbClr val="1C519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109102" y="64329"/>
            <a:ext cx="25490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PID——</a:t>
            </a:r>
            <a:r>
              <a:rPr lang="zh-CN" altLang="en-US" sz="3200" dirty="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简介</a:t>
            </a:r>
            <a:endParaRPr lang="zh-CN" altLang="en-US" sz="3200" dirty="0">
              <a:solidFill>
                <a:srgbClr val="1C519A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16551" y="1464304"/>
            <a:ext cx="10800000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PID</a:t>
            </a:r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是比例（</a:t>
            </a:r>
            <a:r>
              <a:rPr lang="en-US" altLang="zh-CN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Proportional</a:t>
            </a:r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）、积分（</a:t>
            </a:r>
            <a:r>
              <a:rPr lang="en-US" altLang="zh-CN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Integral</a:t>
            </a:r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）、微分（</a:t>
            </a:r>
            <a:r>
              <a:rPr lang="en-US" altLang="zh-CN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Differential</a:t>
            </a:r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）的缩写</a:t>
            </a:r>
            <a:endParaRPr lang="en-US" altLang="zh-CN" sz="20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US" altLang="zh-CN" sz="20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PID</a:t>
            </a:r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是一种闭环控制算法，它动态改变施加到被控对象的输出值（</a:t>
            </a:r>
            <a:r>
              <a:rPr lang="en-US" altLang="zh-CN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Out</a:t>
            </a:r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），使得被控对象某一物理量的实际值（</a:t>
            </a:r>
            <a:r>
              <a:rPr lang="en-US" altLang="zh-CN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Actual</a:t>
            </a:r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），能够快速、准确、稳定地跟踪到指定的目标值（</a:t>
            </a:r>
            <a:r>
              <a:rPr lang="en-US" altLang="zh-CN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Target</a:t>
            </a:r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）</a:t>
            </a:r>
            <a:endParaRPr lang="en-US" altLang="zh-CN" sz="20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US" altLang="zh-CN" sz="20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PID</a:t>
            </a:r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是一种基于误差（</a:t>
            </a:r>
            <a:r>
              <a:rPr lang="en-US" altLang="zh-CN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Error</a:t>
            </a:r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）调控的算法，其中规定：误差</a:t>
            </a:r>
            <a:r>
              <a:rPr lang="en-US" altLang="zh-CN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=</a:t>
            </a:r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目标值</a:t>
            </a:r>
            <a:r>
              <a:rPr lang="en-US" altLang="zh-CN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-</a:t>
            </a:r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实际值，</a:t>
            </a:r>
            <a:r>
              <a:rPr lang="en-US" altLang="zh-CN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PID</a:t>
            </a:r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的任务是使误差始终为</a:t>
            </a:r>
            <a:r>
              <a:rPr lang="en-US" altLang="zh-CN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0</a:t>
            </a:r>
            <a:endParaRPr lang="en-US" altLang="zh-CN" sz="20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US" altLang="zh-CN" sz="20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PID</a:t>
            </a:r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对被控对象模型要求低，无需建模，即使被控对象内部运作规律不明确，</a:t>
            </a:r>
            <a:r>
              <a:rPr lang="en-US" altLang="zh-CN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PID</a:t>
            </a:r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也能进行调控</a:t>
            </a:r>
            <a:endParaRPr lang="en-US" altLang="zh-CN" sz="20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8230" y="176639"/>
            <a:ext cx="1080000" cy="1080000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>
            <a:off x="129896" y="727350"/>
            <a:ext cx="9000000" cy="0"/>
          </a:xfrm>
          <a:prstGeom prst="line">
            <a:avLst/>
          </a:prstGeom>
          <a:ln w="38100">
            <a:solidFill>
              <a:srgbClr val="1C519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109102" y="64329"/>
            <a:ext cx="532389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PID——PID</a:t>
            </a:r>
            <a:r>
              <a:rPr lang="zh-CN" altLang="en-US" sz="3200" dirty="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公式与系统框图</a:t>
            </a:r>
            <a:endParaRPr lang="zh-CN" altLang="en-US" sz="3200" dirty="0">
              <a:solidFill>
                <a:srgbClr val="1C519A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/>
              <p:cNvSpPr txBox="1"/>
              <p:nvPr/>
            </p:nvSpPr>
            <p:spPr>
              <a:xfrm>
                <a:off x="456376" y="1147400"/>
                <a:ext cx="10800000" cy="16105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zh-CN" altLang="en-US" sz="240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定义误差：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𝑒𝑟𝑟𝑜𝑟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𝑡𝑎𝑟𝑔𝑒𝑡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𝑎𝑐𝑡𝑢𝑎𝑙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2400" b="0" i="1" dirty="0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CN" sz="2400" b="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PID</a:t>
                </a:r>
                <a:r>
                  <a:rPr lang="zh-CN" altLang="en-US" sz="2400" b="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输出值：</a:t>
                </a:r>
                <a:r>
                  <a:rPr lang="en-US" altLang="zh-CN" sz="2400" b="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𝑜𝑢𝑡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𝑒𝑟𝑟𝑜𝑟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  <m:nary>
                      <m:nary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𝑒𝑟𝑟𝑜𝑟</m:t>
                        </m:r>
                        <m:d>
                          <m:d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e>
                    </m:nary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b>
                        </m:s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𝑑𝑒𝑟𝑟𝑜𝑟</m:t>
                        </m:r>
                        <m:d>
                          <m:d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num>
                      <m:den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2400" dirty="0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CN" sz="240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PID</a:t>
                </a:r>
                <a:r>
                  <a:rPr lang="zh-CN" altLang="en-US" sz="240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输出值：</a:t>
                </a:r>
                <a:r>
                  <a:rPr lang="zh-CN" altLang="en-US" sz="2400" dirty="0">
                    <a:solidFill>
                      <a:srgbClr val="FF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𝑜𝑢𝑡</m:t>
                    </m:r>
                    <m:d>
                      <m:d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𝑒𝑟𝑟𝑜𝑟</m:t>
                    </m:r>
                    <m:d>
                      <m:d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∗</m:t>
                    </m:r>
                    <m:nary>
                      <m:nary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𝑒𝑟𝑟𝑜𝑟</m:t>
                        </m:r>
                        <m:d>
                          <m:d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𝑑𝑡</m:t>
                        </m:r>
                      </m:e>
                    </m:nary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∗</m:t>
                    </m:r>
                    <m:f>
                      <m:f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𝑑𝑒𝑟𝑟𝑜𝑟</m:t>
                        </m:r>
                        <m:d>
                          <m:d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num>
                      <m:den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</m:oMath>
                </a14:m>
                <a:endParaRPr lang="en-US" altLang="zh-CN" sz="2400" dirty="0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</mc:Choice>
        <mc:Fallback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376" y="1147400"/>
                <a:ext cx="10800000" cy="1610569"/>
              </a:xfrm>
              <a:prstGeom prst="rect">
                <a:avLst/>
              </a:prstGeom>
              <a:blipFill rotWithShape="1">
                <a:blip r:embed="rId2"/>
                <a:stretch>
                  <a:fillRect l="-4" t="-37" r="3" b="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组合 8"/>
          <p:cNvGrpSpPr/>
          <p:nvPr/>
        </p:nvGrpSpPr>
        <p:grpSpPr>
          <a:xfrm>
            <a:off x="935624" y="3065315"/>
            <a:ext cx="10320752" cy="3482262"/>
            <a:chOff x="1274666" y="3065315"/>
            <a:chExt cx="10320752" cy="3482262"/>
          </a:xfrm>
        </p:grpSpPr>
        <p:sp>
          <p:nvSpPr>
            <p:cNvPr id="10" name="矩形 9"/>
            <p:cNvSpPr/>
            <p:nvPr/>
          </p:nvSpPr>
          <p:spPr>
            <a:xfrm>
              <a:off x="2758440" y="3065315"/>
              <a:ext cx="6416039" cy="2738076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1641960" y="4039665"/>
              <a:ext cx="97361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800">
                  <a:latin typeface="华文中宋" panose="02010600040101010101" pitchFamily="2" charset="-122"/>
                  <a:ea typeface="华文中宋" panose="02010600040101010101" pitchFamily="2" charset="-122"/>
                </a:rPr>
                <a:t>目标值</a:t>
              </a:r>
              <a:endParaRPr lang="zh-CN" altLang="en-US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2358760" y="5890677"/>
              <a:ext cx="97361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800">
                  <a:latin typeface="华文中宋" panose="02010600040101010101" pitchFamily="2" charset="-122"/>
                  <a:ea typeface="华文中宋" panose="02010600040101010101" pitchFamily="2" charset="-122"/>
                </a:rPr>
                <a:t>实际值</a:t>
              </a:r>
              <a:endParaRPr lang="zh-CN" altLang="en-US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2764092" y="3090479"/>
              <a:ext cx="146900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>
                  <a:latin typeface="华文中宋" panose="02010600040101010101" pitchFamily="2" charset="-122"/>
                  <a:ea typeface="华文中宋" panose="02010600040101010101" pitchFamily="2" charset="-122"/>
                </a:rPr>
                <a:t>PID</a:t>
              </a:r>
              <a:r>
                <a:rPr lang="zh-CN" altLang="en-US">
                  <a:latin typeface="华文中宋" panose="02010600040101010101" pitchFamily="2" charset="-122"/>
                  <a:ea typeface="华文中宋" panose="02010600040101010101" pitchFamily="2" charset="-122"/>
                </a:rPr>
                <a:t>控制器</a:t>
              </a:r>
              <a:endParaRPr lang="zh-CN" altLang="en-US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" name="矩形 13"/>
                <p:cNvSpPr/>
                <p:nvPr/>
              </p:nvSpPr>
              <p:spPr>
                <a:xfrm>
                  <a:off x="5015795" y="3224566"/>
                  <a:ext cx="3218340" cy="684000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6">
                    <a:shade val="50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en-US" altLang="zh-CN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  <m:r>
                          <a:rPr lang="en-US" altLang="zh-CN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US" altLang="zh-CN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𝑒𝑟𝑟𝑜𝑟</m:t>
                        </m:r>
                        <m:d>
                          <m:dPr>
                            <m:ctrlPr>
                              <a:rPr lang="en-US" altLang="zh-CN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oMath>
                    </m:oMathPara>
                  </a14:m>
                  <a:endParaRPr lang="zh-CN" altLang="en-US">
                    <a:solidFill>
                      <a:schemeClr val="tx1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endParaRPr>
                </a:p>
              </p:txBody>
            </p:sp>
          </mc:Choice>
          <mc:Fallback>
            <p:sp>
              <p:nvSpPr>
                <p:cNvPr id="14" name="矩形 1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15795" y="3224566"/>
                  <a:ext cx="3218340" cy="684000"/>
                </a:xfrm>
                <a:prstGeom prst="rect">
                  <a:avLst/>
                </a:prstGeom>
                <a:blipFill rotWithShape="1">
                  <a:blip r:embed="rId3"/>
                </a:blipFill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6">
                    <a:shade val="50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" name="矩形 14"/>
                <p:cNvSpPr/>
                <p:nvPr/>
              </p:nvSpPr>
              <p:spPr>
                <a:xfrm>
                  <a:off x="5015795" y="4089512"/>
                  <a:ext cx="3218340" cy="684000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6">
                    <a:shade val="50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  <m:nary>
                          <m:naryPr>
                            <m:ctrlP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  <m:e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𝑒𝑟𝑟𝑜𝑟</m:t>
                            </m:r>
                            <m:d>
                              <m:dPr>
                                <m:ctrlPr>
                                  <a:rPr lang="en-US" altLang="zh-CN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𝑑𝑡</m:t>
                            </m:r>
                          </m:e>
                        </m:nary>
                      </m:oMath>
                    </m:oMathPara>
                  </a14:m>
                  <a:endParaRPr lang="zh-CN" altLang="en-US">
                    <a:solidFill>
                      <a:schemeClr val="tx1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endParaRPr>
                </a:p>
              </p:txBody>
            </p:sp>
          </mc:Choice>
          <mc:Fallback>
            <p:sp>
              <p:nvSpPr>
                <p:cNvPr id="15" name="矩形 1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15795" y="4089512"/>
                  <a:ext cx="3218340" cy="684000"/>
                </a:xfrm>
                <a:prstGeom prst="rect">
                  <a:avLst/>
                </a:prstGeom>
                <a:blipFill rotWithShape="1">
                  <a:blip r:embed="rId4"/>
                </a:blipFill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6">
                    <a:shade val="50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" name="矩形 15"/>
                <p:cNvSpPr/>
                <p:nvPr/>
              </p:nvSpPr>
              <p:spPr>
                <a:xfrm>
                  <a:off x="5015795" y="4954459"/>
                  <a:ext cx="3218340" cy="684000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6">
                    <a:shade val="50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b>
                        </m:sSub>
                        <m:r>
                          <a:rPr lang="en-US" altLang="zh-CN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  <m:f>
                          <m:fPr>
                            <m:ctrlP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𝑑𝑒𝑟𝑟𝑜𝑟</m:t>
                            </m:r>
                            <m:d>
                              <m:dPr>
                                <m:ctrlPr>
                                  <a:rPr lang="en-US" altLang="zh-CN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num>
                          <m:den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𝑑𝑡</m:t>
                            </m:r>
                          </m:den>
                        </m:f>
                      </m:oMath>
                    </m:oMathPara>
                  </a14:m>
                  <a:endParaRPr lang="zh-CN" altLang="en-US">
                    <a:solidFill>
                      <a:schemeClr val="tx1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endParaRPr>
                </a:p>
              </p:txBody>
            </p:sp>
          </mc:Choice>
          <mc:Fallback>
            <p:sp>
              <p:nvSpPr>
                <p:cNvPr id="16" name="矩形 1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15795" y="4954459"/>
                  <a:ext cx="3218340" cy="684000"/>
                </a:xfrm>
                <a:prstGeom prst="rect">
                  <a:avLst/>
                </a:prstGeom>
                <a:blipFill rotWithShape="1">
                  <a:blip r:embed="rId5"/>
                </a:blipFill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6">
                    <a:shade val="50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" name="流程图: 汇总连接 16"/>
            <p:cNvSpPr/>
            <p:nvPr/>
          </p:nvSpPr>
          <p:spPr>
            <a:xfrm>
              <a:off x="3076689" y="4248632"/>
              <a:ext cx="365760" cy="365760"/>
            </a:xfrm>
            <a:prstGeom prst="flowChartSummingJunction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18" name="加号 17"/>
            <p:cNvSpPr/>
            <p:nvPr/>
          </p:nvSpPr>
          <p:spPr>
            <a:xfrm>
              <a:off x="2845565" y="4268072"/>
              <a:ext cx="144000" cy="144000"/>
            </a:xfrm>
            <a:prstGeom prst="mathPlus">
              <a:avLst>
                <a:gd name="adj1" fmla="val 15187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19" name="减号 18"/>
            <p:cNvSpPr/>
            <p:nvPr/>
          </p:nvSpPr>
          <p:spPr>
            <a:xfrm>
              <a:off x="3308059" y="4697367"/>
              <a:ext cx="144000" cy="144000"/>
            </a:xfrm>
            <a:prstGeom prst="mathMinus">
              <a:avLst>
                <a:gd name="adj1" fmla="val 16518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20" name="流程图: 汇总连接 19"/>
            <p:cNvSpPr/>
            <p:nvPr/>
          </p:nvSpPr>
          <p:spPr>
            <a:xfrm>
              <a:off x="8603111" y="4248632"/>
              <a:ext cx="365760" cy="365760"/>
            </a:xfrm>
            <a:prstGeom prst="flowChartSummingJunction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cxnSp>
          <p:nvCxnSpPr>
            <p:cNvPr id="21" name="直接箭头连接符 20"/>
            <p:cNvCxnSpPr>
              <a:stCxn id="15" idx="3"/>
              <a:endCxn id="20" idx="2"/>
            </p:cNvCxnSpPr>
            <p:nvPr/>
          </p:nvCxnSpPr>
          <p:spPr>
            <a:xfrm>
              <a:off x="8234135" y="4431512"/>
              <a:ext cx="368976" cy="0"/>
            </a:xfrm>
            <a:prstGeom prst="straightConnector1">
              <a:avLst/>
            </a:prstGeom>
            <a:ln w="28575" cap="rnd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箭头连接符 21"/>
            <p:cNvCxnSpPr>
              <a:stCxn id="16" idx="3"/>
            </p:cNvCxnSpPr>
            <p:nvPr/>
          </p:nvCxnSpPr>
          <p:spPr>
            <a:xfrm flipV="1">
              <a:off x="8234135" y="5296458"/>
              <a:ext cx="551856" cy="1"/>
            </a:xfrm>
            <a:prstGeom prst="straightConnector1">
              <a:avLst/>
            </a:prstGeom>
            <a:ln w="28575" cap="rnd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箭头连接符 22"/>
            <p:cNvCxnSpPr>
              <a:endCxn id="20" idx="4"/>
            </p:cNvCxnSpPr>
            <p:nvPr/>
          </p:nvCxnSpPr>
          <p:spPr>
            <a:xfrm flipV="1">
              <a:off x="8785991" y="4614392"/>
              <a:ext cx="0" cy="682066"/>
            </a:xfrm>
            <a:prstGeom prst="straightConnector1">
              <a:avLst/>
            </a:prstGeom>
            <a:ln w="28575" cap="rnd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箭头连接符 23"/>
            <p:cNvCxnSpPr/>
            <p:nvPr/>
          </p:nvCxnSpPr>
          <p:spPr>
            <a:xfrm>
              <a:off x="8789301" y="3571291"/>
              <a:ext cx="0" cy="682066"/>
            </a:xfrm>
            <a:prstGeom prst="straightConnector1">
              <a:avLst/>
            </a:prstGeom>
            <a:ln w="28575" cap="rnd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箭头连接符 24"/>
            <p:cNvCxnSpPr>
              <a:stCxn id="14" idx="3"/>
            </p:cNvCxnSpPr>
            <p:nvPr/>
          </p:nvCxnSpPr>
          <p:spPr>
            <a:xfrm>
              <a:off x="8234135" y="3566566"/>
              <a:ext cx="551856" cy="4725"/>
            </a:xfrm>
            <a:prstGeom prst="straightConnector1">
              <a:avLst/>
            </a:prstGeom>
            <a:ln w="28575" cap="rnd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加号 25"/>
            <p:cNvSpPr/>
            <p:nvPr/>
          </p:nvSpPr>
          <p:spPr>
            <a:xfrm>
              <a:off x="8820065" y="4027459"/>
              <a:ext cx="144000" cy="144000"/>
            </a:xfrm>
            <a:prstGeom prst="mathPlus">
              <a:avLst>
                <a:gd name="adj1" fmla="val 15187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27" name="加号 26"/>
            <p:cNvSpPr/>
            <p:nvPr/>
          </p:nvSpPr>
          <p:spPr>
            <a:xfrm>
              <a:off x="8820065" y="4700918"/>
              <a:ext cx="144000" cy="144000"/>
            </a:xfrm>
            <a:prstGeom prst="mathPlus">
              <a:avLst>
                <a:gd name="adj1" fmla="val 15187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28" name="加号 27"/>
            <p:cNvSpPr/>
            <p:nvPr/>
          </p:nvSpPr>
          <p:spPr>
            <a:xfrm>
              <a:off x="8381019" y="4268072"/>
              <a:ext cx="144000" cy="144000"/>
            </a:xfrm>
            <a:prstGeom prst="mathPlus">
              <a:avLst>
                <a:gd name="adj1" fmla="val 15187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cxnSp>
          <p:nvCxnSpPr>
            <p:cNvPr id="29" name="直接箭头连接符 28"/>
            <p:cNvCxnSpPr>
              <a:stCxn id="20" idx="6"/>
              <a:endCxn id="37" idx="1"/>
            </p:cNvCxnSpPr>
            <p:nvPr/>
          </p:nvCxnSpPr>
          <p:spPr>
            <a:xfrm>
              <a:off x="8968871" y="4431512"/>
              <a:ext cx="1366547" cy="10363"/>
            </a:xfrm>
            <a:prstGeom prst="straightConnector1">
              <a:avLst/>
            </a:prstGeom>
            <a:ln w="28575" cap="rnd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箭头连接符 29"/>
            <p:cNvCxnSpPr>
              <a:stCxn id="17" idx="6"/>
              <a:endCxn id="15" idx="1"/>
            </p:cNvCxnSpPr>
            <p:nvPr/>
          </p:nvCxnSpPr>
          <p:spPr>
            <a:xfrm>
              <a:off x="3442449" y="4431512"/>
              <a:ext cx="1573346" cy="0"/>
            </a:xfrm>
            <a:prstGeom prst="straightConnector1">
              <a:avLst/>
            </a:prstGeom>
            <a:ln w="28575" cap="rnd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箭头连接符 30"/>
            <p:cNvCxnSpPr>
              <a:endCxn id="16" idx="1"/>
            </p:cNvCxnSpPr>
            <p:nvPr/>
          </p:nvCxnSpPr>
          <p:spPr>
            <a:xfrm>
              <a:off x="4450211" y="5296458"/>
              <a:ext cx="565584" cy="1"/>
            </a:xfrm>
            <a:prstGeom prst="straightConnector1">
              <a:avLst/>
            </a:prstGeom>
            <a:ln w="28575" cap="rnd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箭头连接符 31"/>
            <p:cNvCxnSpPr>
              <a:endCxn id="14" idx="1"/>
            </p:cNvCxnSpPr>
            <p:nvPr/>
          </p:nvCxnSpPr>
          <p:spPr>
            <a:xfrm flipV="1">
              <a:off x="4450211" y="3566566"/>
              <a:ext cx="565584" cy="0"/>
            </a:xfrm>
            <a:prstGeom prst="straightConnector1">
              <a:avLst/>
            </a:prstGeom>
            <a:ln w="28575" cap="rnd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箭头连接符 32"/>
            <p:cNvCxnSpPr/>
            <p:nvPr/>
          </p:nvCxnSpPr>
          <p:spPr>
            <a:xfrm>
              <a:off x="4450211" y="3587292"/>
              <a:ext cx="0" cy="1709166"/>
            </a:xfrm>
            <a:prstGeom prst="straightConnector1">
              <a:avLst/>
            </a:prstGeom>
            <a:ln w="28575" cap="rnd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4" name="文本框 33"/>
                <p:cNvSpPr txBox="1"/>
                <p:nvPr/>
              </p:nvSpPr>
              <p:spPr>
                <a:xfrm>
                  <a:off x="3380059" y="4420667"/>
                  <a:ext cx="1054626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𝑒𝑟𝑟𝑜𝑟</m:t>
                        </m:r>
                        <m:d>
                          <m:dPr>
                            <m:ctrlP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oMath>
                    </m:oMathPara>
                  </a14:m>
                  <a:endParaRPr lang="zh-CN" altLang="en-US">
                    <a:latin typeface="华文中宋" panose="02010600040101010101" pitchFamily="2" charset="-122"/>
                    <a:ea typeface="华文中宋" panose="02010600040101010101" pitchFamily="2" charset="-122"/>
                  </a:endParaRPr>
                </a:p>
              </p:txBody>
            </p:sp>
          </mc:Choice>
          <mc:Fallback>
            <p:sp>
              <p:nvSpPr>
                <p:cNvPr id="34" name="文本框 3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80059" y="4420667"/>
                  <a:ext cx="1054626" cy="369332"/>
                </a:xfrm>
                <a:prstGeom prst="rect">
                  <a:avLst/>
                </a:prstGeom>
                <a:blipFill rotWithShape="1">
                  <a:blip r:embed="rId6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5" name="直接箭头连接符 34"/>
            <p:cNvCxnSpPr/>
            <p:nvPr/>
          </p:nvCxnSpPr>
          <p:spPr>
            <a:xfrm>
              <a:off x="1663345" y="4431512"/>
              <a:ext cx="1413344" cy="0"/>
            </a:xfrm>
            <a:prstGeom prst="straightConnector1">
              <a:avLst/>
            </a:prstGeom>
            <a:ln w="28575" cap="rnd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箭头连接符 35"/>
            <p:cNvCxnSpPr>
              <a:endCxn id="17" idx="4"/>
            </p:cNvCxnSpPr>
            <p:nvPr/>
          </p:nvCxnSpPr>
          <p:spPr>
            <a:xfrm flipV="1">
              <a:off x="3259569" y="4614392"/>
              <a:ext cx="0" cy="1563853"/>
            </a:xfrm>
            <a:prstGeom prst="straightConnector1">
              <a:avLst/>
            </a:prstGeom>
            <a:ln w="28575" cap="rnd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矩形 36"/>
            <p:cNvSpPr/>
            <p:nvPr/>
          </p:nvSpPr>
          <p:spPr>
            <a:xfrm>
              <a:off x="10335418" y="4171875"/>
              <a:ext cx="1260000" cy="540000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>
                  <a:solidFill>
                    <a:schemeClr val="tx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被控对象</a:t>
              </a:r>
              <a:endParaRPr lang="zh-CN" altLang="en-US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cxnSp>
          <p:nvCxnSpPr>
            <p:cNvPr id="38" name="直接箭头连接符 37"/>
            <p:cNvCxnSpPr/>
            <p:nvPr/>
          </p:nvCxnSpPr>
          <p:spPr>
            <a:xfrm>
              <a:off x="3259569" y="6178245"/>
              <a:ext cx="7705849" cy="0"/>
            </a:xfrm>
            <a:prstGeom prst="straightConnector1">
              <a:avLst/>
            </a:prstGeom>
            <a:ln w="28575" cap="rnd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箭头连接符 38"/>
            <p:cNvCxnSpPr>
              <a:endCxn id="37" idx="2"/>
            </p:cNvCxnSpPr>
            <p:nvPr/>
          </p:nvCxnSpPr>
          <p:spPr>
            <a:xfrm flipV="1">
              <a:off x="10965418" y="4711875"/>
              <a:ext cx="0" cy="1466370"/>
            </a:xfrm>
            <a:prstGeom prst="straightConnector1">
              <a:avLst/>
            </a:prstGeom>
            <a:ln w="28575" cap="rnd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0" name="文本框 39"/>
                <p:cNvSpPr txBox="1"/>
                <p:nvPr/>
              </p:nvSpPr>
              <p:spPr>
                <a:xfrm>
                  <a:off x="1274666" y="4400035"/>
                  <a:ext cx="1710406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𝑡𝑎𝑟𝑔𝑒𝑡</m:t>
                        </m:r>
                        <m:d>
                          <m:dPr>
                            <m:ctrlP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oMath>
                    </m:oMathPara>
                  </a14:m>
                  <a:endParaRPr lang="zh-CN" altLang="en-US">
                    <a:latin typeface="华文中宋" panose="02010600040101010101" pitchFamily="2" charset="-122"/>
                    <a:ea typeface="华文中宋" panose="02010600040101010101" pitchFamily="2" charset="-122"/>
                  </a:endParaRPr>
                </a:p>
              </p:txBody>
            </p:sp>
          </mc:Choice>
          <mc:Fallback>
            <p:sp>
              <p:nvSpPr>
                <p:cNvPr id="40" name="文本框 3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74666" y="4400035"/>
                  <a:ext cx="1710406" cy="369332"/>
                </a:xfrm>
                <a:prstGeom prst="rect">
                  <a:avLst/>
                </a:prstGeom>
                <a:blipFill rotWithShape="1">
                  <a:blip r:embed="rId7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1" name="文本框 40"/>
                <p:cNvSpPr txBox="1"/>
                <p:nvPr/>
              </p:nvSpPr>
              <p:spPr>
                <a:xfrm>
                  <a:off x="2133926" y="6178245"/>
                  <a:ext cx="1423278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𝑎𝑐𝑡𝑢𝑎𝑙</m:t>
                        </m:r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>
                    <a:latin typeface="华文中宋" panose="02010600040101010101" pitchFamily="2" charset="-122"/>
                    <a:ea typeface="华文中宋" panose="02010600040101010101" pitchFamily="2" charset="-122"/>
                  </a:endParaRPr>
                </a:p>
              </p:txBody>
            </p:sp>
          </mc:Choice>
          <mc:Fallback>
            <p:sp>
              <p:nvSpPr>
                <p:cNvPr id="41" name="文本框 4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33926" y="6178245"/>
                  <a:ext cx="1423278" cy="369332"/>
                </a:xfrm>
                <a:prstGeom prst="rect">
                  <a:avLst/>
                </a:prstGeom>
                <a:blipFill rotWithShape="1">
                  <a:blip r:embed="rId8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2" name="文本框 41"/>
            <p:cNvSpPr txBox="1"/>
            <p:nvPr/>
          </p:nvSpPr>
          <p:spPr>
            <a:xfrm>
              <a:off x="9197234" y="4046105"/>
              <a:ext cx="97361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800">
                  <a:latin typeface="华文中宋" panose="02010600040101010101" pitchFamily="2" charset="-122"/>
                  <a:ea typeface="华文中宋" panose="02010600040101010101" pitchFamily="2" charset="-122"/>
                </a:rPr>
                <a:t>输出值</a:t>
              </a:r>
              <a:endParaRPr lang="zh-CN" altLang="en-US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3" name="文本框 42"/>
                <p:cNvSpPr txBox="1"/>
                <p:nvPr/>
              </p:nvSpPr>
              <p:spPr>
                <a:xfrm>
                  <a:off x="9137396" y="4408997"/>
                  <a:ext cx="1093286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𝑜𝑢𝑡</m:t>
                        </m:r>
                        <m:d>
                          <m:dPr>
                            <m:ctrlP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oMath>
                    </m:oMathPara>
                  </a14:m>
                  <a:endParaRPr lang="zh-CN" altLang="en-US">
                    <a:latin typeface="华文中宋" panose="02010600040101010101" pitchFamily="2" charset="-122"/>
                    <a:ea typeface="华文中宋" panose="02010600040101010101" pitchFamily="2" charset="-122"/>
                  </a:endParaRPr>
                </a:p>
              </p:txBody>
            </p:sp>
          </mc:Choice>
          <mc:Fallback>
            <p:sp>
              <p:nvSpPr>
                <p:cNvPr id="43" name="文本框 4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37396" y="4408997"/>
                  <a:ext cx="1093286" cy="369332"/>
                </a:xfrm>
                <a:prstGeom prst="rect">
                  <a:avLst/>
                </a:prstGeom>
                <a:blipFill rotWithShape="1">
                  <a:blip r:embed="rId9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4" name="文本框 43"/>
            <p:cNvSpPr txBox="1"/>
            <p:nvPr/>
          </p:nvSpPr>
          <p:spPr>
            <a:xfrm>
              <a:off x="3416763" y="4046105"/>
              <a:ext cx="97361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>
                  <a:latin typeface="华文中宋" panose="02010600040101010101" pitchFamily="2" charset="-122"/>
                  <a:ea typeface="华文中宋" panose="02010600040101010101" pitchFamily="2" charset="-122"/>
                </a:rPr>
                <a:t>误差</a:t>
              </a:r>
              <a:endParaRPr lang="zh-CN" altLang="en-US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8230" y="176639"/>
            <a:ext cx="1080000" cy="1080000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>
            <a:off x="129896" y="727350"/>
            <a:ext cx="9000000" cy="0"/>
          </a:xfrm>
          <a:prstGeom prst="line">
            <a:avLst/>
          </a:prstGeom>
          <a:ln w="38100">
            <a:solidFill>
              <a:srgbClr val="1C519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109102" y="64329"/>
            <a:ext cx="40062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PID——</a:t>
            </a:r>
            <a:r>
              <a:rPr lang="zh-CN" altLang="en-US" sz="3200" dirty="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比例项（</a:t>
            </a:r>
            <a:r>
              <a:rPr lang="en-US" altLang="zh-CN" sz="3200" dirty="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P</a:t>
            </a:r>
            <a:r>
              <a:rPr lang="zh-CN" altLang="en-US" sz="3200" dirty="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）</a:t>
            </a:r>
            <a:endParaRPr lang="zh-CN" altLang="en-US" sz="3200" dirty="0">
              <a:solidFill>
                <a:srgbClr val="1C519A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/>
              <p:cNvSpPr txBox="1"/>
              <p:nvPr/>
            </p:nvSpPr>
            <p:spPr>
              <a:xfrm>
                <a:off x="0" y="1185597"/>
                <a:ext cx="5326743" cy="52416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只含有比例项的</a:t>
                </a:r>
                <a:r>
                  <a:rPr lang="en-US" altLang="zh-CN" sz="200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PID</a:t>
                </a:r>
                <a:r>
                  <a:rPr lang="zh-CN" altLang="en-US" sz="200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输出值：</a:t>
                </a:r>
                <a:endParaRPr lang="en-US" altLang="zh-CN" sz="2000" dirty="0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  <a:p>
                <a:pPr algn="ctr"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𝑜𝑢𝑡</m:t>
                      </m:r>
                      <m:d>
                        <m:dPr>
                          <m:ctrlP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𝑒𝑟𝑟𝑜𝑟</m:t>
                      </m:r>
                      <m:d>
                        <m:dPr>
                          <m:ctrlP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altLang="zh-CN" sz="2000" dirty="0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  <a:p>
                <a:pPr algn="ctr">
                  <a:spcAft>
                    <a:spcPts val="1200"/>
                  </a:spcAft>
                </a:pPr>
                <a:endParaRPr lang="en-US" altLang="zh-CN" sz="2000" dirty="0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  <a:p>
                <a:pPr marL="342900" indent="-342900"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比例项的输出值仅取决于当前时刻的误差，与历史时刻无关。当前存在误差时，比例项输出一个与误差呈正比的值，当前不存在误差时，比例项输出</a:t>
                </a:r>
                <a:r>
                  <a:rPr lang="en-US" altLang="zh-CN" sz="200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0</a:t>
                </a:r>
                <a:endParaRPr lang="en-US" altLang="zh-CN" sz="2000" dirty="0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  <a:p>
                <a:pPr marL="342900" indent="-342900"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endParaRPr lang="en-US" altLang="zh-CN" sz="2000" dirty="0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  <a:p>
                <a:pPr marL="342900" indent="-342900"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zh-CN" altLang="en-US" sz="200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越大，比例项权重越大，系统响应越快，但超调也会随之增加</a:t>
                </a:r>
                <a:endParaRPr lang="en-US" altLang="zh-CN" sz="2000" dirty="0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  <a:p>
                <a:pPr marL="342900" indent="-342900"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endParaRPr lang="en-US" altLang="zh-CN" sz="2000" dirty="0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  <a:p>
                <a:pPr marL="342900" indent="-342900"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纯比例项控制时，系统一般会存在稳态误差，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zh-CN" altLang="en-US" sz="200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越大，稳态误差越小</a:t>
                </a:r>
                <a:endParaRPr lang="en-US" altLang="zh-CN" sz="2000" dirty="0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</mc:Choice>
        <mc:Fallback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185597"/>
                <a:ext cx="5326743" cy="5241628"/>
              </a:xfrm>
              <a:prstGeom prst="rect">
                <a:avLst/>
              </a:prstGeom>
              <a:blipFill rotWithShape="1">
                <a:blip r:embed="rId2"/>
                <a:stretch>
                  <a:fillRect t="-1" r="7"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图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8072" y="1334885"/>
            <a:ext cx="3288511" cy="25200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3029" y="4011704"/>
            <a:ext cx="3293554" cy="25200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0511" y="1334885"/>
            <a:ext cx="3290578" cy="25200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0511" y="4011704"/>
            <a:ext cx="3291489" cy="25200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本框 10"/>
              <p:cNvSpPr txBox="1"/>
              <p:nvPr/>
            </p:nvSpPr>
            <p:spPr>
              <a:xfrm>
                <a:off x="6258616" y="2492817"/>
                <a:ext cx="1582380" cy="3907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25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8616" y="2492817"/>
                <a:ext cx="1582380" cy="390748"/>
              </a:xfrm>
              <a:prstGeom prst="rect">
                <a:avLst/>
              </a:prstGeom>
              <a:blipFill rotWithShape="1">
                <a:blip r:embed="rId7"/>
                <a:stretch>
                  <a:fillRect l="-4" t="-113" r="1" b="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本框 11"/>
              <p:cNvSpPr txBox="1"/>
              <p:nvPr/>
            </p:nvSpPr>
            <p:spPr>
              <a:xfrm>
                <a:off x="6258616" y="5169636"/>
                <a:ext cx="1582380" cy="3907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12" name="文本框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8616" y="5169636"/>
                <a:ext cx="1582380" cy="390748"/>
              </a:xfrm>
              <a:prstGeom prst="rect">
                <a:avLst/>
              </a:prstGeom>
              <a:blipFill rotWithShape="1">
                <a:blip r:embed="rId8"/>
                <a:stretch>
                  <a:fillRect l="-4" t="-26" r="1" b="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本框 12"/>
              <p:cNvSpPr txBox="1"/>
              <p:nvPr/>
            </p:nvSpPr>
            <p:spPr>
              <a:xfrm>
                <a:off x="9754610" y="2492817"/>
                <a:ext cx="1582380" cy="3907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 </m:t>
                      </m:r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75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13" name="文本框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54610" y="2492817"/>
                <a:ext cx="1582380" cy="390748"/>
              </a:xfrm>
              <a:prstGeom prst="rect">
                <a:avLst/>
              </a:prstGeom>
              <a:blipFill rotWithShape="1">
                <a:blip r:embed="rId9"/>
                <a:stretch>
                  <a:fillRect l="-24" t="-113" r="21" b="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文本框 13"/>
              <p:cNvSpPr txBox="1"/>
              <p:nvPr/>
            </p:nvSpPr>
            <p:spPr>
              <a:xfrm>
                <a:off x="9754610" y="5169636"/>
                <a:ext cx="1582380" cy="3907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14" name="文本框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54610" y="5169636"/>
                <a:ext cx="1582380" cy="390748"/>
              </a:xfrm>
              <a:prstGeom prst="rect">
                <a:avLst/>
              </a:prstGeom>
              <a:blipFill rotWithShape="1">
                <a:blip r:embed="rId10"/>
                <a:stretch>
                  <a:fillRect l="-24" t="-26" r="21" b="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8230" y="176639"/>
            <a:ext cx="1080000" cy="1080000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>
            <a:off x="129896" y="727350"/>
            <a:ext cx="9000000" cy="0"/>
          </a:xfrm>
          <a:prstGeom prst="line">
            <a:avLst/>
          </a:prstGeom>
          <a:ln w="38100">
            <a:solidFill>
              <a:srgbClr val="1C519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109102" y="64329"/>
            <a:ext cx="33698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PID——</a:t>
            </a:r>
            <a:r>
              <a:rPr lang="zh-CN" altLang="en-US" sz="3200" dirty="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稳态误差</a:t>
            </a:r>
            <a:endParaRPr lang="zh-CN" altLang="en-US" sz="3200" dirty="0">
              <a:solidFill>
                <a:srgbClr val="1C519A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47657" y="1379581"/>
            <a:ext cx="10800000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PID</a:t>
            </a:r>
            <a:r>
              <a:rPr lang="zh-CN" altLang="en-US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稳态误差：系统进入稳态时，实际值和目标值存在始终一个稳定的差值</a:t>
            </a:r>
            <a:endParaRPr lang="en-US" altLang="zh-CN" sz="24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US" altLang="zh-CN" sz="24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稳态误差产生原因：纯比例项控制时，若误差为</a:t>
            </a:r>
            <a:r>
              <a:rPr lang="en-US" altLang="zh-CN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0</a:t>
            </a:r>
            <a:r>
              <a:rPr lang="zh-CN" altLang="en-US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，则比例项结果也为</a:t>
            </a:r>
            <a:r>
              <a:rPr lang="en-US" altLang="zh-CN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0</a:t>
            </a:r>
            <a:r>
              <a:rPr lang="zh-CN" altLang="en-US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。被控对象输入</a:t>
            </a:r>
            <a:r>
              <a:rPr lang="en-US" altLang="zh-CN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0</a:t>
            </a:r>
            <a:r>
              <a:rPr lang="zh-CN" altLang="en-US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时，一般会自发地向一个方向偏移，产生误差。产生误差后，误差非</a:t>
            </a:r>
            <a:r>
              <a:rPr lang="en-US" altLang="zh-CN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0</a:t>
            </a:r>
            <a:r>
              <a:rPr lang="zh-CN" altLang="en-US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，比例项负反馈调控输出，当调控输出力度和自发偏移力度相同时，系统达到稳态</a:t>
            </a:r>
            <a:endParaRPr lang="en-US" altLang="zh-CN" sz="24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US" altLang="zh-CN" sz="24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判断是否会产生稳态误差：给被控对象输入</a:t>
            </a:r>
            <a:r>
              <a:rPr lang="en-US" altLang="zh-CN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0</a:t>
            </a:r>
            <a:r>
              <a:rPr lang="zh-CN" altLang="en-US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，判断被控对象会不会自发偏移</a:t>
            </a:r>
            <a:endParaRPr lang="en-US" altLang="zh-CN" sz="24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US" altLang="zh-CN" sz="24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判断稳态误差的方向：给被控对象输入</a:t>
            </a:r>
            <a:r>
              <a:rPr lang="en-US" altLang="zh-CN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0</a:t>
            </a:r>
            <a:r>
              <a:rPr lang="zh-CN" altLang="en-US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，自发偏移方向即为稳态误差方向</a:t>
            </a:r>
            <a:endParaRPr lang="en-US" altLang="zh-CN" sz="24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8230" y="176639"/>
            <a:ext cx="1080000" cy="1080000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>
            <a:off x="129896" y="727350"/>
            <a:ext cx="9000000" cy="0"/>
          </a:xfrm>
          <a:prstGeom prst="line">
            <a:avLst/>
          </a:prstGeom>
          <a:ln w="38100">
            <a:solidFill>
              <a:srgbClr val="1C519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109102" y="64329"/>
            <a:ext cx="391966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PID——</a:t>
            </a:r>
            <a:r>
              <a:rPr lang="zh-CN" altLang="en-US" sz="3200" dirty="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积分项（</a:t>
            </a:r>
            <a:r>
              <a:rPr lang="en-US" altLang="zh-CN" sz="3200" dirty="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I</a:t>
            </a:r>
            <a:r>
              <a:rPr lang="zh-CN" altLang="en-US" sz="3200" dirty="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）</a:t>
            </a:r>
            <a:endParaRPr lang="zh-CN" altLang="en-US" sz="3200" dirty="0">
              <a:solidFill>
                <a:srgbClr val="1C519A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529086" y="1154227"/>
                <a:ext cx="10800000" cy="53194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40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含有比例项和积分项的</a:t>
                </a:r>
                <a:r>
                  <a:rPr lang="en-US" altLang="zh-CN" sz="240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PID</a:t>
                </a:r>
                <a:r>
                  <a:rPr lang="zh-CN" altLang="en-US" sz="240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输出值：</a:t>
                </a:r>
                <a:endParaRPr lang="en-US" altLang="zh-CN" sz="2400" dirty="0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  <a:p>
                <a:pPr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𝑜𝑢𝑡</m:t>
                      </m:r>
                      <m:d>
                        <m:dPr>
                          <m:ctrlP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𝑒𝑟𝑟𝑜𝑟</m:t>
                      </m:r>
                      <m:d>
                        <m:dPr>
                          <m:ctrlP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nary>
                        <m:naryPr>
                          <m:ctrlP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  <m:e>
                          <m: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𝑒𝑟𝑟𝑜𝑟</m:t>
                          </m:r>
                          <m:d>
                            <m:dPr>
                              <m:ctrlPr>
                                <a:rPr lang="en-US" altLang="zh-CN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</m:oMath>
                  </m:oMathPara>
                </a14:m>
                <a:endParaRPr lang="en-US" altLang="zh-CN" sz="2400" dirty="0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  <a:p>
                <a:pPr>
                  <a:spcAft>
                    <a:spcPts val="1200"/>
                  </a:spcAft>
                </a:pPr>
                <a:endParaRPr lang="en-US" altLang="zh-CN" sz="2400" dirty="0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  <a:p>
                <a:pPr marL="342900" indent="-342900"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40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积分项的输出值取决于</a:t>
                </a:r>
                <a14:m>
                  <m:oMath xmlns:m="http://schemas.openxmlformats.org/officeDocument/2006/math">
                    <m:r>
                      <a:rPr lang="en-US" altLang="zh-CN" sz="240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CN" sz="240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altLang="zh-CN" sz="240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zh-CN" altLang="en-US" sz="240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所有时刻误差的积分，与历史时刻有关。积分项将历史所有时刻的误差累积，乘上积分项系数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240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后作为积分项输出值</a:t>
                </a:r>
                <a:endParaRPr lang="en-US" altLang="zh-CN" sz="2400" dirty="0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  <a:p>
                <a:pPr marL="342900" indent="-342900"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endParaRPr lang="en-US" altLang="zh-CN" sz="2400" dirty="0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  <a:p>
                <a:pPr marL="342900" indent="-342900"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40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积分项用于弥补纯比例项产生的稳态误差，若系统持续产生误差，则积分项会不断累积误差，直到控制器产生动作，让稳态误差消失</a:t>
                </a:r>
                <a:endParaRPr lang="en-US" altLang="zh-CN" sz="2400" dirty="0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  <a:p>
                <a:pPr marL="342900" indent="-342900"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endParaRPr lang="en-US" altLang="zh-CN" sz="2400" dirty="0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  <a:p>
                <a:pPr marL="342900" indent="-342900"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240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越大，积分项权重越大，稳态误差消失越快，但系统滞后性也会随之增加</a:t>
                </a:r>
                <a:endParaRPr lang="en-US" altLang="zh-CN" sz="2400" dirty="0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086" y="1154227"/>
                <a:ext cx="10800000" cy="5319470"/>
              </a:xfrm>
              <a:prstGeom prst="rect">
                <a:avLst/>
              </a:prstGeom>
              <a:blipFill rotWithShape="1">
                <a:blip r:embed="rId2"/>
                <a:stretch>
                  <a:fillRect l="-1" t="-8" b="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8230" y="176639"/>
            <a:ext cx="1080000" cy="1080000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>
            <a:off x="129896" y="727350"/>
            <a:ext cx="9000000" cy="0"/>
          </a:xfrm>
          <a:prstGeom prst="line">
            <a:avLst/>
          </a:prstGeom>
          <a:ln w="38100">
            <a:solidFill>
              <a:srgbClr val="1C519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109102" y="64329"/>
            <a:ext cx="391966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PID——</a:t>
            </a:r>
            <a:r>
              <a:rPr lang="zh-CN" altLang="en-US" sz="3200" dirty="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积分项（</a:t>
            </a:r>
            <a:r>
              <a:rPr lang="en-US" altLang="zh-CN" sz="3200" dirty="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I</a:t>
            </a:r>
            <a:r>
              <a:rPr lang="zh-CN" altLang="en-US" sz="3200" dirty="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）</a:t>
            </a:r>
            <a:endParaRPr lang="zh-CN" altLang="en-US" sz="3200" dirty="0">
              <a:solidFill>
                <a:srgbClr val="1C519A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9646" y="3934384"/>
            <a:ext cx="3287604" cy="252000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6403" y="1271359"/>
            <a:ext cx="3288510" cy="252000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6403" y="3934384"/>
            <a:ext cx="3290578" cy="252000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2198" y="1267328"/>
            <a:ext cx="3287604" cy="2520000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2467" y="1267328"/>
            <a:ext cx="3290578" cy="2520000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6930" y="3934384"/>
            <a:ext cx="3281653" cy="25200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8" name="文本框 17"/>
              <p:cNvSpPr txBox="1"/>
              <p:nvPr/>
            </p:nvSpPr>
            <p:spPr>
              <a:xfrm>
                <a:off x="1215164" y="2438766"/>
                <a:ext cx="2742052" cy="3907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05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18" name="文本框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5164" y="2438766"/>
                <a:ext cx="2742052" cy="390748"/>
              </a:xfrm>
              <a:prstGeom prst="rect">
                <a:avLst/>
              </a:prstGeom>
              <a:blipFill rotWithShape="1">
                <a:blip r:embed="rId8"/>
                <a:stretch>
                  <a:fillRect l="-15" t="-94" r="19" b="1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文本框 18"/>
              <p:cNvSpPr txBox="1"/>
              <p:nvPr/>
            </p:nvSpPr>
            <p:spPr>
              <a:xfrm>
                <a:off x="1215164" y="5089223"/>
                <a:ext cx="2742052" cy="3907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25</m:t>
                      </m:r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05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19" name="文本框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5164" y="5089223"/>
                <a:ext cx="2742052" cy="390748"/>
              </a:xfrm>
              <a:prstGeom prst="rect">
                <a:avLst/>
              </a:prstGeom>
              <a:blipFill rotWithShape="1">
                <a:blip r:embed="rId9"/>
                <a:stretch>
                  <a:fillRect l="-15" t="-85" r="19" b="1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文本框 19"/>
              <p:cNvSpPr txBox="1"/>
              <p:nvPr/>
            </p:nvSpPr>
            <p:spPr>
              <a:xfrm>
                <a:off x="4724974" y="2438766"/>
                <a:ext cx="2742052" cy="3907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25</m:t>
                      </m:r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20" name="文本框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4974" y="2438766"/>
                <a:ext cx="2742052" cy="390748"/>
              </a:xfrm>
              <a:prstGeom prst="rect">
                <a:avLst/>
              </a:prstGeom>
              <a:blipFill rotWithShape="1">
                <a:blip r:embed="rId10"/>
                <a:stretch>
                  <a:fillRect l="-21" t="-94" r="2" b="1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文本框 20"/>
              <p:cNvSpPr txBox="1"/>
              <p:nvPr/>
            </p:nvSpPr>
            <p:spPr>
              <a:xfrm>
                <a:off x="8240844" y="2438766"/>
                <a:ext cx="2742052" cy="3907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25</m:t>
                      </m:r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21" name="文本框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0844" y="2438766"/>
                <a:ext cx="2742052" cy="390748"/>
              </a:xfrm>
              <a:prstGeom prst="rect">
                <a:avLst/>
              </a:prstGeom>
              <a:blipFill rotWithShape="1">
                <a:blip r:embed="rId11"/>
                <a:stretch>
                  <a:fillRect l="-16" t="-94" r="21" b="1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文本框 21"/>
              <p:cNvSpPr txBox="1"/>
              <p:nvPr/>
            </p:nvSpPr>
            <p:spPr>
              <a:xfrm>
                <a:off x="4724974" y="5089223"/>
                <a:ext cx="2742052" cy="3907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22" name="文本框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4974" y="5089223"/>
                <a:ext cx="2742052" cy="390748"/>
              </a:xfrm>
              <a:prstGeom prst="rect">
                <a:avLst/>
              </a:prstGeom>
              <a:blipFill rotWithShape="1">
                <a:blip r:embed="rId12"/>
                <a:stretch>
                  <a:fillRect l="-21" t="-85" r="2" b="1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文本框 22"/>
              <p:cNvSpPr txBox="1"/>
              <p:nvPr/>
            </p:nvSpPr>
            <p:spPr>
              <a:xfrm>
                <a:off x="8236730" y="5089223"/>
                <a:ext cx="2742052" cy="3907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23" name="文本框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6730" y="5089223"/>
                <a:ext cx="2742052" cy="390748"/>
              </a:xfrm>
              <a:prstGeom prst="rect">
                <a:avLst/>
              </a:prstGeom>
              <a:blipFill rotWithShape="1">
                <a:blip r:embed="rId13"/>
                <a:stretch>
                  <a:fillRect l="-5" t="-85" r="10" b="1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8230" y="176639"/>
            <a:ext cx="1080000" cy="1080000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>
            <a:off x="129896" y="727350"/>
            <a:ext cx="9000000" cy="0"/>
          </a:xfrm>
          <a:prstGeom prst="line">
            <a:avLst/>
          </a:prstGeom>
          <a:ln w="38100">
            <a:solidFill>
              <a:srgbClr val="1C519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109102" y="64329"/>
            <a:ext cx="4108817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PID——</a:t>
            </a:r>
            <a:r>
              <a:rPr lang="zh-CN" altLang="en-US" sz="3200" dirty="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微分项（</a:t>
            </a:r>
            <a:r>
              <a:rPr lang="en-US" altLang="zh-CN" sz="3200" dirty="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D</a:t>
            </a:r>
            <a:r>
              <a:rPr lang="zh-CN" altLang="en-US" sz="3200" dirty="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）</a:t>
            </a:r>
            <a:endParaRPr lang="zh-CN" altLang="en-US" sz="3200" dirty="0">
              <a:solidFill>
                <a:srgbClr val="1C519A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endParaRPr lang="zh-CN" altLang="en-US" sz="3200" dirty="0">
              <a:solidFill>
                <a:srgbClr val="1C519A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424230" y="727350"/>
                <a:ext cx="10800000" cy="62120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40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含有比例项、积分项和微分项的</a:t>
                </a:r>
                <a:r>
                  <a:rPr lang="en-US" altLang="zh-CN" sz="240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PID</a:t>
                </a:r>
                <a:r>
                  <a:rPr lang="zh-CN" altLang="en-US" sz="240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输出值：</a:t>
                </a:r>
                <a:endParaRPr lang="en-US" altLang="zh-CN" sz="2400" dirty="0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  <a:p>
                <a:pPr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𝑜𝑢𝑡</m:t>
                      </m:r>
                      <m:d>
                        <m:dPr>
                          <m:ctrlP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𝑒𝑟𝑟𝑜𝑟</m:t>
                      </m:r>
                      <m:d>
                        <m:dPr>
                          <m:ctrlP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nary>
                        <m:naryPr>
                          <m:ctrlP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  <m:e>
                          <m: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𝑒𝑟𝑟𝑜𝑟</m:t>
                          </m:r>
                          <m:d>
                            <m:dPr>
                              <m:ctrlPr>
                                <a:rPr lang="en-US" altLang="zh-CN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𝑑𝑒𝑟𝑟𝑜𝑟</m:t>
                          </m:r>
                          <m:d>
                            <m:dPr>
                              <m:ctrlPr>
                                <a:rPr lang="en-US" altLang="zh-CN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num>
                        <m:den>
                          <m: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en-US" altLang="zh-CN" sz="2400" dirty="0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  <a:p>
                <a:pPr marL="342900" indent="-342900"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40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微分项的输出值取决于当前时刻误差变化的斜率，与当前时刻附近误差变化的趋势有关。当误差急剧变化时，微分项会负反馈输出相反的作用力，阻碍误差急剧变化</a:t>
                </a:r>
                <a:endParaRPr lang="en-US" altLang="zh-CN" sz="2400" dirty="0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  <a:p>
                <a:pPr marL="342900" indent="-342900"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endParaRPr lang="en-US" altLang="zh-CN" sz="2400" dirty="0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  <a:p>
                <a:pPr marL="342900" indent="-342900"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40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斜率一定程度上反映了误差未来的变化趋势，这使得微分项具有 “预测未来，提前调控”的特性</a:t>
                </a:r>
                <a:endParaRPr lang="en-US" altLang="zh-CN" sz="2400" dirty="0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  <a:p>
                <a:pPr marL="342900" indent="-342900"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endParaRPr lang="en-US" altLang="zh-CN" sz="2400" dirty="0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  <a:p>
                <a:pPr marL="342900" indent="-342900"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40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微分项给系统增加阻尼，可以有效防止系统超调，尤其是惯性比较大的系统</a:t>
                </a:r>
                <a:endParaRPr lang="en-US" altLang="zh-CN" sz="2400" dirty="0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  <a:p>
                <a:pPr marL="342900" indent="-342900"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endParaRPr lang="en-US" altLang="zh-CN" sz="2400" dirty="0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  <a:p>
                <a:pPr marL="342900" indent="-342900"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i="1">
                            <a:latin typeface="Cambria Math" panose="02040503050406030204" pitchFamily="18" charset="0"/>
                          </a:rPr>
                          <m:t>d</m:t>
                        </m:r>
                      </m:sub>
                    </m:sSub>
                  </m:oMath>
                </a14:m>
                <a:r>
                  <a:rPr lang="zh-CN" altLang="en-US" sz="240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越大，微分项权重越大，系统阻尼越大，但系统卡顿现象也会随之增加</a:t>
                </a:r>
                <a:endParaRPr lang="en-US" altLang="zh-CN" sz="2400" dirty="0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230" y="727350"/>
                <a:ext cx="10800000" cy="6212022"/>
              </a:xfrm>
              <a:prstGeom prst="rect">
                <a:avLst/>
              </a:prstGeom>
              <a:blipFill rotWithShape="1">
                <a:blip r:embed="rId2"/>
                <a:stretch>
                  <a:fillRect t="-4" r="-882" b="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8230" y="176639"/>
            <a:ext cx="1080000" cy="1080000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>
            <a:off x="129896" y="727350"/>
            <a:ext cx="9000000" cy="0"/>
          </a:xfrm>
          <a:prstGeom prst="line">
            <a:avLst/>
          </a:prstGeom>
          <a:ln w="38100">
            <a:solidFill>
              <a:srgbClr val="1C519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109102" y="64329"/>
            <a:ext cx="410881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PID——</a:t>
            </a:r>
            <a:r>
              <a:rPr lang="zh-CN" altLang="en-US" sz="3200" dirty="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微分项（</a:t>
            </a:r>
            <a:r>
              <a:rPr lang="en-US" altLang="zh-CN" sz="3200" dirty="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D</a:t>
            </a:r>
            <a:r>
              <a:rPr lang="zh-CN" altLang="en-US" sz="3200" dirty="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）</a:t>
            </a:r>
            <a:endParaRPr lang="zh-CN" altLang="en-US" sz="3200" dirty="0">
              <a:solidFill>
                <a:srgbClr val="1C519A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2232886" y="1778508"/>
            <a:ext cx="1959383" cy="1650492"/>
            <a:chOff x="2727408" y="2029968"/>
            <a:chExt cx="1959383" cy="1650492"/>
          </a:xfrm>
        </p:grpSpPr>
        <p:cxnSp>
          <p:nvCxnSpPr>
            <p:cNvPr id="13" name="直接箭头连接符 12"/>
            <p:cNvCxnSpPr/>
            <p:nvPr/>
          </p:nvCxnSpPr>
          <p:spPr>
            <a:xfrm>
              <a:off x="2739679" y="2514600"/>
              <a:ext cx="1789141" cy="0"/>
            </a:xfrm>
            <a:prstGeom prst="straightConnector1">
              <a:avLst/>
            </a:prstGeom>
            <a:ln w="28575" cap="rnd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箭头连接符 13"/>
            <p:cNvCxnSpPr/>
            <p:nvPr/>
          </p:nvCxnSpPr>
          <p:spPr>
            <a:xfrm flipV="1">
              <a:off x="2727408" y="2029968"/>
              <a:ext cx="0" cy="1650492"/>
            </a:xfrm>
            <a:prstGeom prst="straightConnector1">
              <a:avLst/>
            </a:prstGeom>
            <a:ln w="28575" cap="rnd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箭头连接符 14"/>
            <p:cNvCxnSpPr/>
            <p:nvPr/>
          </p:nvCxnSpPr>
          <p:spPr>
            <a:xfrm>
              <a:off x="2727408" y="3372861"/>
              <a:ext cx="1959383" cy="0"/>
            </a:xfrm>
            <a:prstGeom prst="straightConnector1">
              <a:avLst/>
            </a:prstGeom>
            <a:ln w="28575" cap="rnd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任意多边形: 形状 15"/>
            <p:cNvSpPr/>
            <p:nvPr/>
          </p:nvSpPr>
          <p:spPr>
            <a:xfrm flipV="1">
              <a:off x="2739679" y="2659629"/>
              <a:ext cx="1225296" cy="713232"/>
            </a:xfrm>
            <a:custGeom>
              <a:avLst/>
              <a:gdLst>
                <a:gd name="connsiteX0" fmla="*/ 0 w 1225296"/>
                <a:gd name="connsiteY0" fmla="*/ 0 h 713232"/>
                <a:gd name="connsiteX1" fmla="*/ 902208 w 1225296"/>
                <a:gd name="connsiteY1" fmla="*/ 188976 h 713232"/>
                <a:gd name="connsiteX2" fmla="*/ 1225296 w 1225296"/>
                <a:gd name="connsiteY2" fmla="*/ 713232 h 713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25296" h="713232">
                  <a:moveTo>
                    <a:pt x="0" y="0"/>
                  </a:moveTo>
                  <a:cubicBezTo>
                    <a:pt x="348996" y="35052"/>
                    <a:pt x="697992" y="70104"/>
                    <a:pt x="902208" y="188976"/>
                  </a:cubicBezTo>
                  <a:cubicBezTo>
                    <a:pt x="1106424" y="307848"/>
                    <a:pt x="1165860" y="510540"/>
                    <a:pt x="1225296" y="713232"/>
                  </a:cubicBezTo>
                </a:path>
              </a:pathLst>
            </a:custGeom>
            <a:noFill/>
            <a:ln w="28575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</p:grpSp>
      <p:sp>
        <p:nvSpPr>
          <p:cNvPr id="17" name="文本框 16"/>
          <p:cNvSpPr txBox="1"/>
          <p:nvPr/>
        </p:nvSpPr>
        <p:spPr>
          <a:xfrm>
            <a:off x="128969" y="2237758"/>
            <a:ext cx="19593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目标值和</a:t>
            </a:r>
            <a:endParaRPr lang="en-US" altLang="zh-CN" sz="20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algn="ctr"/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实际值的变化</a:t>
            </a:r>
            <a:endParaRPr lang="zh-CN" altLang="en-US" sz="20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51502" y="4629348"/>
            <a:ext cx="19593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误差的变化</a:t>
            </a:r>
            <a:endParaRPr lang="zh-CN" altLang="en-US" sz="20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2232886" y="3979661"/>
            <a:ext cx="1959383" cy="1749552"/>
            <a:chOff x="2727408" y="4231121"/>
            <a:chExt cx="1959383" cy="1749552"/>
          </a:xfrm>
        </p:grpSpPr>
        <p:cxnSp>
          <p:nvCxnSpPr>
            <p:cNvPr id="20" name="直接箭头连接符 19"/>
            <p:cNvCxnSpPr/>
            <p:nvPr/>
          </p:nvCxnSpPr>
          <p:spPr>
            <a:xfrm flipV="1">
              <a:off x="2727408" y="4231122"/>
              <a:ext cx="0" cy="1650492"/>
            </a:xfrm>
            <a:prstGeom prst="straightConnector1">
              <a:avLst/>
            </a:prstGeom>
            <a:ln w="28575" cap="rnd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箭头连接符 20"/>
            <p:cNvCxnSpPr/>
            <p:nvPr/>
          </p:nvCxnSpPr>
          <p:spPr>
            <a:xfrm>
              <a:off x="2727408" y="5574015"/>
              <a:ext cx="1959383" cy="0"/>
            </a:xfrm>
            <a:prstGeom prst="straightConnector1">
              <a:avLst/>
            </a:prstGeom>
            <a:ln w="28575" cap="rnd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任意多边形: 形状 21"/>
            <p:cNvSpPr/>
            <p:nvPr/>
          </p:nvSpPr>
          <p:spPr>
            <a:xfrm>
              <a:off x="2739679" y="4724247"/>
              <a:ext cx="1225296" cy="713232"/>
            </a:xfrm>
            <a:custGeom>
              <a:avLst/>
              <a:gdLst>
                <a:gd name="connsiteX0" fmla="*/ 0 w 1225296"/>
                <a:gd name="connsiteY0" fmla="*/ 0 h 713232"/>
                <a:gd name="connsiteX1" fmla="*/ 902208 w 1225296"/>
                <a:gd name="connsiteY1" fmla="*/ 188976 h 713232"/>
                <a:gd name="connsiteX2" fmla="*/ 1225296 w 1225296"/>
                <a:gd name="connsiteY2" fmla="*/ 713232 h 713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25296" h="713232">
                  <a:moveTo>
                    <a:pt x="0" y="0"/>
                  </a:moveTo>
                  <a:cubicBezTo>
                    <a:pt x="348996" y="35052"/>
                    <a:pt x="697992" y="70104"/>
                    <a:pt x="902208" y="188976"/>
                  </a:cubicBezTo>
                  <a:cubicBezTo>
                    <a:pt x="1106424" y="307848"/>
                    <a:pt x="1165860" y="510540"/>
                    <a:pt x="1225296" y="713232"/>
                  </a:cubicBezTo>
                </a:path>
              </a:pathLst>
            </a:custGeom>
            <a:noFill/>
            <a:ln w="2857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cxnSp>
          <p:nvCxnSpPr>
            <p:cNvPr id="23" name="直接箭头连接符 22"/>
            <p:cNvCxnSpPr/>
            <p:nvPr/>
          </p:nvCxnSpPr>
          <p:spPr>
            <a:xfrm>
              <a:off x="3667159" y="4231121"/>
              <a:ext cx="432085" cy="1749552"/>
            </a:xfrm>
            <a:prstGeom prst="straightConnector1">
              <a:avLst/>
            </a:prstGeom>
            <a:ln w="28575" cap="rnd">
              <a:solidFill>
                <a:schemeClr val="tx1"/>
              </a:solidFill>
              <a:prstDash val="sys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组合 23"/>
          <p:cNvGrpSpPr/>
          <p:nvPr/>
        </p:nvGrpSpPr>
        <p:grpSpPr>
          <a:xfrm>
            <a:off x="4594678" y="1778508"/>
            <a:ext cx="1959383" cy="1650492"/>
            <a:chOff x="5471081" y="2029968"/>
            <a:chExt cx="1959383" cy="1650492"/>
          </a:xfrm>
        </p:grpSpPr>
        <p:cxnSp>
          <p:nvCxnSpPr>
            <p:cNvPr id="25" name="直接箭头连接符 24"/>
            <p:cNvCxnSpPr/>
            <p:nvPr/>
          </p:nvCxnSpPr>
          <p:spPr>
            <a:xfrm>
              <a:off x="5483352" y="3077110"/>
              <a:ext cx="1789141" cy="0"/>
            </a:xfrm>
            <a:prstGeom prst="straightConnector1">
              <a:avLst/>
            </a:prstGeom>
            <a:ln w="28575" cap="rnd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箭头连接符 25"/>
            <p:cNvCxnSpPr/>
            <p:nvPr/>
          </p:nvCxnSpPr>
          <p:spPr>
            <a:xfrm flipV="1">
              <a:off x="5471081" y="2029968"/>
              <a:ext cx="0" cy="1650492"/>
            </a:xfrm>
            <a:prstGeom prst="straightConnector1">
              <a:avLst/>
            </a:prstGeom>
            <a:ln w="28575" cap="rnd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箭头连接符 26"/>
            <p:cNvCxnSpPr/>
            <p:nvPr/>
          </p:nvCxnSpPr>
          <p:spPr>
            <a:xfrm>
              <a:off x="5471081" y="3372861"/>
              <a:ext cx="1959383" cy="0"/>
            </a:xfrm>
            <a:prstGeom prst="straightConnector1">
              <a:avLst/>
            </a:prstGeom>
            <a:ln w="28575" cap="rnd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任意多边形: 形状 27"/>
            <p:cNvSpPr/>
            <p:nvPr/>
          </p:nvSpPr>
          <p:spPr>
            <a:xfrm>
              <a:off x="5483352" y="2226829"/>
              <a:ext cx="1225296" cy="713232"/>
            </a:xfrm>
            <a:custGeom>
              <a:avLst/>
              <a:gdLst>
                <a:gd name="connsiteX0" fmla="*/ 0 w 1225296"/>
                <a:gd name="connsiteY0" fmla="*/ 0 h 713232"/>
                <a:gd name="connsiteX1" fmla="*/ 902208 w 1225296"/>
                <a:gd name="connsiteY1" fmla="*/ 188976 h 713232"/>
                <a:gd name="connsiteX2" fmla="*/ 1225296 w 1225296"/>
                <a:gd name="connsiteY2" fmla="*/ 713232 h 713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25296" h="713232">
                  <a:moveTo>
                    <a:pt x="0" y="0"/>
                  </a:moveTo>
                  <a:cubicBezTo>
                    <a:pt x="348996" y="35052"/>
                    <a:pt x="697992" y="70104"/>
                    <a:pt x="902208" y="188976"/>
                  </a:cubicBezTo>
                  <a:cubicBezTo>
                    <a:pt x="1106424" y="307848"/>
                    <a:pt x="1165860" y="510540"/>
                    <a:pt x="1225296" y="713232"/>
                  </a:cubicBezTo>
                </a:path>
              </a:pathLst>
            </a:custGeom>
            <a:noFill/>
            <a:ln w="28575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4594678" y="3955166"/>
            <a:ext cx="1959383" cy="1749552"/>
            <a:chOff x="5471081" y="4206626"/>
            <a:chExt cx="1959383" cy="1749552"/>
          </a:xfrm>
        </p:grpSpPr>
        <p:cxnSp>
          <p:nvCxnSpPr>
            <p:cNvPr id="30" name="直接箭头连接符 29"/>
            <p:cNvCxnSpPr/>
            <p:nvPr/>
          </p:nvCxnSpPr>
          <p:spPr>
            <a:xfrm flipV="1">
              <a:off x="5471081" y="4231122"/>
              <a:ext cx="0" cy="1650492"/>
            </a:xfrm>
            <a:prstGeom prst="straightConnector1">
              <a:avLst/>
            </a:prstGeom>
            <a:ln w="28575" cap="rnd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箭头连接符 30"/>
            <p:cNvCxnSpPr/>
            <p:nvPr/>
          </p:nvCxnSpPr>
          <p:spPr>
            <a:xfrm>
              <a:off x="5471081" y="4640954"/>
              <a:ext cx="1959383" cy="0"/>
            </a:xfrm>
            <a:prstGeom prst="straightConnector1">
              <a:avLst/>
            </a:prstGeom>
            <a:ln w="28575" cap="rnd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任意多边形: 形状 31"/>
            <p:cNvSpPr/>
            <p:nvPr/>
          </p:nvSpPr>
          <p:spPr>
            <a:xfrm flipV="1">
              <a:off x="5483352" y="4749281"/>
              <a:ext cx="1225296" cy="713232"/>
            </a:xfrm>
            <a:custGeom>
              <a:avLst/>
              <a:gdLst>
                <a:gd name="connsiteX0" fmla="*/ 0 w 1225296"/>
                <a:gd name="connsiteY0" fmla="*/ 0 h 713232"/>
                <a:gd name="connsiteX1" fmla="*/ 902208 w 1225296"/>
                <a:gd name="connsiteY1" fmla="*/ 188976 h 713232"/>
                <a:gd name="connsiteX2" fmla="*/ 1225296 w 1225296"/>
                <a:gd name="connsiteY2" fmla="*/ 713232 h 713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25296" h="713232">
                  <a:moveTo>
                    <a:pt x="0" y="0"/>
                  </a:moveTo>
                  <a:cubicBezTo>
                    <a:pt x="348996" y="35052"/>
                    <a:pt x="697992" y="70104"/>
                    <a:pt x="902208" y="188976"/>
                  </a:cubicBezTo>
                  <a:cubicBezTo>
                    <a:pt x="1106424" y="307848"/>
                    <a:pt x="1165860" y="510540"/>
                    <a:pt x="1225296" y="713232"/>
                  </a:cubicBezTo>
                </a:path>
              </a:pathLst>
            </a:custGeom>
            <a:noFill/>
            <a:ln w="2857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cxnSp>
          <p:nvCxnSpPr>
            <p:cNvPr id="33" name="直接箭头连接符 32"/>
            <p:cNvCxnSpPr/>
            <p:nvPr/>
          </p:nvCxnSpPr>
          <p:spPr>
            <a:xfrm flipV="1">
              <a:off x="6410834" y="4206626"/>
              <a:ext cx="432085" cy="1749552"/>
            </a:xfrm>
            <a:prstGeom prst="straightConnector1">
              <a:avLst/>
            </a:prstGeom>
            <a:ln w="28575" cap="rnd">
              <a:solidFill>
                <a:schemeClr val="tx1"/>
              </a:solidFill>
              <a:prstDash val="sys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4" name="图片 3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5545" y="1975369"/>
            <a:ext cx="4750456" cy="3638007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5" name="文本框 34"/>
              <p:cNvSpPr txBox="1"/>
              <p:nvPr/>
            </p:nvSpPr>
            <p:spPr>
              <a:xfrm>
                <a:off x="7313870" y="3855581"/>
                <a:ext cx="98183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000" i="1">
                              <a:latin typeface="Cambria Math" panose="02040503050406030204" pitchFamily="18" charset="0"/>
                            </a:rPr>
                            <m:t>d</m:t>
                          </m:r>
                        </m:sub>
                      </m:sSub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2000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</mc:Choice>
        <mc:Fallback>
          <p:sp>
            <p:nvSpPr>
              <p:cNvPr id="35" name="文本框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3870" y="3855581"/>
                <a:ext cx="981830" cy="400110"/>
              </a:xfrm>
              <a:prstGeom prst="rect">
                <a:avLst/>
              </a:prstGeom>
              <a:blipFill rotWithShape="1">
                <a:blip r:embed="rId3"/>
                <a:stretch>
                  <a:fillRect l="-59" t="-124" r="6" b="1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直接箭头连接符 35"/>
          <p:cNvCxnSpPr/>
          <p:nvPr/>
        </p:nvCxnSpPr>
        <p:spPr>
          <a:xfrm flipV="1">
            <a:off x="8328660" y="2709000"/>
            <a:ext cx="0" cy="1440000"/>
          </a:xfrm>
          <a:prstGeom prst="straightConnector1">
            <a:avLst/>
          </a:prstGeom>
          <a:ln w="28575" cap="rnd">
            <a:solidFill>
              <a:schemeClr val="tx1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箭头连接符 36"/>
          <p:cNvCxnSpPr/>
          <p:nvPr/>
        </p:nvCxnSpPr>
        <p:spPr>
          <a:xfrm flipV="1">
            <a:off x="10081262" y="2709000"/>
            <a:ext cx="0" cy="1440000"/>
          </a:xfrm>
          <a:prstGeom prst="straightConnector1">
            <a:avLst/>
          </a:prstGeom>
          <a:ln w="28575" cap="rnd">
            <a:solidFill>
              <a:schemeClr val="tx1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8" name="文本框 37"/>
              <p:cNvSpPr txBox="1"/>
              <p:nvPr/>
            </p:nvSpPr>
            <p:spPr>
              <a:xfrm>
                <a:off x="8736814" y="3855581"/>
                <a:ext cx="98183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000" i="1">
                              <a:latin typeface="Cambria Math" panose="02040503050406030204" pitchFamily="18" charset="0"/>
                            </a:rPr>
                            <m:t>d</m:t>
                          </m:r>
                        </m:sub>
                      </m:sSub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zh-CN" altLang="en-US" sz="2000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</mc:Choice>
        <mc:Fallback>
          <p:sp>
            <p:nvSpPr>
              <p:cNvPr id="38" name="文本框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6814" y="3855581"/>
                <a:ext cx="981830" cy="400110"/>
              </a:xfrm>
              <a:prstGeom prst="rect">
                <a:avLst/>
              </a:prstGeom>
              <a:blipFill rotWithShape="1">
                <a:blip r:embed="rId4"/>
                <a:stretch>
                  <a:fillRect l="-49" t="-124" r="62" b="1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9" name="文本框 38"/>
              <p:cNvSpPr txBox="1"/>
              <p:nvPr/>
            </p:nvSpPr>
            <p:spPr>
              <a:xfrm>
                <a:off x="10307910" y="3855581"/>
                <a:ext cx="98183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000" i="1">
                              <a:latin typeface="Cambria Math" panose="02040503050406030204" pitchFamily="18" charset="0"/>
                            </a:rPr>
                            <m:t>d</m:t>
                          </m:r>
                        </m:sub>
                      </m:sSub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zh-CN" altLang="en-US" sz="2000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</mc:Choice>
        <mc:Fallback>
          <p:sp>
            <p:nvSpPr>
              <p:cNvPr id="39" name="文本框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07910" y="3855581"/>
                <a:ext cx="981830" cy="400110"/>
              </a:xfrm>
              <a:prstGeom prst="rect">
                <a:avLst/>
              </a:prstGeom>
              <a:blipFill rotWithShape="1">
                <a:blip r:embed="rId5"/>
                <a:stretch>
                  <a:fillRect l="-60" t="-124" r="8" b="1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0" name="直接箭头连接符 39"/>
          <p:cNvCxnSpPr/>
          <p:nvPr/>
        </p:nvCxnSpPr>
        <p:spPr>
          <a:xfrm flipV="1">
            <a:off x="7280910" y="2709000"/>
            <a:ext cx="0" cy="1440000"/>
          </a:xfrm>
          <a:prstGeom prst="straightConnector1">
            <a:avLst/>
          </a:prstGeom>
          <a:ln w="28575" cap="rnd">
            <a:solidFill>
              <a:schemeClr val="tx1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8230" y="176639"/>
            <a:ext cx="1080000" cy="1080000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>
            <a:off x="129896" y="727350"/>
            <a:ext cx="9000000" cy="0"/>
          </a:xfrm>
          <a:prstGeom prst="line">
            <a:avLst/>
          </a:prstGeom>
          <a:ln w="38100">
            <a:solidFill>
              <a:srgbClr val="1C519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109102" y="64329"/>
            <a:ext cx="7688323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PID——</a:t>
            </a:r>
            <a:r>
              <a:rPr lang="zh-CN" altLang="en-US" sz="3200" dirty="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连续形式</a:t>
            </a:r>
            <a:r>
              <a:rPr lang="en-US" altLang="zh-CN" sz="3200" dirty="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PID</a:t>
            </a:r>
            <a:r>
              <a:rPr lang="zh-CN" altLang="en-US" sz="3200" dirty="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与离散形式</a:t>
            </a:r>
            <a:r>
              <a:rPr lang="en-US" altLang="zh-CN" sz="3200" dirty="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PID</a:t>
            </a:r>
            <a:r>
              <a:rPr lang="zh-CN" altLang="en-US" sz="3200" dirty="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公式</a:t>
            </a:r>
            <a:endParaRPr lang="zh-CN" altLang="en-US" sz="3200" dirty="0">
              <a:solidFill>
                <a:srgbClr val="1C519A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endParaRPr lang="zh-CN" altLang="en-US" sz="3200" dirty="0">
              <a:solidFill>
                <a:srgbClr val="1C519A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696000" y="1219541"/>
                <a:ext cx="10800000" cy="53097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zh-CN" altLang="en-US" sz="240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连续形式</a:t>
                </a:r>
                <a:r>
                  <a:rPr lang="en-US" altLang="zh-CN" sz="240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PID</a:t>
                </a:r>
                <a:r>
                  <a:rPr lang="zh-CN" altLang="en-US" sz="240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：</a:t>
                </a:r>
                <a:endParaRPr lang="en-US" altLang="zh-CN" sz="2400" dirty="0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𝑜𝑢𝑡</m:t>
                      </m:r>
                      <m:d>
                        <m:dPr>
                          <m:ctrlP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𝑒𝑟𝑟𝑜𝑟</m:t>
                      </m:r>
                      <m:d>
                        <m:dPr>
                          <m:ctrlP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nary>
                        <m:naryPr>
                          <m:ctrlP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  <m:e>
                          <m: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𝑒𝑟𝑟𝑜𝑟</m:t>
                          </m:r>
                          <m:d>
                            <m:dPr>
                              <m:ctrlPr>
                                <a:rPr lang="en-US" altLang="zh-CN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𝑑𝑒𝑟𝑟𝑜𝑟</m:t>
                          </m:r>
                          <m:d>
                            <m:dPr>
                              <m:ctrlPr>
                                <a:rPr lang="en-US" altLang="zh-CN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num>
                        <m:den>
                          <m: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en-US" altLang="zh-CN" sz="2400" dirty="0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  <a:p>
                <a:pPr algn="ctr"/>
                <a:endParaRPr lang="en-US" altLang="zh-CN" sz="2400" dirty="0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zh-CN" altLang="en-US" sz="240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离散形式</a:t>
                </a:r>
                <a:r>
                  <a:rPr lang="en-US" altLang="zh-CN" sz="240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PID</a:t>
                </a:r>
                <a:r>
                  <a:rPr lang="zh-CN" altLang="en-US" sz="240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：</a:t>
                </a:r>
                <a:endParaRPr lang="en-US" altLang="zh-CN" sz="2400" dirty="0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𝑜𝑢𝑡</m:t>
                      </m:r>
                      <m:d>
                        <m:dPr>
                          <m:ctrlP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𝑒𝑟𝑟𝑜𝑟</m:t>
                      </m:r>
                      <m:d>
                        <m:dPr>
                          <m:ctrlP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𝑇</m:t>
                      </m:r>
                      <m:nary>
                        <m:naryPr>
                          <m:chr m:val="∑"/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US" altLang="zh-CN" sz="24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𝑒𝑟𝑟𝑜𝑟</m:t>
                          </m:r>
                          <m:d>
                            <m:d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d>
                        </m:e>
                      </m:nary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𝑒𝑟𝑟𝑜𝑟</m:t>
                          </m:r>
                          <m:d>
                            <m:dPr>
                              <m:ctrlPr>
                                <a:rPr lang="en-US" altLang="zh-CN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𝑒𝑟𝑟𝑜𝑟</m:t>
                          </m:r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</m:oMath>
                  </m:oMathPara>
                </a14:m>
                <a:endParaRPr lang="en-US" altLang="zh-CN" sz="2400" dirty="0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altLang="zh-CN" sz="2400" dirty="0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zh-CN" altLang="en-US" sz="240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若将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zh-CN" altLang="en-US" sz="240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并入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40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i="1">
                            <a:latin typeface="Cambria Math" panose="02040503050406030204" pitchFamily="18" charset="0"/>
                          </a:rPr>
                          <m:t>d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40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，则：</a:t>
                </a:r>
                <a:endParaRPr lang="en-US" altLang="zh-CN" sz="2400" dirty="0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𝑜𝑢𝑡</m:t>
                      </m:r>
                      <m:d>
                        <m:dPr>
                          <m:ctrlP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𝑒𝑟𝑟𝑜𝑟</m:t>
                      </m:r>
                      <m:d>
                        <m:dPr>
                          <m:ctrlP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nary>
                        <m:naryPr>
                          <m:chr m:val="∑"/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US" altLang="zh-CN" sz="24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𝑒𝑟𝑟𝑜𝑟</m:t>
                          </m:r>
                          <m:d>
                            <m:d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d>
                        </m:e>
                      </m:nary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∗(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𝑒𝑟𝑟𝑜𝑟</m:t>
                      </m:r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𝑒𝑟𝑟𝑜𝑟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en-US" altLang="zh-CN" sz="2400" dirty="0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altLang="zh-CN" sz="2400" dirty="0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000" y="1219541"/>
                <a:ext cx="10800000" cy="5309723"/>
              </a:xfrm>
              <a:prstGeom prst="rect">
                <a:avLst/>
              </a:prstGeom>
              <a:blipFill rotWithShape="1">
                <a:blip r:embed="rId2"/>
                <a:stretch>
                  <a:fillRect t="-6" r="6" b="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8230" y="176639"/>
            <a:ext cx="1080000" cy="1080000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>
            <a:off x="129896" y="727350"/>
            <a:ext cx="9000000" cy="0"/>
          </a:xfrm>
          <a:prstGeom prst="line">
            <a:avLst/>
          </a:prstGeom>
          <a:ln w="38100">
            <a:solidFill>
              <a:srgbClr val="1C519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109102" y="64329"/>
            <a:ext cx="655500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PID——</a:t>
            </a:r>
            <a:r>
              <a:rPr lang="zh-CN" altLang="en-US" sz="3200" dirty="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连续形式</a:t>
            </a:r>
            <a:r>
              <a:rPr lang="en-US" altLang="zh-CN" sz="3200" dirty="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PID</a:t>
            </a:r>
            <a:r>
              <a:rPr lang="zh-CN" altLang="en-US" sz="3200" dirty="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离散化示意图</a:t>
            </a:r>
            <a:endParaRPr lang="zh-CN" altLang="en-US" sz="3200" dirty="0">
              <a:solidFill>
                <a:srgbClr val="1C519A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grpSp>
        <p:nvGrpSpPr>
          <p:cNvPr id="156" name="组合 155"/>
          <p:cNvGrpSpPr/>
          <p:nvPr/>
        </p:nvGrpSpPr>
        <p:grpSpPr>
          <a:xfrm>
            <a:off x="1515068" y="1142064"/>
            <a:ext cx="3677870" cy="3400752"/>
            <a:chOff x="1280160" y="1651500"/>
            <a:chExt cx="3677870" cy="3400752"/>
          </a:xfrm>
        </p:grpSpPr>
        <p:sp>
          <p:nvSpPr>
            <p:cNvPr id="157" name="矩形 156"/>
            <p:cNvSpPr/>
            <p:nvPr/>
          </p:nvSpPr>
          <p:spPr>
            <a:xfrm>
              <a:off x="4276862" y="3219354"/>
              <a:ext cx="344016" cy="891477"/>
            </a:xfrm>
            <a:prstGeom prst="rect">
              <a:avLst/>
            </a:prstGeom>
            <a:pattFill prst="wdUpDiag">
              <a:fgClr>
                <a:schemeClr val="accent1">
                  <a:lumMod val="40000"/>
                  <a:lumOff val="60000"/>
                </a:schemeClr>
              </a:fgClr>
              <a:bgClr>
                <a:schemeClr val="bg1"/>
              </a:bgClr>
            </a:pattFill>
            <a:ln w="127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158" name="矩形 157"/>
            <p:cNvSpPr/>
            <p:nvPr/>
          </p:nvSpPr>
          <p:spPr>
            <a:xfrm>
              <a:off x="3934444" y="2964044"/>
              <a:ext cx="344016" cy="1146787"/>
            </a:xfrm>
            <a:prstGeom prst="rect">
              <a:avLst/>
            </a:prstGeom>
            <a:pattFill prst="wdUpDiag">
              <a:fgClr>
                <a:schemeClr val="accent1">
                  <a:lumMod val="40000"/>
                  <a:lumOff val="60000"/>
                </a:schemeClr>
              </a:fgClr>
              <a:bgClr>
                <a:schemeClr val="bg1"/>
              </a:bgClr>
            </a:pattFill>
            <a:ln w="127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159" name="矩形 158"/>
            <p:cNvSpPr/>
            <p:nvPr/>
          </p:nvSpPr>
          <p:spPr>
            <a:xfrm>
              <a:off x="1510194" y="2269238"/>
              <a:ext cx="344016" cy="1841593"/>
            </a:xfrm>
            <a:prstGeom prst="rect">
              <a:avLst/>
            </a:prstGeom>
            <a:pattFill prst="wdUpDiag">
              <a:fgClr>
                <a:schemeClr val="accent1">
                  <a:lumMod val="40000"/>
                  <a:lumOff val="60000"/>
                </a:schemeClr>
              </a:fgClr>
              <a:bgClr>
                <a:schemeClr val="bg1"/>
              </a:bgClr>
            </a:pattFill>
            <a:ln w="127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160" name="矩形 159"/>
            <p:cNvSpPr/>
            <p:nvPr/>
          </p:nvSpPr>
          <p:spPr>
            <a:xfrm>
              <a:off x="1856745" y="2684011"/>
              <a:ext cx="344016" cy="1426820"/>
            </a:xfrm>
            <a:prstGeom prst="rect">
              <a:avLst/>
            </a:prstGeom>
            <a:pattFill prst="wdUpDiag">
              <a:fgClr>
                <a:schemeClr val="accent1">
                  <a:lumMod val="40000"/>
                  <a:lumOff val="60000"/>
                </a:schemeClr>
              </a:fgClr>
              <a:bgClr>
                <a:schemeClr val="bg1"/>
              </a:bgClr>
            </a:pattFill>
            <a:ln w="127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161" name="矩形 160"/>
            <p:cNvSpPr/>
            <p:nvPr/>
          </p:nvSpPr>
          <p:spPr>
            <a:xfrm>
              <a:off x="2203296" y="3013574"/>
              <a:ext cx="344016" cy="1097257"/>
            </a:xfrm>
            <a:prstGeom prst="rect">
              <a:avLst/>
            </a:prstGeom>
            <a:pattFill prst="wdUpDiag">
              <a:fgClr>
                <a:schemeClr val="accent1">
                  <a:lumMod val="40000"/>
                  <a:lumOff val="60000"/>
                </a:schemeClr>
              </a:fgClr>
              <a:bgClr>
                <a:schemeClr val="bg1"/>
              </a:bgClr>
            </a:pattFill>
            <a:ln w="127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162" name="矩形 161"/>
            <p:cNvSpPr/>
            <p:nvPr/>
          </p:nvSpPr>
          <p:spPr>
            <a:xfrm>
              <a:off x="2549847" y="3150948"/>
              <a:ext cx="344016" cy="959884"/>
            </a:xfrm>
            <a:prstGeom prst="rect">
              <a:avLst/>
            </a:prstGeom>
            <a:pattFill prst="wdUpDiag">
              <a:fgClr>
                <a:schemeClr val="accent1">
                  <a:lumMod val="40000"/>
                  <a:lumOff val="60000"/>
                </a:schemeClr>
              </a:fgClr>
              <a:bgClr>
                <a:schemeClr val="bg1"/>
              </a:bgClr>
            </a:pattFill>
            <a:ln w="127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163" name="矩形 162"/>
            <p:cNvSpPr/>
            <p:nvPr/>
          </p:nvSpPr>
          <p:spPr>
            <a:xfrm>
              <a:off x="2896398" y="3070728"/>
              <a:ext cx="344016" cy="1040104"/>
            </a:xfrm>
            <a:prstGeom prst="rect">
              <a:avLst/>
            </a:prstGeom>
            <a:pattFill prst="wdUpDiag">
              <a:fgClr>
                <a:schemeClr val="accent1">
                  <a:lumMod val="40000"/>
                  <a:lumOff val="60000"/>
                </a:schemeClr>
              </a:fgClr>
              <a:bgClr>
                <a:schemeClr val="bg1"/>
              </a:bgClr>
            </a:pattFill>
            <a:ln w="127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164" name="矩形 163"/>
            <p:cNvSpPr/>
            <p:nvPr/>
          </p:nvSpPr>
          <p:spPr>
            <a:xfrm>
              <a:off x="3242949" y="2914516"/>
              <a:ext cx="344016" cy="1196315"/>
            </a:xfrm>
            <a:prstGeom prst="rect">
              <a:avLst/>
            </a:prstGeom>
            <a:pattFill prst="wdUpDiag">
              <a:fgClr>
                <a:schemeClr val="accent1">
                  <a:lumMod val="40000"/>
                  <a:lumOff val="60000"/>
                </a:schemeClr>
              </a:fgClr>
              <a:bgClr>
                <a:schemeClr val="bg1"/>
              </a:bgClr>
            </a:pattFill>
            <a:ln w="127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165" name="矩形 164"/>
            <p:cNvSpPr/>
            <p:nvPr/>
          </p:nvSpPr>
          <p:spPr>
            <a:xfrm>
              <a:off x="3589499" y="2838315"/>
              <a:ext cx="344016" cy="1272517"/>
            </a:xfrm>
            <a:prstGeom prst="rect">
              <a:avLst/>
            </a:prstGeom>
            <a:pattFill prst="wdUpDiag">
              <a:fgClr>
                <a:schemeClr val="accent1">
                  <a:lumMod val="40000"/>
                  <a:lumOff val="60000"/>
                </a:schemeClr>
              </a:fgClr>
              <a:bgClr>
                <a:schemeClr val="bg1"/>
              </a:bgClr>
            </a:pattFill>
            <a:ln w="127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cxnSp>
          <p:nvCxnSpPr>
            <p:cNvPr id="166" name="直接箭头连接符 165"/>
            <p:cNvCxnSpPr/>
            <p:nvPr/>
          </p:nvCxnSpPr>
          <p:spPr>
            <a:xfrm flipV="1">
              <a:off x="1684530" y="1651500"/>
              <a:ext cx="0" cy="2924214"/>
            </a:xfrm>
            <a:prstGeom prst="straightConnector1">
              <a:avLst/>
            </a:prstGeom>
            <a:ln w="28575" cap="rnd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直接箭头连接符 166"/>
            <p:cNvCxnSpPr/>
            <p:nvPr/>
          </p:nvCxnSpPr>
          <p:spPr>
            <a:xfrm>
              <a:off x="1280160" y="4116708"/>
              <a:ext cx="3677870" cy="0"/>
            </a:xfrm>
            <a:prstGeom prst="straightConnector1">
              <a:avLst/>
            </a:prstGeom>
            <a:ln w="28575" cap="rnd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直接箭头连接符 167"/>
            <p:cNvCxnSpPr/>
            <p:nvPr/>
          </p:nvCxnSpPr>
          <p:spPr>
            <a:xfrm flipV="1">
              <a:off x="2028753" y="2684011"/>
              <a:ext cx="1711" cy="1432697"/>
            </a:xfrm>
            <a:prstGeom prst="straightConnector1">
              <a:avLst/>
            </a:prstGeom>
            <a:ln w="28575" cap="rnd">
              <a:solidFill>
                <a:schemeClr val="tx1"/>
              </a:solidFill>
              <a:prstDash val="sys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直接箭头连接符 168"/>
            <p:cNvCxnSpPr/>
            <p:nvPr/>
          </p:nvCxnSpPr>
          <p:spPr>
            <a:xfrm flipV="1">
              <a:off x="2375304" y="3013574"/>
              <a:ext cx="1094" cy="1103134"/>
            </a:xfrm>
            <a:prstGeom prst="straightConnector1">
              <a:avLst/>
            </a:prstGeom>
            <a:ln w="28575" cap="rnd">
              <a:solidFill>
                <a:schemeClr val="tx1"/>
              </a:solidFill>
              <a:prstDash val="sys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直接箭头连接符 169"/>
            <p:cNvCxnSpPr/>
            <p:nvPr/>
          </p:nvCxnSpPr>
          <p:spPr>
            <a:xfrm flipV="1">
              <a:off x="2721855" y="3150948"/>
              <a:ext cx="477" cy="965760"/>
            </a:xfrm>
            <a:prstGeom prst="straightConnector1">
              <a:avLst/>
            </a:prstGeom>
            <a:ln w="28575" cap="rnd">
              <a:solidFill>
                <a:schemeClr val="tx1"/>
              </a:solidFill>
              <a:prstDash val="sys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直接箭头连接符 170"/>
            <p:cNvCxnSpPr/>
            <p:nvPr/>
          </p:nvCxnSpPr>
          <p:spPr>
            <a:xfrm flipH="1" flipV="1">
              <a:off x="3068266" y="3070728"/>
              <a:ext cx="140" cy="1045980"/>
            </a:xfrm>
            <a:prstGeom prst="straightConnector1">
              <a:avLst/>
            </a:prstGeom>
            <a:ln w="28575" cap="rnd">
              <a:solidFill>
                <a:schemeClr val="tx1"/>
              </a:solidFill>
              <a:prstDash val="sys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直接箭头连接符 171"/>
            <p:cNvCxnSpPr/>
            <p:nvPr/>
          </p:nvCxnSpPr>
          <p:spPr>
            <a:xfrm flipH="1" flipV="1">
              <a:off x="3414200" y="2914516"/>
              <a:ext cx="757" cy="1202192"/>
            </a:xfrm>
            <a:prstGeom prst="straightConnector1">
              <a:avLst/>
            </a:prstGeom>
            <a:ln w="28575" cap="rnd">
              <a:solidFill>
                <a:schemeClr val="tx1"/>
              </a:solidFill>
              <a:prstDash val="sys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直接箭头连接符 172"/>
            <p:cNvCxnSpPr/>
            <p:nvPr/>
          </p:nvCxnSpPr>
          <p:spPr>
            <a:xfrm flipH="1" flipV="1">
              <a:off x="3760134" y="2838316"/>
              <a:ext cx="1373" cy="1278392"/>
            </a:xfrm>
            <a:prstGeom prst="straightConnector1">
              <a:avLst/>
            </a:prstGeom>
            <a:ln w="28575" cap="rnd">
              <a:solidFill>
                <a:schemeClr val="tx1"/>
              </a:solidFill>
              <a:prstDash val="sys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直接箭头连接符 173"/>
            <p:cNvCxnSpPr/>
            <p:nvPr/>
          </p:nvCxnSpPr>
          <p:spPr>
            <a:xfrm flipV="1">
              <a:off x="4106068" y="2964044"/>
              <a:ext cx="0" cy="1152664"/>
            </a:xfrm>
            <a:prstGeom prst="straightConnector1">
              <a:avLst/>
            </a:prstGeom>
            <a:ln w="28575" cap="rnd">
              <a:solidFill>
                <a:schemeClr val="tx1"/>
              </a:solidFill>
              <a:prstDash val="sys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5" name="文本框 174"/>
            <p:cNvSpPr txBox="1"/>
            <p:nvPr/>
          </p:nvSpPr>
          <p:spPr>
            <a:xfrm>
              <a:off x="1354737" y="4116708"/>
              <a:ext cx="39273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>
                  <a:latin typeface="华文中宋" panose="02010600040101010101" pitchFamily="2" charset="-122"/>
                  <a:ea typeface="华文中宋" panose="02010600040101010101" pitchFamily="2" charset="-122"/>
                </a:rPr>
                <a:t>0</a:t>
              </a:r>
              <a:endParaRPr lang="zh-CN" altLang="en-US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176" name="文本框 175"/>
            <p:cNvSpPr txBox="1"/>
            <p:nvPr/>
          </p:nvSpPr>
          <p:spPr>
            <a:xfrm>
              <a:off x="1829051" y="4116708"/>
              <a:ext cx="39273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>
                  <a:latin typeface="华文中宋" panose="02010600040101010101" pitchFamily="2" charset="-122"/>
                  <a:ea typeface="华文中宋" panose="02010600040101010101" pitchFamily="2" charset="-122"/>
                </a:rPr>
                <a:t>1</a:t>
              </a:r>
              <a:endParaRPr lang="zh-CN" altLang="en-US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177" name="文本框 176"/>
            <p:cNvSpPr txBox="1"/>
            <p:nvPr/>
          </p:nvSpPr>
          <p:spPr>
            <a:xfrm>
              <a:off x="2180032" y="4116708"/>
              <a:ext cx="39273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>
                  <a:latin typeface="华文中宋" panose="02010600040101010101" pitchFamily="2" charset="-122"/>
                  <a:ea typeface="华文中宋" panose="02010600040101010101" pitchFamily="2" charset="-122"/>
                </a:rPr>
                <a:t>2</a:t>
              </a:r>
              <a:endParaRPr lang="zh-CN" altLang="en-US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178" name="文本框 177"/>
            <p:cNvSpPr txBox="1"/>
            <p:nvPr/>
          </p:nvSpPr>
          <p:spPr>
            <a:xfrm>
              <a:off x="2521050" y="4116708"/>
              <a:ext cx="39273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>
                  <a:latin typeface="华文中宋" panose="02010600040101010101" pitchFamily="2" charset="-122"/>
                  <a:ea typeface="华文中宋" panose="02010600040101010101" pitchFamily="2" charset="-122"/>
                </a:rPr>
                <a:t>3</a:t>
              </a:r>
              <a:endParaRPr lang="zh-CN" altLang="en-US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179" name="文本框 178"/>
            <p:cNvSpPr txBox="1"/>
            <p:nvPr/>
          </p:nvSpPr>
          <p:spPr>
            <a:xfrm>
              <a:off x="2868901" y="4116708"/>
              <a:ext cx="39273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>
                  <a:latin typeface="华文中宋" panose="02010600040101010101" pitchFamily="2" charset="-122"/>
                  <a:ea typeface="华文中宋" panose="02010600040101010101" pitchFamily="2" charset="-122"/>
                </a:rPr>
                <a:t>4</a:t>
              </a:r>
              <a:endParaRPr lang="zh-CN" altLang="en-US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180" name="文本框 179"/>
            <p:cNvSpPr txBox="1"/>
            <p:nvPr/>
          </p:nvSpPr>
          <p:spPr>
            <a:xfrm>
              <a:off x="3219751" y="4116708"/>
              <a:ext cx="39273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>
                  <a:latin typeface="华文中宋" panose="02010600040101010101" pitchFamily="2" charset="-122"/>
                  <a:ea typeface="华文中宋" panose="02010600040101010101" pitchFamily="2" charset="-122"/>
                </a:rPr>
                <a:t>5</a:t>
              </a:r>
              <a:endParaRPr lang="zh-CN" altLang="en-US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181" name="文本框 180"/>
            <p:cNvSpPr txBox="1"/>
            <p:nvPr/>
          </p:nvSpPr>
          <p:spPr>
            <a:xfrm>
              <a:off x="3560637" y="4116708"/>
              <a:ext cx="39273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>
                  <a:latin typeface="华文中宋" panose="02010600040101010101" pitchFamily="2" charset="-122"/>
                  <a:ea typeface="华文中宋" panose="02010600040101010101" pitchFamily="2" charset="-122"/>
                </a:rPr>
                <a:t>6</a:t>
              </a:r>
              <a:endParaRPr lang="zh-CN" altLang="en-US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182" name="文本框 181"/>
            <p:cNvSpPr txBox="1"/>
            <p:nvPr/>
          </p:nvSpPr>
          <p:spPr>
            <a:xfrm>
              <a:off x="3903439" y="4116708"/>
              <a:ext cx="39273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>
                  <a:latin typeface="华文中宋" panose="02010600040101010101" pitchFamily="2" charset="-122"/>
                  <a:ea typeface="华文中宋" panose="02010600040101010101" pitchFamily="2" charset="-122"/>
                </a:rPr>
                <a:t>7</a:t>
              </a:r>
              <a:endParaRPr lang="zh-CN" altLang="en-US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cxnSp>
          <p:nvCxnSpPr>
            <p:cNvPr id="183" name="直接箭头连接符 182"/>
            <p:cNvCxnSpPr/>
            <p:nvPr/>
          </p:nvCxnSpPr>
          <p:spPr>
            <a:xfrm>
              <a:off x="1856043" y="2049175"/>
              <a:ext cx="0" cy="220063"/>
            </a:xfrm>
            <a:prstGeom prst="straightConnector1">
              <a:avLst/>
            </a:prstGeom>
            <a:ln w="28575" cap="rnd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直接箭头连接符 183"/>
            <p:cNvCxnSpPr/>
            <p:nvPr/>
          </p:nvCxnSpPr>
          <p:spPr>
            <a:xfrm>
              <a:off x="1523026" y="2089306"/>
              <a:ext cx="318351" cy="0"/>
            </a:xfrm>
            <a:prstGeom prst="straightConnector1">
              <a:avLst/>
            </a:prstGeom>
            <a:ln w="28575" cap="rnd">
              <a:solidFill>
                <a:schemeClr val="tx1"/>
              </a:solidFill>
              <a:prstDash val="solid"/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5" name="文本框 184"/>
                <p:cNvSpPr txBox="1"/>
                <p:nvPr/>
              </p:nvSpPr>
              <p:spPr>
                <a:xfrm>
                  <a:off x="1477750" y="1743873"/>
                  <a:ext cx="70260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i="1" smtClean="0">
                            <a:latin typeface="Cambria Math" panose="02040503050406030204" pitchFamily="18" charset="0"/>
                          </a:rPr>
                          <m:t>𝑇</m:t>
                        </m:r>
                      </m:oMath>
                    </m:oMathPara>
                  </a14:m>
                  <a:endParaRPr lang="zh-CN" altLang="en-US">
                    <a:latin typeface="华文中宋" panose="02010600040101010101" pitchFamily="2" charset="-122"/>
                    <a:ea typeface="华文中宋" panose="02010600040101010101" pitchFamily="2" charset="-122"/>
                  </a:endParaRPr>
                </a:p>
              </p:txBody>
            </p:sp>
          </mc:Choice>
          <mc:Fallback>
            <p:sp>
              <p:nvSpPr>
                <p:cNvPr id="185" name="文本框 18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77750" y="1743873"/>
                  <a:ext cx="702602" cy="369332"/>
                </a:xfrm>
                <a:prstGeom prst="rect">
                  <a:avLst/>
                </a:prstGeom>
                <a:blipFill rotWithShape="1">
                  <a:blip r:embed="rId2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6" name="任意多边形: 形状 185"/>
            <p:cNvSpPr/>
            <p:nvPr/>
          </p:nvSpPr>
          <p:spPr>
            <a:xfrm>
              <a:off x="1686510" y="2271260"/>
              <a:ext cx="3002280" cy="1168400"/>
            </a:xfrm>
            <a:custGeom>
              <a:avLst/>
              <a:gdLst>
                <a:gd name="connsiteX0" fmla="*/ 0 w 3002280"/>
                <a:gd name="connsiteY0" fmla="*/ 0 h 1168400"/>
                <a:gd name="connsiteX1" fmla="*/ 960120 w 3002280"/>
                <a:gd name="connsiteY1" fmla="*/ 868680 h 1168400"/>
                <a:gd name="connsiteX2" fmla="*/ 2082800 w 3002280"/>
                <a:gd name="connsiteY2" fmla="*/ 568960 h 1168400"/>
                <a:gd name="connsiteX3" fmla="*/ 3002280 w 3002280"/>
                <a:gd name="connsiteY3" fmla="*/ 1168400 h 1168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02280" h="1168400">
                  <a:moveTo>
                    <a:pt x="0" y="0"/>
                  </a:moveTo>
                  <a:cubicBezTo>
                    <a:pt x="306493" y="386926"/>
                    <a:pt x="612987" y="773853"/>
                    <a:pt x="960120" y="868680"/>
                  </a:cubicBezTo>
                  <a:cubicBezTo>
                    <a:pt x="1307253" y="963507"/>
                    <a:pt x="1742440" y="519007"/>
                    <a:pt x="2082800" y="568960"/>
                  </a:cubicBezTo>
                  <a:cubicBezTo>
                    <a:pt x="2423160" y="618913"/>
                    <a:pt x="2712720" y="893656"/>
                    <a:pt x="3002280" y="1168400"/>
                  </a:cubicBezTo>
                </a:path>
              </a:pathLst>
            </a:custGeom>
            <a:noFill/>
            <a:ln w="2857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cxnSp>
          <p:nvCxnSpPr>
            <p:cNvPr id="187" name="直接箭头连接符 186"/>
            <p:cNvCxnSpPr/>
            <p:nvPr/>
          </p:nvCxnSpPr>
          <p:spPr>
            <a:xfrm flipV="1">
              <a:off x="4450656" y="3219354"/>
              <a:ext cx="0" cy="897354"/>
            </a:xfrm>
            <a:prstGeom prst="straightConnector1">
              <a:avLst/>
            </a:prstGeom>
            <a:ln w="28575" cap="rnd">
              <a:solidFill>
                <a:schemeClr val="tx1"/>
              </a:solidFill>
              <a:prstDash val="sys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8" name="文本框 187"/>
            <p:cNvSpPr txBox="1"/>
            <p:nvPr/>
          </p:nvSpPr>
          <p:spPr>
            <a:xfrm>
              <a:off x="4252373" y="4116708"/>
              <a:ext cx="39273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800">
                  <a:latin typeface="华文中宋" panose="02010600040101010101" pitchFamily="2" charset="-122"/>
                  <a:ea typeface="华文中宋" panose="02010600040101010101" pitchFamily="2" charset="-122"/>
                </a:rPr>
                <a:t>8</a:t>
              </a:r>
              <a:endParaRPr lang="zh-CN" altLang="en-US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cxnSp>
          <p:nvCxnSpPr>
            <p:cNvPr id="189" name="直接箭头连接符 188"/>
            <p:cNvCxnSpPr/>
            <p:nvPr/>
          </p:nvCxnSpPr>
          <p:spPr>
            <a:xfrm>
              <a:off x="1510194" y="2049175"/>
              <a:ext cx="0" cy="220063"/>
            </a:xfrm>
            <a:prstGeom prst="straightConnector1">
              <a:avLst/>
            </a:prstGeom>
            <a:ln w="28575" cap="rnd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直接箭头连接符 189"/>
            <p:cNvCxnSpPr/>
            <p:nvPr/>
          </p:nvCxnSpPr>
          <p:spPr>
            <a:xfrm>
              <a:off x="2375304" y="4486040"/>
              <a:ext cx="0" cy="220063"/>
            </a:xfrm>
            <a:prstGeom prst="straightConnector1">
              <a:avLst/>
            </a:prstGeom>
            <a:ln w="28575" cap="rnd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直接箭头连接符 190"/>
            <p:cNvCxnSpPr/>
            <p:nvPr/>
          </p:nvCxnSpPr>
          <p:spPr>
            <a:xfrm>
              <a:off x="2041585" y="4651901"/>
              <a:ext cx="318351" cy="0"/>
            </a:xfrm>
            <a:prstGeom prst="straightConnector1">
              <a:avLst/>
            </a:prstGeom>
            <a:ln w="28575" cap="rnd">
              <a:solidFill>
                <a:schemeClr val="tx1"/>
              </a:solidFill>
              <a:prstDash val="solid"/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2" name="文本框 191"/>
                <p:cNvSpPr txBox="1"/>
                <p:nvPr/>
              </p:nvSpPr>
              <p:spPr>
                <a:xfrm>
                  <a:off x="1870482" y="4682920"/>
                  <a:ext cx="70260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i="1" smtClean="0">
                            <a:latin typeface="Cambria Math" panose="02040503050406030204" pitchFamily="18" charset="0"/>
                          </a:rPr>
                          <m:t>𝑇</m:t>
                        </m:r>
                      </m:oMath>
                    </m:oMathPara>
                  </a14:m>
                  <a:endParaRPr lang="zh-CN" altLang="en-US">
                    <a:latin typeface="华文中宋" panose="02010600040101010101" pitchFamily="2" charset="-122"/>
                    <a:ea typeface="华文中宋" panose="02010600040101010101" pitchFamily="2" charset="-122"/>
                  </a:endParaRPr>
                </a:p>
              </p:txBody>
            </p:sp>
          </mc:Choice>
          <mc:Fallback>
            <p:sp>
              <p:nvSpPr>
                <p:cNvPr id="192" name="文本框 19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70482" y="4682920"/>
                  <a:ext cx="702602" cy="369332"/>
                </a:xfrm>
                <a:prstGeom prst="rect">
                  <a:avLst/>
                </a:prstGeom>
                <a:blipFill rotWithShape="1">
                  <a:blip r:embed="rId2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93" name="直接箭头连接符 192"/>
            <p:cNvCxnSpPr/>
            <p:nvPr/>
          </p:nvCxnSpPr>
          <p:spPr>
            <a:xfrm>
              <a:off x="2028753" y="4486040"/>
              <a:ext cx="0" cy="220063"/>
            </a:xfrm>
            <a:prstGeom prst="straightConnector1">
              <a:avLst/>
            </a:prstGeom>
            <a:ln w="28575" cap="rnd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94" name="文本框 193"/>
              <p:cNvSpPr txBox="1"/>
              <p:nvPr/>
            </p:nvSpPr>
            <p:spPr>
              <a:xfrm>
                <a:off x="694520" y="4506817"/>
                <a:ext cx="5475108" cy="20331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en-US" altLang="zh-CN" sz="1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zh-CN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  <m:r>
                            <a:rPr lang="en-US" altLang="zh-CN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  <m:e>
                          <m:r>
                            <a:rPr lang="en-US" altLang="zh-CN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𝑒𝑟𝑟𝑜𝑟</m:t>
                          </m:r>
                          <m:d>
                            <m:dPr>
                              <m:ctrlPr>
                                <a:rPr lang="en-US" altLang="zh-CN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altLang="zh-CN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zh-CN" alt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所有蓝色矩形的面积</m:t>
                      </m:r>
                      <m:r>
                        <a:rPr lang="zh-CN" alt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之和</m:t>
                      </m:r>
                    </m:oMath>
                  </m:oMathPara>
                </a14:m>
                <a:endParaRPr lang="en-US" altLang="zh-CN" i="1" dirty="0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  <a:p>
                <a:pPr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𝑇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∗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𝑒𝑟𝑟𝑜𝑟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𝑇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∗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𝑒𝑟𝑟𝑜𝑟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+…+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𝑇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∗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𝑒𝑟𝑟𝑜𝑟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8</m:t>
                          </m:r>
                        </m:e>
                      </m:d>
                    </m:oMath>
                  </m:oMathPara>
                </a14:m>
                <a:endParaRPr lang="en-US" altLang="zh-CN" i="1" dirty="0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  <a:p>
                <a:pPr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nary>
                        <m:naryPr>
                          <m:chr m:val="∑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p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𝑒𝑟𝑟𝑜𝑟</m:t>
                          </m:r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zh-CN" altLang="en-US" dirty="0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</mc:Choice>
        <mc:Fallback>
          <p:sp>
            <p:nvSpPr>
              <p:cNvPr id="194" name="文本框 19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520" y="4506817"/>
                <a:ext cx="5475108" cy="2033185"/>
              </a:xfrm>
              <a:prstGeom prst="rect">
                <a:avLst/>
              </a:prstGeom>
              <a:blipFill rotWithShape="1">
                <a:blip r:embed="rId3"/>
                <a:stretch>
                  <a:fillRect l="-8" t="-11" r="11"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5" name="文本框 194"/>
              <p:cNvSpPr txBox="1"/>
              <p:nvPr/>
            </p:nvSpPr>
            <p:spPr>
              <a:xfrm>
                <a:off x="6169098" y="4862780"/>
                <a:ext cx="5669902" cy="13212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1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𝑑𝑒𝑟𝑟𝑜𝑟</m:t>
                          </m:r>
                          <m:d>
                            <m:dPr>
                              <m:ctrlPr>
                                <a:rPr lang="en-US" altLang="zh-CN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r>
                                <a:rPr lang="en-US" altLang="zh-C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</m:d>
                        </m:num>
                        <m:den>
                          <m:r>
                            <a:rPr lang="en-US" altLang="zh-CN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altLang="zh-CN" sz="1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zh-CN" alt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红色线的斜率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𝑒𝑟𝑟𝑜𝑟</m:t>
                          </m:r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5</m:t>
                              </m:r>
                            </m:e>
                          </m:d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𝑒𝑟𝑟𝑜𝑟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</m:oMath>
                  </m:oMathPara>
                </a14:m>
                <a:endParaRPr lang="en-US" altLang="zh-CN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  <a:p>
                <a:pPr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1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𝑑𝑒𝑟𝑟𝑜𝑟</m:t>
                          </m:r>
                          <m:d>
                            <m:dPr>
                              <m:ctrlPr>
                                <a:rPr lang="en-US" altLang="zh-CN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  <m:r>
                                <a:rPr lang="en-US" altLang="zh-C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</m:d>
                        </m:num>
                        <m:den>
                          <m:r>
                            <a:rPr lang="en-US" altLang="zh-CN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altLang="zh-CN" sz="1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zh-CN" alt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紫色线的斜率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𝑒𝑟𝑟𝑜𝑟</m:t>
                          </m:r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8</m:t>
                              </m:r>
                            </m:e>
                          </m:d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𝑒𝑟𝑟𝑜𝑟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7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</m:oMath>
                  </m:oMathPara>
                </a14:m>
                <a:endParaRPr lang="zh-CN" altLang="en-US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</mc:Choice>
        <mc:Fallback>
          <p:sp>
            <p:nvSpPr>
              <p:cNvPr id="195" name="文本框 19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9098" y="4862780"/>
                <a:ext cx="5669902" cy="1321259"/>
              </a:xfrm>
              <a:prstGeom prst="rect">
                <a:avLst/>
              </a:prstGeom>
              <a:blipFill rotWithShape="1">
                <a:blip r:embed="rId4"/>
                <a:stretch>
                  <a:fillRect l="-1" t="-44" r="1" b="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6" name="组合 195"/>
          <p:cNvGrpSpPr/>
          <p:nvPr/>
        </p:nvGrpSpPr>
        <p:grpSpPr>
          <a:xfrm>
            <a:off x="6655837" y="1142064"/>
            <a:ext cx="3926613" cy="3400752"/>
            <a:chOff x="6096000" y="1161921"/>
            <a:chExt cx="3926613" cy="3400752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7" name="文本框 196"/>
                <p:cNvSpPr txBox="1"/>
                <p:nvPr/>
              </p:nvSpPr>
              <p:spPr>
                <a:xfrm>
                  <a:off x="6686322" y="4193341"/>
                  <a:ext cx="70260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i="1" smtClean="0">
                            <a:latin typeface="Cambria Math" panose="02040503050406030204" pitchFamily="18" charset="0"/>
                          </a:rPr>
                          <m:t>𝑇</m:t>
                        </m:r>
                      </m:oMath>
                    </m:oMathPara>
                  </a14:m>
                  <a:endParaRPr lang="zh-CN" altLang="en-US">
                    <a:latin typeface="华文中宋" panose="02010600040101010101" pitchFamily="2" charset="-122"/>
                    <a:ea typeface="华文中宋" panose="02010600040101010101" pitchFamily="2" charset="-122"/>
                  </a:endParaRPr>
                </a:p>
              </p:txBody>
            </p:sp>
          </mc:Choice>
          <mc:Fallback>
            <p:sp>
              <p:nvSpPr>
                <p:cNvPr id="197" name="文本框 19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86322" y="4193341"/>
                  <a:ext cx="702602" cy="369332"/>
                </a:xfrm>
                <a:prstGeom prst="rect">
                  <a:avLst/>
                </a:prstGeom>
                <a:blipFill rotWithShape="1">
                  <a:blip r:embed="rId2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98" name="组合 197"/>
            <p:cNvGrpSpPr/>
            <p:nvPr/>
          </p:nvGrpSpPr>
          <p:grpSpPr>
            <a:xfrm>
              <a:off x="6096000" y="1161921"/>
              <a:ext cx="3926613" cy="3054603"/>
              <a:chOff x="6096000" y="1161921"/>
              <a:chExt cx="3926613" cy="3054603"/>
            </a:xfrm>
          </p:grpSpPr>
          <p:cxnSp>
            <p:nvCxnSpPr>
              <p:cNvPr id="199" name="直接箭头连接符 198"/>
              <p:cNvCxnSpPr/>
              <p:nvPr/>
            </p:nvCxnSpPr>
            <p:spPr>
              <a:xfrm flipV="1">
                <a:off x="6500370" y="1161921"/>
                <a:ext cx="0" cy="2924214"/>
              </a:xfrm>
              <a:prstGeom prst="straightConnector1">
                <a:avLst/>
              </a:prstGeom>
              <a:ln w="28575" cap="rnd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0" name="直接箭头连接符 199"/>
              <p:cNvCxnSpPr/>
              <p:nvPr/>
            </p:nvCxnSpPr>
            <p:spPr>
              <a:xfrm>
                <a:off x="6096000" y="3627129"/>
                <a:ext cx="3677870" cy="0"/>
              </a:xfrm>
              <a:prstGeom prst="straightConnector1">
                <a:avLst/>
              </a:prstGeom>
              <a:ln w="28575" cap="rnd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1" name="直接箭头连接符 200"/>
              <p:cNvCxnSpPr/>
              <p:nvPr/>
            </p:nvCxnSpPr>
            <p:spPr>
              <a:xfrm flipV="1">
                <a:off x="6844593" y="2194432"/>
                <a:ext cx="1711" cy="1432697"/>
              </a:xfrm>
              <a:prstGeom prst="straightConnector1">
                <a:avLst/>
              </a:prstGeom>
              <a:ln w="28575" cap="rnd">
                <a:solidFill>
                  <a:schemeClr val="tx1"/>
                </a:solidFill>
                <a:prstDash val="sysDash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2" name="直接箭头连接符 201"/>
              <p:cNvCxnSpPr/>
              <p:nvPr/>
            </p:nvCxnSpPr>
            <p:spPr>
              <a:xfrm flipV="1">
                <a:off x="7191144" y="2523995"/>
                <a:ext cx="1094" cy="1103134"/>
              </a:xfrm>
              <a:prstGeom prst="straightConnector1">
                <a:avLst/>
              </a:prstGeom>
              <a:ln w="28575" cap="rnd">
                <a:solidFill>
                  <a:schemeClr val="tx1"/>
                </a:solidFill>
                <a:prstDash val="sysDash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3" name="直接箭头连接符 202"/>
              <p:cNvCxnSpPr/>
              <p:nvPr/>
            </p:nvCxnSpPr>
            <p:spPr>
              <a:xfrm flipV="1">
                <a:off x="7537695" y="2661369"/>
                <a:ext cx="477" cy="965760"/>
              </a:xfrm>
              <a:prstGeom prst="straightConnector1">
                <a:avLst/>
              </a:prstGeom>
              <a:ln w="28575" cap="rnd">
                <a:solidFill>
                  <a:schemeClr val="tx1"/>
                </a:solidFill>
                <a:prstDash val="sysDash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4" name="直接箭头连接符 203"/>
              <p:cNvCxnSpPr/>
              <p:nvPr/>
            </p:nvCxnSpPr>
            <p:spPr>
              <a:xfrm flipH="1" flipV="1">
                <a:off x="7884106" y="2581149"/>
                <a:ext cx="140" cy="1045980"/>
              </a:xfrm>
              <a:prstGeom prst="straightConnector1">
                <a:avLst/>
              </a:prstGeom>
              <a:ln w="28575" cap="rnd">
                <a:solidFill>
                  <a:schemeClr val="tx1"/>
                </a:solidFill>
                <a:prstDash val="sysDash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" name="直接箭头连接符 204"/>
              <p:cNvCxnSpPr/>
              <p:nvPr/>
            </p:nvCxnSpPr>
            <p:spPr>
              <a:xfrm flipH="1" flipV="1">
                <a:off x="8230040" y="2424937"/>
                <a:ext cx="757" cy="1202192"/>
              </a:xfrm>
              <a:prstGeom prst="straightConnector1">
                <a:avLst/>
              </a:prstGeom>
              <a:ln w="28575" cap="rnd">
                <a:solidFill>
                  <a:schemeClr val="tx1"/>
                </a:solidFill>
                <a:prstDash val="sysDash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6" name="直接箭头连接符 205"/>
              <p:cNvCxnSpPr/>
              <p:nvPr/>
            </p:nvCxnSpPr>
            <p:spPr>
              <a:xfrm flipH="1" flipV="1">
                <a:off x="8575974" y="2348737"/>
                <a:ext cx="1373" cy="1278392"/>
              </a:xfrm>
              <a:prstGeom prst="straightConnector1">
                <a:avLst/>
              </a:prstGeom>
              <a:ln w="28575" cap="rnd">
                <a:solidFill>
                  <a:schemeClr val="tx1"/>
                </a:solidFill>
                <a:prstDash val="sysDash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7" name="直接箭头连接符 206"/>
              <p:cNvCxnSpPr/>
              <p:nvPr/>
            </p:nvCxnSpPr>
            <p:spPr>
              <a:xfrm flipV="1">
                <a:off x="8921908" y="2474465"/>
                <a:ext cx="0" cy="1152664"/>
              </a:xfrm>
              <a:prstGeom prst="straightConnector1">
                <a:avLst/>
              </a:prstGeom>
              <a:ln w="28575" cap="rnd">
                <a:solidFill>
                  <a:schemeClr val="tx1"/>
                </a:solidFill>
                <a:prstDash val="sysDash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8" name="文本框 207"/>
              <p:cNvSpPr txBox="1"/>
              <p:nvPr/>
            </p:nvSpPr>
            <p:spPr>
              <a:xfrm>
                <a:off x="6170577" y="3627129"/>
                <a:ext cx="39273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180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0</a:t>
                </a:r>
                <a:endParaRPr lang="zh-CN" altLang="en-US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  <p:sp>
            <p:nvSpPr>
              <p:cNvPr id="209" name="文本框 208"/>
              <p:cNvSpPr txBox="1"/>
              <p:nvPr/>
            </p:nvSpPr>
            <p:spPr>
              <a:xfrm>
                <a:off x="6644891" y="3627129"/>
                <a:ext cx="39273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180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1</a:t>
                </a:r>
                <a:endParaRPr lang="zh-CN" altLang="en-US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  <p:sp>
            <p:nvSpPr>
              <p:cNvPr id="210" name="文本框 209"/>
              <p:cNvSpPr txBox="1"/>
              <p:nvPr/>
            </p:nvSpPr>
            <p:spPr>
              <a:xfrm>
                <a:off x="6995872" y="3627129"/>
                <a:ext cx="39273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180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2</a:t>
                </a:r>
                <a:endParaRPr lang="zh-CN" altLang="en-US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  <p:sp>
            <p:nvSpPr>
              <p:cNvPr id="211" name="文本框 210"/>
              <p:cNvSpPr txBox="1"/>
              <p:nvPr/>
            </p:nvSpPr>
            <p:spPr>
              <a:xfrm>
                <a:off x="7336890" y="3627129"/>
                <a:ext cx="39273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180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3</a:t>
                </a:r>
                <a:endParaRPr lang="zh-CN" altLang="en-US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  <p:sp>
            <p:nvSpPr>
              <p:cNvPr id="212" name="文本框 211"/>
              <p:cNvSpPr txBox="1"/>
              <p:nvPr/>
            </p:nvSpPr>
            <p:spPr>
              <a:xfrm>
                <a:off x="7684741" y="3627129"/>
                <a:ext cx="39273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180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4</a:t>
                </a:r>
                <a:endParaRPr lang="zh-CN" altLang="en-US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  <p:sp>
            <p:nvSpPr>
              <p:cNvPr id="213" name="文本框 212"/>
              <p:cNvSpPr txBox="1"/>
              <p:nvPr/>
            </p:nvSpPr>
            <p:spPr>
              <a:xfrm>
                <a:off x="8035591" y="3627129"/>
                <a:ext cx="39273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180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5</a:t>
                </a:r>
                <a:endParaRPr lang="zh-CN" altLang="en-US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  <p:sp>
            <p:nvSpPr>
              <p:cNvPr id="214" name="文本框 213"/>
              <p:cNvSpPr txBox="1"/>
              <p:nvPr/>
            </p:nvSpPr>
            <p:spPr>
              <a:xfrm>
                <a:off x="8376477" y="3627129"/>
                <a:ext cx="39273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180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6</a:t>
                </a:r>
                <a:endParaRPr lang="zh-CN" altLang="en-US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  <p:sp>
            <p:nvSpPr>
              <p:cNvPr id="215" name="文本框 214"/>
              <p:cNvSpPr txBox="1"/>
              <p:nvPr/>
            </p:nvSpPr>
            <p:spPr>
              <a:xfrm>
                <a:off x="8719279" y="3627129"/>
                <a:ext cx="39273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180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7</a:t>
                </a:r>
                <a:endParaRPr lang="zh-CN" altLang="en-US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  <p:sp>
            <p:nvSpPr>
              <p:cNvPr id="216" name="任意多边形: 形状 215"/>
              <p:cNvSpPr/>
              <p:nvPr/>
            </p:nvSpPr>
            <p:spPr>
              <a:xfrm>
                <a:off x="6502350" y="1781681"/>
                <a:ext cx="3002280" cy="1168400"/>
              </a:xfrm>
              <a:custGeom>
                <a:avLst/>
                <a:gdLst>
                  <a:gd name="connsiteX0" fmla="*/ 0 w 3002280"/>
                  <a:gd name="connsiteY0" fmla="*/ 0 h 1168400"/>
                  <a:gd name="connsiteX1" fmla="*/ 960120 w 3002280"/>
                  <a:gd name="connsiteY1" fmla="*/ 868680 h 1168400"/>
                  <a:gd name="connsiteX2" fmla="*/ 2082800 w 3002280"/>
                  <a:gd name="connsiteY2" fmla="*/ 568960 h 1168400"/>
                  <a:gd name="connsiteX3" fmla="*/ 3002280 w 3002280"/>
                  <a:gd name="connsiteY3" fmla="*/ 1168400 h 1168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002280" h="1168400">
                    <a:moveTo>
                      <a:pt x="0" y="0"/>
                    </a:moveTo>
                    <a:cubicBezTo>
                      <a:pt x="306493" y="386926"/>
                      <a:pt x="612987" y="773853"/>
                      <a:pt x="960120" y="868680"/>
                    </a:cubicBezTo>
                    <a:cubicBezTo>
                      <a:pt x="1307253" y="963507"/>
                      <a:pt x="1742440" y="519007"/>
                      <a:pt x="2082800" y="568960"/>
                    </a:cubicBezTo>
                    <a:cubicBezTo>
                      <a:pt x="2423160" y="618913"/>
                      <a:pt x="2712720" y="893656"/>
                      <a:pt x="3002280" y="1168400"/>
                    </a:cubicBezTo>
                  </a:path>
                </a:pathLst>
              </a:custGeom>
              <a:noFill/>
              <a:ln w="28575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  <p:cxnSp>
            <p:nvCxnSpPr>
              <p:cNvPr id="217" name="直接箭头连接符 216"/>
              <p:cNvCxnSpPr/>
              <p:nvPr/>
            </p:nvCxnSpPr>
            <p:spPr>
              <a:xfrm flipV="1">
                <a:off x="9266496" y="2729775"/>
                <a:ext cx="0" cy="897354"/>
              </a:xfrm>
              <a:prstGeom prst="straightConnector1">
                <a:avLst/>
              </a:prstGeom>
              <a:ln w="28575" cap="rnd">
                <a:solidFill>
                  <a:schemeClr val="tx1"/>
                </a:solidFill>
                <a:prstDash val="sysDash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8" name="文本框 217"/>
              <p:cNvSpPr txBox="1"/>
              <p:nvPr/>
            </p:nvSpPr>
            <p:spPr>
              <a:xfrm>
                <a:off x="9068213" y="3627129"/>
                <a:ext cx="39273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180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8</a:t>
                </a:r>
                <a:endParaRPr lang="zh-CN" altLang="en-US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  <p:cxnSp>
            <p:nvCxnSpPr>
              <p:cNvPr id="219" name="直接箭头连接符 218"/>
              <p:cNvCxnSpPr/>
              <p:nvPr/>
            </p:nvCxnSpPr>
            <p:spPr>
              <a:xfrm>
                <a:off x="7191144" y="3996461"/>
                <a:ext cx="0" cy="220063"/>
              </a:xfrm>
              <a:prstGeom prst="straightConnector1">
                <a:avLst/>
              </a:prstGeom>
              <a:ln w="28575" cap="rnd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0" name="直接箭头连接符 219"/>
              <p:cNvCxnSpPr/>
              <p:nvPr/>
            </p:nvCxnSpPr>
            <p:spPr>
              <a:xfrm>
                <a:off x="6857425" y="4162322"/>
                <a:ext cx="318351" cy="0"/>
              </a:xfrm>
              <a:prstGeom prst="straightConnector1">
                <a:avLst/>
              </a:prstGeom>
              <a:ln w="28575" cap="rnd">
                <a:solidFill>
                  <a:schemeClr val="tx1"/>
                </a:solidFill>
                <a:prstDash val="solid"/>
                <a:headEnd type="triangl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1" name="直接箭头连接符 220"/>
              <p:cNvCxnSpPr/>
              <p:nvPr/>
            </p:nvCxnSpPr>
            <p:spPr>
              <a:xfrm>
                <a:off x="6844593" y="3996461"/>
                <a:ext cx="0" cy="220063"/>
              </a:xfrm>
              <a:prstGeom prst="straightConnector1">
                <a:avLst/>
              </a:prstGeom>
              <a:ln w="28575" cap="rnd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2" name="直角三角形 221"/>
              <p:cNvSpPr/>
              <p:nvPr/>
            </p:nvSpPr>
            <p:spPr>
              <a:xfrm flipH="1">
                <a:off x="7904385" y="2424937"/>
                <a:ext cx="324420" cy="151002"/>
              </a:xfrm>
              <a:prstGeom prst="rtTriangle">
                <a:avLst/>
              </a:prstGeom>
              <a:noFill/>
              <a:ln w="28575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  <p:sp>
            <p:nvSpPr>
              <p:cNvPr id="223" name="直角三角形 222"/>
              <p:cNvSpPr/>
              <p:nvPr/>
            </p:nvSpPr>
            <p:spPr>
              <a:xfrm>
                <a:off x="8922524" y="2474464"/>
                <a:ext cx="342680" cy="255311"/>
              </a:xfrm>
              <a:prstGeom prst="rtTriangle">
                <a:avLst/>
              </a:prstGeom>
              <a:noFill/>
              <a:ln w="28575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  <p:cxnSp>
            <p:nvCxnSpPr>
              <p:cNvPr id="224" name="直接箭头连接符 223"/>
              <p:cNvCxnSpPr/>
              <p:nvPr/>
            </p:nvCxnSpPr>
            <p:spPr>
              <a:xfrm flipV="1">
                <a:off x="7119033" y="2083194"/>
                <a:ext cx="1853648" cy="844860"/>
              </a:xfrm>
              <a:prstGeom prst="straightConnector1">
                <a:avLst/>
              </a:prstGeom>
              <a:ln w="28575" cap="rnd">
                <a:solidFill>
                  <a:srgbClr val="FF0000"/>
                </a:solidFill>
                <a:prstDash val="solid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5" name="直接箭头连接符 224"/>
              <p:cNvCxnSpPr/>
              <p:nvPr/>
            </p:nvCxnSpPr>
            <p:spPr>
              <a:xfrm>
                <a:off x="8247772" y="1974416"/>
                <a:ext cx="1774841" cy="1314671"/>
              </a:xfrm>
              <a:prstGeom prst="straightConnector1">
                <a:avLst/>
              </a:prstGeom>
              <a:ln w="28575" cap="rnd">
                <a:solidFill>
                  <a:srgbClr val="7030A0"/>
                </a:solidFill>
                <a:prstDash val="solid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8230" y="176639"/>
            <a:ext cx="1080000" cy="1080000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>
            <a:off x="129896" y="727350"/>
            <a:ext cx="9000000" cy="0"/>
          </a:xfrm>
          <a:prstGeom prst="line">
            <a:avLst/>
          </a:prstGeom>
          <a:ln w="38100">
            <a:solidFill>
              <a:srgbClr val="1C519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109102" y="64329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1C519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注意事项</a:t>
            </a:r>
            <a:endParaRPr lang="zh-CN" altLang="en-US" sz="3200" dirty="0">
              <a:solidFill>
                <a:srgbClr val="1C519A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26967" y="1520195"/>
            <a:ext cx="11138066" cy="16300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供电问题：</a:t>
            </a:r>
            <a:endParaRPr lang="en-US" altLang="zh-CN" sz="20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457200" indent="-457200">
              <a:buAutoNum type="arabicPeriod"/>
            </a:pPr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优先搞好lm317，用万用表确定lm317输出正确后再给单片机供电</a:t>
            </a:r>
            <a:endParaRPr lang="en-US" altLang="zh-CN" sz="20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endParaRPr lang="en-US" altLang="zh-CN" sz="20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r>
              <a:rPr lang="en-US" altLang="zh-CN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2. </a:t>
            </a:r>
            <a:r>
              <a:rPr lang="zh-CN" altLang="en-US" sz="20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不要用电脑给单片机供电！！！</a:t>
            </a:r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stlink的3V3不许和单片机连接，usb转ttl的3V3不许和单片机连接</a:t>
            </a:r>
            <a:endParaRPr lang="zh-CN" altLang="en-US" sz="20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90.35929133858264,&quot;left&quot;:19.240000000000002,&quot;top&quot;:160.35,&quot;width&quot;:923.5600000000001}"/>
</p:tagLst>
</file>

<file path=ppt/tags/tag2.xml><?xml version="1.0" encoding="utf-8"?>
<p:tagLst xmlns:p="http://schemas.openxmlformats.org/presentationml/2006/main">
  <p:tag name="KSO_WM_DIAGRAM_VIRTUALLY_FRAME" val="{&quot;height&quot;:290.35929133858264,&quot;left&quot;:19.240000000000002,&quot;top&quot;:160.35,&quot;width&quot;:923.5600000000001}"/>
</p:tagLst>
</file>

<file path=ppt/tags/tag3.xml><?xml version="1.0" encoding="utf-8"?>
<p:tagLst xmlns:p="http://schemas.openxmlformats.org/presentationml/2006/main">
  <p:tag name="KSO_WM_DIAGRAM_VIRTUALLY_FRAME" val="{&quot;height&quot;:290.35929133858264,&quot;left&quot;:19.240000000000002,&quot;top&quot;:160.35,&quot;width&quot;:923.5600000000001}"/>
</p:tagLst>
</file>

<file path=ppt/tags/tag4.xml><?xml version="1.0" encoding="utf-8"?>
<p:tagLst xmlns:p="http://schemas.openxmlformats.org/presentationml/2006/main">
  <p:tag name="KSO_WM_DIAGRAM_VIRTUALLY_FRAME" val="{&quot;height&quot;:290.35929133858264,&quot;left&quot;:19.240000000000002,&quot;top&quot;:160.35,&quot;width&quot;:923.5600000000001}"/>
</p:tagLst>
</file>

<file path=ppt/tags/tag5.xml><?xml version="1.0" encoding="utf-8"?>
<p:tagLst xmlns:p="http://schemas.openxmlformats.org/presentationml/2006/main">
  <p:tag name="KSO_WM_DIAGRAM_VIRTUALLY_FRAME" val="{&quot;height&quot;:290.35929133858264,&quot;left&quot;:19.240000000000002,&quot;top&quot;:160.35,&quot;width&quot;:923.5600000000001}"/>
</p:tagLst>
</file>

<file path=ppt/tags/tag6.xml><?xml version="1.0" encoding="utf-8"?>
<p:tagLst xmlns:p="http://schemas.openxmlformats.org/presentationml/2006/main">
  <p:tag name="KSO_WM_DIAGRAM_VIRTUALLY_FRAME" val="{&quot;height&quot;:290.35929133858264,&quot;left&quot;:19.240000000000002,&quot;top&quot;:160.35,&quot;width&quot;:923.5600000000001}"/>
</p:tagLst>
</file>

<file path=ppt/tags/tag7.xml><?xml version="1.0" encoding="utf-8"?>
<p:tagLst xmlns:p="http://schemas.openxmlformats.org/presentationml/2006/main">
  <p:tag name="KSO_WM_DIAGRAM_VIRTUALLY_FRAME" val="{&quot;height&quot;:290.35929133858264,&quot;left&quot;:19.240000000000002,&quot;top&quot;:160.35,&quot;width&quot;:923.5600000000001}"/>
</p:tagLst>
</file>

<file path=ppt/tags/tag8.xml><?xml version="1.0" encoding="utf-8"?>
<p:tagLst xmlns:p="http://schemas.openxmlformats.org/presentationml/2006/main">
  <p:tag name="KSO_WM_DIAGRAM_VIRTUALLY_FRAME" val="{&quot;height&quot;:290.35929133858264,&quot;left&quot;:19.240000000000002,&quot;top&quot;:160.35,&quot;width&quot;:923.5600000000001}"/>
</p:tagLst>
</file>

<file path=ppt/tags/tag9.xml><?xml version="1.0" encoding="utf-8"?>
<p:tagLst xmlns:p="http://schemas.openxmlformats.org/presentationml/2006/main">
  <p:tag name="KSO_WM_DIAGRAM_VIRTUALLY_FRAME" val="{&quot;height&quot;:290.35929133858264,&quot;left&quot;:19.240000000000002,&quot;top&quot;:160.35,&quot;width&quot;:923.5600000000001}"/>
</p:tagLst>
</file>

<file path=ppt/tags/tag10.xml><?xml version="1.0" encoding="utf-8"?>
<p:tagLst xmlns:p="http://schemas.openxmlformats.org/presentationml/2006/main">
  <p:tag name="KSO_WM_DIAGRAM_VIRTUALLY_FRAME" val="{&quot;height&quot;:290.35929133858264,&quot;left&quot;:19.240000000000002,&quot;top&quot;:160.35,&quot;width&quot;:923.5600000000001}"/>
</p:tagLst>
</file>

<file path=ppt/tags/tag11.xml><?xml version="1.0" encoding="utf-8"?>
<p:tagLst xmlns:p="http://schemas.openxmlformats.org/presentationml/2006/main">
  <p:tag name="KSO_WM_DIAGRAM_VIRTUALLY_FRAME" val="{&quot;height&quot;:290.35929133858264,&quot;left&quot;:19.240000000000002,&quot;top&quot;:160.35,&quot;width&quot;:923.5600000000001}"/>
</p:tagLst>
</file>

<file path=ppt/tags/tag12.xml><?xml version="1.0" encoding="utf-8"?>
<p:tagLst xmlns:p="http://schemas.openxmlformats.org/presentationml/2006/main">
  <p:tag name="KSO_WM_DIAGRAM_VIRTUALLY_FRAME" val="{&quot;height&quot;:290.35929133858264,&quot;left&quot;:19.240000000000002,&quot;top&quot;:160.35,&quot;width&quot;:923.5600000000001}"/>
</p:tagLst>
</file>

<file path=ppt/tags/tag13.xml><?xml version="1.0" encoding="utf-8"?>
<p:tagLst xmlns:p="http://schemas.openxmlformats.org/presentationml/2006/main">
  <p:tag name="KSO_WM_DIAGRAM_VIRTUALLY_FRAME" val="{&quot;height&quot;:290.35929133858264,&quot;left&quot;:19.240000000000002,&quot;top&quot;:160.35,&quot;width&quot;:923.5600000000001}"/>
</p:tagLst>
</file>

<file path=ppt/tags/tag14.xml><?xml version="1.0" encoding="utf-8"?>
<p:tagLst xmlns:p="http://schemas.openxmlformats.org/presentationml/2006/main">
  <p:tag name="KSO_WM_DIAGRAM_VIRTUALLY_FRAME" val="{&quot;height&quot;:290.35929133858264,&quot;left&quot;:19.240000000000002,&quot;top&quot;:160.35,&quot;width&quot;:923.5600000000001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4346</Words>
  <Application>WPS 演示</Application>
  <PresentationFormat>宽屏</PresentationFormat>
  <Paragraphs>421</Paragraphs>
  <Slides>35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35</vt:i4>
      </vt:variant>
    </vt:vector>
  </HeadingPairs>
  <TitlesOfParts>
    <vt:vector size="51" baseType="lpstr">
      <vt:lpstr>Arial</vt:lpstr>
      <vt:lpstr>宋体</vt:lpstr>
      <vt:lpstr>Wingdings</vt:lpstr>
      <vt:lpstr>华文中宋</vt:lpstr>
      <vt:lpstr>HarmonyOS Sans SC</vt:lpstr>
      <vt:lpstr>Times New Roman</vt:lpstr>
      <vt:lpstr>等线</vt:lpstr>
      <vt:lpstr>微软雅黑</vt:lpstr>
      <vt:lpstr>Arial Unicode MS</vt:lpstr>
      <vt:lpstr>等线 Light</vt:lpstr>
      <vt:lpstr>黑体</vt:lpstr>
      <vt:lpstr>Cambria Math</vt:lpstr>
      <vt:lpstr>Calibri</vt:lpstr>
      <vt:lpstr>Saturday Sans Regular</vt:lpstr>
      <vt:lpstr>Office 主题​​</vt:lpstr>
      <vt:lpstr>Equation.KSEE3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String Const</dc:creator>
  <cp:lastModifiedBy>懿轩</cp:lastModifiedBy>
  <cp:revision>6</cp:revision>
  <dcterms:created xsi:type="dcterms:W3CDTF">2025-09-02T11:49:00Z</dcterms:created>
  <dcterms:modified xsi:type="dcterms:W3CDTF">2025-09-19T11:16:40Z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BCA7B2CB38584850A612F99BB9D3DF3F_12</vt:lpwstr>
  </property>
  <property fmtid="{D5CDD505-2E9C-101B-9397-08002B2CF9AE}" pid="3" name="KSOProductBuildVer">
    <vt:lpwstr>2052-12.1.0.22529</vt:lpwstr>
  </property>
</Properties>
</file>